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9" r:id="rId3"/>
    <p:sldId id="410" r:id="rId4"/>
    <p:sldId id="411" r:id="rId5"/>
    <p:sldId id="413" r:id="rId6"/>
    <p:sldId id="416" r:id="rId7"/>
    <p:sldId id="461" r:id="rId8"/>
    <p:sldId id="428" r:id="rId10"/>
    <p:sldId id="433" r:id="rId11"/>
    <p:sldId id="420" r:id="rId12"/>
    <p:sldId id="429" r:id="rId13"/>
    <p:sldId id="459" r:id="rId14"/>
    <p:sldId id="434" r:id="rId15"/>
    <p:sldId id="435" r:id="rId16"/>
    <p:sldId id="460" r:id="rId17"/>
    <p:sldId id="464" r:id="rId18"/>
    <p:sldId id="437" r:id="rId19"/>
    <p:sldId id="424" r:id="rId20"/>
    <p:sldId id="430" r:id="rId21"/>
    <p:sldId id="474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4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4D8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04"/>
        <p:guide pos="3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gs" Target="tags/tag114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/>
              <a:t>整体架构为</a:t>
            </a:r>
            <a:r>
              <a:rPr lang="en-US" altLang="zh-CN"/>
              <a:t>TI JSSC</a:t>
            </a:r>
            <a:r>
              <a:rPr lang="zh-CN" altLang="en-US"/>
              <a:t>上的结构，通过</a:t>
            </a:r>
            <a:r>
              <a:rPr lang="en-US" altLang="zh-CN"/>
              <a:t>Chopper</a:t>
            </a:r>
            <a:r>
              <a:rPr lang="zh-CN" altLang="en-US"/>
              <a:t>降低</a:t>
            </a:r>
            <a:r>
              <a:rPr lang="en-US" altLang="zh-CN"/>
              <a:t>offset</a:t>
            </a:r>
            <a:r>
              <a:rPr lang="zh-CN" altLang="en-US"/>
              <a:t>，由</a:t>
            </a:r>
            <a:r>
              <a:rPr lang="en-US" altLang="zh-CN"/>
              <a:t>chopper</a:t>
            </a:r>
            <a:r>
              <a:rPr lang="zh-CN" altLang="en-US"/>
              <a:t>产生的</a:t>
            </a:r>
            <a:r>
              <a:rPr lang="en-US" altLang="zh-CN"/>
              <a:t>ripple</a:t>
            </a:r>
            <a:r>
              <a:rPr lang="zh-CN" altLang="en-US"/>
              <a:t>则通过</a:t>
            </a:r>
            <a:r>
              <a:rPr lang="en-US" altLang="zh-CN"/>
              <a:t>notch filter</a:t>
            </a:r>
            <a:r>
              <a:rPr lang="zh-CN" altLang="en-US"/>
              <a:t>滤除，而由于</a:t>
            </a:r>
            <a:r>
              <a:rPr lang="en-US" altLang="zh-CN"/>
              <a:t>notch filter</a:t>
            </a:r>
            <a:r>
              <a:rPr lang="zh-CN" altLang="en-US"/>
              <a:t>造成频谱上的不连续则通过高频通路</a:t>
            </a:r>
            <a:r>
              <a:rPr lang="en-US" altLang="zh-CN"/>
              <a:t>Gm2-Gm4</a:t>
            </a:r>
            <a:r>
              <a:rPr lang="zh-CN" altLang="en-US"/>
              <a:t>弥补，由低频通路</a:t>
            </a:r>
            <a:r>
              <a:rPr lang="en-US" altLang="zh-CN"/>
              <a:t>Gm1-Gm3-gm4</a:t>
            </a:r>
            <a:r>
              <a:rPr lang="zh-CN" altLang="en-US"/>
              <a:t>提供增益，有高频通路</a:t>
            </a:r>
            <a:r>
              <a:rPr lang="en-US" altLang="zh-CN"/>
              <a:t>Gm2-Gm4</a:t>
            </a:r>
            <a:r>
              <a:rPr lang="zh-CN" altLang="en-US"/>
              <a:t>保证带宽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经典的</a:t>
            </a:r>
            <a:r>
              <a:rPr lang="en-US" altLang="zh-CN"/>
              <a:t>Constant gm</a:t>
            </a:r>
            <a:r>
              <a:rPr lang="zh-CN" altLang="en-US"/>
              <a:t>偏置电路，通过△</a:t>
            </a:r>
            <a:r>
              <a:rPr lang="en-US" altLang="zh-CN"/>
              <a:t>Vgs/R</a:t>
            </a:r>
            <a:r>
              <a:rPr lang="zh-CN" altLang="en-US"/>
              <a:t>产生电流，得到的是</a:t>
            </a:r>
            <a:r>
              <a:rPr lang="en-US" altLang="zh-CN"/>
              <a:t>PTAT</a:t>
            </a:r>
            <a:r>
              <a:rPr lang="zh-CN" altLang="en-US"/>
              <a:t>电流。这个电流的大小完全由</a:t>
            </a:r>
            <a:r>
              <a:rPr lang="en-US" altLang="zh-CN"/>
              <a:t>M2</a:t>
            </a:r>
            <a:r>
              <a:rPr lang="zh-CN" altLang="en-US"/>
              <a:t>、</a:t>
            </a:r>
            <a:r>
              <a:rPr lang="en-US" altLang="zh-CN"/>
              <a:t>M1</a:t>
            </a:r>
            <a:r>
              <a:rPr lang="zh-CN" altLang="en-US"/>
              <a:t>的宽长比以及</a:t>
            </a:r>
            <a:r>
              <a:rPr lang="en-US" altLang="zh-CN"/>
              <a:t>R</a:t>
            </a:r>
            <a:r>
              <a:rPr lang="zh-CN" altLang="en-US"/>
              <a:t>的大小决定，和电源电压无关。由于</a:t>
            </a:r>
            <a:r>
              <a:rPr lang="en-US" altLang="zh-CN"/>
              <a:t>gm∝rt(Id*W/L)</a:t>
            </a:r>
            <a:r>
              <a:rPr lang="zh-CN" altLang="en-US"/>
              <a:t>，所以在</a:t>
            </a:r>
            <a:r>
              <a:rPr lang="en-US" altLang="zh-CN"/>
              <a:t>Id</a:t>
            </a:r>
            <a:r>
              <a:rPr lang="zh-CN" altLang="en-US"/>
              <a:t>、</a:t>
            </a:r>
            <a:r>
              <a:rPr lang="en-US" altLang="zh-CN"/>
              <a:t>W/L</a:t>
            </a:r>
            <a:r>
              <a:rPr lang="zh-CN" altLang="en-US"/>
              <a:t>都恒定的情况下，</a:t>
            </a:r>
            <a:r>
              <a:rPr lang="en-US" altLang="zh-CN"/>
              <a:t>M2</a:t>
            </a:r>
            <a:r>
              <a:rPr lang="zh-CN" altLang="en-US"/>
              <a:t>、</a:t>
            </a:r>
            <a:r>
              <a:rPr lang="en-US" altLang="zh-CN"/>
              <a:t>M1</a:t>
            </a:r>
            <a:r>
              <a:rPr lang="zh-CN" altLang="en-US"/>
              <a:t>的</a:t>
            </a:r>
            <a:r>
              <a:rPr lang="en-US" altLang="zh-CN"/>
              <a:t>gm</a:t>
            </a:r>
            <a:r>
              <a:rPr lang="zh-CN" altLang="en-US"/>
              <a:t>也几乎为定值</a:t>
            </a:r>
            <a:r>
              <a:rPr lang="en-US" altLang="zh-CN"/>
              <a:t>(</a:t>
            </a:r>
            <a:r>
              <a:rPr lang="zh-CN" altLang="en-US"/>
              <a:t>说几乎的主要原因是</a:t>
            </a:r>
            <a:r>
              <a:rPr lang="en-US" altLang="zh-CN"/>
              <a:t>R</a:t>
            </a:r>
            <a:r>
              <a:rPr lang="zh-CN" altLang="en-US"/>
              <a:t>会受温度影响，多少会让</a:t>
            </a:r>
            <a:r>
              <a:rPr lang="en-US" altLang="zh-CN"/>
              <a:t>gm</a:t>
            </a:r>
            <a:r>
              <a:rPr lang="zh-CN" altLang="en-US"/>
              <a:t>产生一些变化</a:t>
            </a:r>
            <a:r>
              <a:rPr lang="en-US" altLang="zh-CN"/>
              <a:t>)</a:t>
            </a:r>
            <a:r>
              <a:rPr lang="zh-CN" altLang="en-US"/>
              <a:t>。而</a:t>
            </a:r>
            <a:r>
              <a:rPr lang="en-US" altLang="zh-CN"/>
              <a:t>pin</a:t>
            </a:r>
            <a:r>
              <a:rPr lang="zh-CN" altLang="en-US"/>
              <a:t>的尾电流源</a:t>
            </a:r>
            <a:r>
              <a:rPr lang="en-US" altLang="zh-CN"/>
              <a:t>Ict</a:t>
            </a:r>
            <a:r>
              <a:rPr lang="zh-CN" altLang="en-US"/>
              <a:t>是从</a:t>
            </a:r>
            <a:r>
              <a:rPr lang="en-US" altLang="zh-CN"/>
              <a:t>M7</a:t>
            </a:r>
            <a:r>
              <a:rPr lang="zh-CN" altLang="en-US"/>
              <a:t>复制过来的，所以也可以得到</a:t>
            </a:r>
            <a:r>
              <a:rPr lang="en-US" altLang="zh-CN"/>
              <a:t>pin</a:t>
            </a:r>
            <a:r>
              <a:rPr lang="zh-CN" altLang="en-US"/>
              <a:t>、</a:t>
            </a:r>
            <a:r>
              <a:rPr lang="en-US" altLang="zh-CN"/>
              <a:t>nin</a:t>
            </a:r>
            <a:r>
              <a:rPr lang="zh-CN" altLang="en-US"/>
              <a:t>的</a:t>
            </a:r>
            <a:r>
              <a:rPr lang="en-US" altLang="zh-CN"/>
              <a:t>gm</a:t>
            </a:r>
            <a:r>
              <a:rPr lang="zh-CN" altLang="en-US"/>
              <a:t>都比较恒定。这一特点最大的好处是能够保证</a:t>
            </a:r>
            <a:r>
              <a:rPr lang="en-US" altLang="zh-CN"/>
              <a:t>GBW(gm/Cc)</a:t>
            </a:r>
            <a:r>
              <a:rPr lang="zh-CN" altLang="en-US"/>
              <a:t>在</a:t>
            </a:r>
            <a:r>
              <a:rPr lang="en-US" altLang="zh-CN"/>
              <a:t>PVT</a:t>
            </a:r>
            <a:r>
              <a:rPr lang="zh-CN" altLang="en-US"/>
              <a:t>上恒定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4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image" Target="../media/image6.png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7.png"/><Relationship Id="rId1" Type="http://schemas.openxmlformats.org/officeDocument/2006/relationships/tags" Target="../tags/tag89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3.xml"/><Relationship Id="rId4" Type="http://schemas.openxmlformats.org/officeDocument/2006/relationships/image" Target="../media/image9.png"/><Relationship Id="rId3" Type="http://schemas.openxmlformats.org/officeDocument/2006/relationships/tags" Target="../tags/tag92.xml"/><Relationship Id="rId2" Type="http://schemas.openxmlformats.org/officeDocument/2006/relationships/image" Target="../media/image8.png"/><Relationship Id="rId1" Type="http://schemas.openxmlformats.org/officeDocument/2006/relationships/tags" Target="../tags/tag91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6.xml"/><Relationship Id="rId4" Type="http://schemas.openxmlformats.org/officeDocument/2006/relationships/image" Target="../media/image11.png"/><Relationship Id="rId3" Type="http://schemas.openxmlformats.org/officeDocument/2006/relationships/tags" Target="../tags/tag95.xml"/><Relationship Id="rId2" Type="http://schemas.openxmlformats.org/officeDocument/2006/relationships/image" Target="../media/image10.png"/><Relationship Id="rId1" Type="http://schemas.openxmlformats.org/officeDocument/2006/relationships/tags" Target="../tags/tag94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9.xml"/><Relationship Id="rId4" Type="http://schemas.openxmlformats.org/officeDocument/2006/relationships/image" Target="../media/image13.png"/><Relationship Id="rId3" Type="http://schemas.openxmlformats.org/officeDocument/2006/relationships/tags" Target="../tags/tag98.xml"/><Relationship Id="rId2" Type="http://schemas.openxmlformats.org/officeDocument/2006/relationships/image" Target="../media/image12.png"/><Relationship Id="rId1" Type="http://schemas.openxmlformats.org/officeDocument/2006/relationships/tags" Target="../tags/tag97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4" Type="http://schemas.openxmlformats.org/officeDocument/2006/relationships/image" Target="../media/image15.png"/><Relationship Id="rId3" Type="http://schemas.openxmlformats.org/officeDocument/2006/relationships/tags" Target="../tags/tag101.xml"/><Relationship Id="rId2" Type="http://schemas.openxmlformats.org/officeDocument/2006/relationships/image" Target="../media/image14.png"/><Relationship Id="rId1" Type="http://schemas.openxmlformats.org/officeDocument/2006/relationships/tags" Target="../tags/tag100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5.xml"/><Relationship Id="rId4" Type="http://schemas.openxmlformats.org/officeDocument/2006/relationships/image" Target="../media/image17.png"/><Relationship Id="rId3" Type="http://schemas.openxmlformats.org/officeDocument/2006/relationships/tags" Target="../tags/tag104.xml"/><Relationship Id="rId2" Type="http://schemas.openxmlformats.org/officeDocument/2006/relationships/image" Target="../media/image16.png"/><Relationship Id="rId1" Type="http://schemas.openxmlformats.org/officeDocument/2006/relationships/tags" Target="../tags/tag103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7.xml"/><Relationship Id="rId2" Type="http://schemas.openxmlformats.org/officeDocument/2006/relationships/image" Target="../media/image18.png"/><Relationship Id="rId1" Type="http://schemas.openxmlformats.org/officeDocument/2006/relationships/tags" Target="../tags/tag10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3.xml"/><Relationship Id="rId4" Type="http://schemas.openxmlformats.org/officeDocument/2006/relationships/image" Target="../media/image20.png"/><Relationship Id="rId3" Type="http://schemas.openxmlformats.org/officeDocument/2006/relationships/tags" Target="../tags/tag112.xml"/><Relationship Id="rId2" Type="http://schemas.openxmlformats.org/officeDocument/2006/relationships/image" Target="../media/image19.png"/><Relationship Id="rId1" Type="http://schemas.openxmlformats.org/officeDocument/2006/relationships/tags" Target="../tags/tag1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3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>
            <a:off x="766445" y="0"/>
            <a:ext cx="454533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3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: 圆角 61"/>
          <p:cNvSpPr>
            <a:spLocks noChangeAspect="1"/>
          </p:cNvSpPr>
          <p:nvPr/>
        </p:nvSpPr>
        <p:spPr>
          <a:xfrm>
            <a:off x="713740" y="1964690"/>
            <a:ext cx="9329420" cy="21329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065530" y="0"/>
            <a:ext cx="382206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48" name="组合 147"/>
          <p:cNvGrpSpPr>
            <a:grpSpLocks noChangeAspect="1"/>
          </p:cNvGrpSpPr>
          <p:nvPr/>
        </p:nvGrpSpPr>
        <p:grpSpPr>
          <a:xfrm rot="6728751" flipH="1" flipV="1">
            <a:off x="-1489075" y="1476375"/>
            <a:ext cx="9401175" cy="1814830"/>
            <a:chOff x="1037771" y="1124388"/>
            <a:chExt cx="11503479" cy="3392277"/>
          </a:xfrm>
        </p:grpSpPr>
        <p:sp>
          <p:nvSpPr>
            <p:cNvPr id="149" name="任意多边形: 形状 148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62000">
                    <a:schemeClr val="bg1">
                      <a:alpha val="4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grpSp>
        <p:nvGrpSpPr>
          <p:cNvPr id="124" name="组合 123"/>
          <p:cNvGrpSpPr>
            <a:grpSpLocks noChangeAspect="1"/>
          </p:cNvGrpSpPr>
          <p:nvPr/>
        </p:nvGrpSpPr>
        <p:grpSpPr>
          <a:xfrm rot="15331547" flipH="1">
            <a:off x="-4120515" y="2547620"/>
            <a:ext cx="10968990" cy="2194560"/>
            <a:chOff x="1037771" y="1124388"/>
            <a:chExt cx="11503479" cy="3392277"/>
          </a:xfrm>
        </p:grpSpPr>
        <p:sp>
          <p:nvSpPr>
            <p:cNvPr id="12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19" name="矩形 18"/>
          <p:cNvSpPr/>
          <p:nvPr/>
        </p:nvSpPr>
        <p:spPr>
          <a:xfrm>
            <a:off x="2705100" y="2506980"/>
            <a:ext cx="6568440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altLang="zh-CN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TI JSSC</a:t>
            </a:r>
            <a:r>
              <a:rPr lang="zh-CN" altLang="en-US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实现介绍</a:t>
            </a:r>
            <a:endParaRPr lang="zh-CN" altLang="en-US" sz="5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13" name="admin-with-cogwheels_78948"/>
          <p:cNvSpPr>
            <a:spLocks noChangeAspect="1"/>
          </p:cNvSpPr>
          <p:nvPr userDrawn="1"/>
        </p:nvSpPr>
        <p:spPr bwMode="auto">
          <a:xfrm>
            <a:off x="2864485" y="4695825"/>
            <a:ext cx="287020" cy="304800"/>
          </a:xfrm>
          <a:custGeom>
            <a:avLst/>
            <a:gdLst>
              <a:gd name="connsiteX0" fmla="*/ 163934 w 574049"/>
              <a:gd name="connsiteY0" fmla="*/ 419229 h 608556"/>
              <a:gd name="connsiteX1" fmla="*/ 243204 w 574049"/>
              <a:gd name="connsiteY1" fmla="*/ 456825 h 608556"/>
              <a:gd name="connsiteX2" fmla="*/ 322474 w 574049"/>
              <a:gd name="connsiteY2" fmla="*/ 419229 h 608556"/>
              <a:gd name="connsiteX3" fmla="*/ 465217 w 574049"/>
              <a:gd name="connsiteY3" fmla="*/ 530768 h 608556"/>
              <a:gd name="connsiteX4" fmla="*/ 476968 w 574049"/>
              <a:gd name="connsiteY4" fmla="*/ 565383 h 608556"/>
              <a:gd name="connsiteX5" fmla="*/ 472634 w 574049"/>
              <a:gd name="connsiteY5" fmla="*/ 594902 h 608556"/>
              <a:gd name="connsiteX6" fmla="*/ 446050 w 574049"/>
              <a:gd name="connsiteY6" fmla="*/ 608556 h 608556"/>
              <a:gd name="connsiteX7" fmla="*/ 40358 w 574049"/>
              <a:gd name="connsiteY7" fmla="*/ 608556 h 608556"/>
              <a:gd name="connsiteX8" fmla="*/ 13871 w 574049"/>
              <a:gd name="connsiteY8" fmla="*/ 594902 h 608556"/>
              <a:gd name="connsiteX9" fmla="*/ 9440 w 574049"/>
              <a:gd name="connsiteY9" fmla="*/ 565383 h 608556"/>
              <a:gd name="connsiteX10" fmla="*/ 21191 w 574049"/>
              <a:gd name="connsiteY10" fmla="*/ 530768 h 608556"/>
              <a:gd name="connsiteX11" fmla="*/ 163934 w 574049"/>
              <a:gd name="connsiteY11" fmla="*/ 419229 h 608556"/>
              <a:gd name="connsiteX12" fmla="*/ 406631 w 574049"/>
              <a:gd name="connsiteY12" fmla="*/ 313875 h 608556"/>
              <a:gd name="connsiteX13" fmla="*/ 472435 w 574049"/>
              <a:gd name="connsiteY13" fmla="*/ 379473 h 608556"/>
              <a:gd name="connsiteX14" fmla="*/ 438040 w 574049"/>
              <a:gd name="connsiteY14" fmla="*/ 436800 h 608556"/>
              <a:gd name="connsiteX15" fmla="*/ 344006 w 574049"/>
              <a:gd name="connsiteY15" fmla="*/ 390920 h 608556"/>
              <a:gd name="connsiteX16" fmla="*/ 371946 w 574049"/>
              <a:gd name="connsiteY16" fmla="*/ 323974 h 608556"/>
              <a:gd name="connsiteX17" fmla="*/ 406631 w 574049"/>
              <a:gd name="connsiteY17" fmla="*/ 313875 h 608556"/>
              <a:gd name="connsiteX18" fmla="*/ 381817 w 574049"/>
              <a:gd name="connsiteY18" fmla="*/ 212472 h 608556"/>
              <a:gd name="connsiteX19" fmla="*/ 431512 w 574049"/>
              <a:gd name="connsiteY19" fmla="*/ 212472 h 608556"/>
              <a:gd name="connsiteX20" fmla="*/ 445284 w 574049"/>
              <a:gd name="connsiteY20" fmla="*/ 226127 h 608556"/>
              <a:gd name="connsiteX21" fmla="*/ 445284 w 574049"/>
              <a:gd name="connsiteY21" fmla="*/ 254301 h 608556"/>
              <a:gd name="connsiteX22" fmla="*/ 468013 w 574049"/>
              <a:gd name="connsiteY22" fmla="*/ 263725 h 608556"/>
              <a:gd name="connsiteX23" fmla="*/ 488045 w 574049"/>
              <a:gd name="connsiteY23" fmla="*/ 243820 h 608556"/>
              <a:gd name="connsiteX24" fmla="*/ 497773 w 574049"/>
              <a:gd name="connsiteY24" fmla="*/ 239781 h 608556"/>
              <a:gd name="connsiteX25" fmla="*/ 507403 w 574049"/>
              <a:gd name="connsiteY25" fmla="*/ 243820 h 608556"/>
              <a:gd name="connsiteX26" fmla="*/ 542556 w 574049"/>
              <a:gd name="connsiteY26" fmla="*/ 278918 h 608556"/>
              <a:gd name="connsiteX27" fmla="*/ 546601 w 574049"/>
              <a:gd name="connsiteY27" fmla="*/ 288630 h 608556"/>
              <a:gd name="connsiteX28" fmla="*/ 542556 w 574049"/>
              <a:gd name="connsiteY28" fmla="*/ 298246 h 608556"/>
              <a:gd name="connsiteX29" fmla="*/ 522620 w 574049"/>
              <a:gd name="connsiteY29" fmla="*/ 318247 h 608556"/>
              <a:gd name="connsiteX30" fmla="*/ 532155 w 574049"/>
              <a:gd name="connsiteY30" fmla="*/ 340941 h 608556"/>
              <a:gd name="connsiteX31" fmla="*/ 560277 w 574049"/>
              <a:gd name="connsiteY31" fmla="*/ 340941 h 608556"/>
              <a:gd name="connsiteX32" fmla="*/ 574049 w 574049"/>
              <a:gd name="connsiteY32" fmla="*/ 354692 h 608556"/>
              <a:gd name="connsiteX33" fmla="*/ 574049 w 574049"/>
              <a:gd name="connsiteY33" fmla="*/ 404310 h 608556"/>
              <a:gd name="connsiteX34" fmla="*/ 570004 w 574049"/>
              <a:gd name="connsiteY34" fmla="*/ 414022 h 608556"/>
              <a:gd name="connsiteX35" fmla="*/ 560277 w 574049"/>
              <a:gd name="connsiteY35" fmla="*/ 418060 h 608556"/>
              <a:gd name="connsiteX36" fmla="*/ 532155 w 574049"/>
              <a:gd name="connsiteY36" fmla="*/ 418060 h 608556"/>
              <a:gd name="connsiteX37" fmla="*/ 522620 w 574049"/>
              <a:gd name="connsiteY37" fmla="*/ 440754 h 608556"/>
              <a:gd name="connsiteX38" fmla="*/ 542652 w 574049"/>
              <a:gd name="connsiteY38" fmla="*/ 460755 h 608556"/>
              <a:gd name="connsiteX39" fmla="*/ 546601 w 574049"/>
              <a:gd name="connsiteY39" fmla="*/ 470371 h 608556"/>
              <a:gd name="connsiteX40" fmla="*/ 542652 w 574049"/>
              <a:gd name="connsiteY40" fmla="*/ 480083 h 608556"/>
              <a:gd name="connsiteX41" fmla="*/ 507500 w 574049"/>
              <a:gd name="connsiteY41" fmla="*/ 515181 h 608556"/>
              <a:gd name="connsiteX42" fmla="*/ 497773 w 574049"/>
              <a:gd name="connsiteY42" fmla="*/ 519220 h 608556"/>
              <a:gd name="connsiteX43" fmla="*/ 493246 w 574049"/>
              <a:gd name="connsiteY43" fmla="*/ 518355 h 608556"/>
              <a:gd name="connsiteX44" fmla="*/ 453182 w 574049"/>
              <a:gd name="connsiteY44" fmla="*/ 451716 h 608556"/>
              <a:gd name="connsiteX45" fmla="*/ 492861 w 574049"/>
              <a:gd name="connsiteY45" fmla="*/ 379501 h 608556"/>
              <a:gd name="connsiteX46" fmla="*/ 406665 w 574049"/>
              <a:gd name="connsiteY46" fmla="*/ 293534 h 608556"/>
              <a:gd name="connsiteX47" fmla="*/ 377098 w 574049"/>
              <a:gd name="connsiteY47" fmla="*/ 299015 h 608556"/>
              <a:gd name="connsiteX48" fmla="*/ 379698 w 574049"/>
              <a:gd name="connsiteY48" fmla="*/ 265167 h 608556"/>
              <a:gd name="connsiteX49" fmla="*/ 373149 w 574049"/>
              <a:gd name="connsiteY49" fmla="*/ 215741 h 608556"/>
              <a:gd name="connsiteX50" fmla="*/ 381817 w 574049"/>
              <a:gd name="connsiteY50" fmla="*/ 212472 h 608556"/>
              <a:gd name="connsiteX51" fmla="*/ 243227 w 574049"/>
              <a:gd name="connsiteY51" fmla="*/ 144222 h 608556"/>
              <a:gd name="connsiteX52" fmla="*/ 348920 w 574049"/>
              <a:gd name="connsiteY52" fmla="*/ 265117 h 608556"/>
              <a:gd name="connsiteX53" fmla="*/ 243190 w 574049"/>
              <a:gd name="connsiteY53" fmla="*/ 426215 h 608556"/>
              <a:gd name="connsiteX54" fmla="*/ 137461 w 574049"/>
              <a:gd name="connsiteY54" fmla="*/ 265117 h 608556"/>
              <a:gd name="connsiteX55" fmla="*/ 243227 w 574049"/>
              <a:gd name="connsiteY55" fmla="*/ 144222 h 608556"/>
              <a:gd name="connsiteX56" fmla="*/ 279862 w 574049"/>
              <a:gd name="connsiteY56" fmla="*/ 119148 h 608556"/>
              <a:gd name="connsiteX57" fmla="*/ 310064 w 574049"/>
              <a:gd name="connsiteY57" fmla="*/ 131181 h 608556"/>
              <a:gd name="connsiteX58" fmla="*/ 279862 w 574049"/>
              <a:gd name="connsiteY58" fmla="*/ 119148 h 608556"/>
              <a:gd name="connsiteX59" fmla="*/ 155080 w 574049"/>
              <a:gd name="connsiteY59" fmla="*/ 94840 h 608556"/>
              <a:gd name="connsiteX60" fmla="*/ 203722 w 574049"/>
              <a:gd name="connsiteY60" fmla="*/ 119842 h 608556"/>
              <a:gd name="connsiteX61" fmla="*/ 117804 w 574049"/>
              <a:gd name="connsiteY61" fmla="*/ 201676 h 608556"/>
              <a:gd name="connsiteX62" fmla="*/ 155080 w 574049"/>
              <a:gd name="connsiteY62" fmla="*/ 94840 h 608556"/>
              <a:gd name="connsiteX63" fmla="*/ 131962 w 574049"/>
              <a:gd name="connsiteY63" fmla="*/ 0 h 608556"/>
              <a:gd name="connsiteX64" fmla="*/ 178101 w 574049"/>
              <a:gd name="connsiteY64" fmla="*/ 0 h 608556"/>
              <a:gd name="connsiteX65" fmla="*/ 190816 w 574049"/>
              <a:gd name="connsiteY65" fmla="*/ 12695 h 608556"/>
              <a:gd name="connsiteX66" fmla="*/ 190816 w 574049"/>
              <a:gd name="connsiteY66" fmla="*/ 38757 h 608556"/>
              <a:gd name="connsiteX67" fmla="*/ 211911 w 574049"/>
              <a:gd name="connsiteY67" fmla="*/ 47509 h 608556"/>
              <a:gd name="connsiteX68" fmla="*/ 230501 w 574049"/>
              <a:gd name="connsiteY68" fmla="*/ 29044 h 608556"/>
              <a:gd name="connsiteX69" fmla="*/ 239459 w 574049"/>
              <a:gd name="connsiteY69" fmla="*/ 25389 h 608556"/>
              <a:gd name="connsiteX70" fmla="*/ 248417 w 574049"/>
              <a:gd name="connsiteY70" fmla="*/ 29044 h 608556"/>
              <a:gd name="connsiteX71" fmla="*/ 280975 w 574049"/>
              <a:gd name="connsiteY71" fmla="*/ 61646 h 608556"/>
              <a:gd name="connsiteX72" fmla="*/ 284731 w 574049"/>
              <a:gd name="connsiteY72" fmla="*/ 70590 h 608556"/>
              <a:gd name="connsiteX73" fmla="*/ 280975 w 574049"/>
              <a:gd name="connsiteY73" fmla="*/ 79534 h 608556"/>
              <a:gd name="connsiteX74" fmla="*/ 262481 w 574049"/>
              <a:gd name="connsiteY74" fmla="*/ 97999 h 608556"/>
              <a:gd name="connsiteX75" fmla="*/ 270379 w 574049"/>
              <a:gd name="connsiteY75" fmla="*/ 116848 h 608556"/>
              <a:gd name="connsiteX76" fmla="*/ 224915 w 574049"/>
              <a:gd name="connsiteY76" fmla="*/ 115502 h 608556"/>
              <a:gd name="connsiteX77" fmla="*/ 155080 w 574049"/>
              <a:gd name="connsiteY77" fmla="*/ 74437 h 608556"/>
              <a:gd name="connsiteX78" fmla="*/ 74458 w 574049"/>
              <a:gd name="connsiteY78" fmla="*/ 154836 h 608556"/>
              <a:gd name="connsiteX79" fmla="*/ 111638 w 574049"/>
              <a:gd name="connsiteY79" fmla="*/ 222445 h 608556"/>
              <a:gd name="connsiteX80" fmla="*/ 106822 w 574049"/>
              <a:gd name="connsiteY80" fmla="*/ 265145 h 608556"/>
              <a:gd name="connsiteX81" fmla="*/ 106822 w 574049"/>
              <a:gd name="connsiteY81" fmla="*/ 265818 h 608556"/>
              <a:gd name="connsiteX82" fmla="*/ 98153 w 574049"/>
              <a:gd name="connsiteY82" fmla="*/ 262163 h 608556"/>
              <a:gd name="connsiteX83" fmla="*/ 79659 w 574049"/>
              <a:gd name="connsiteY83" fmla="*/ 280628 h 608556"/>
              <a:gd name="connsiteX84" fmla="*/ 70701 w 574049"/>
              <a:gd name="connsiteY84" fmla="*/ 284379 h 608556"/>
              <a:gd name="connsiteX85" fmla="*/ 61647 w 574049"/>
              <a:gd name="connsiteY85" fmla="*/ 280628 h 608556"/>
              <a:gd name="connsiteX86" fmla="*/ 29089 w 574049"/>
              <a:gd name="connsiteY86" fmla="*/ 248122 h 608556"/>
              <a:gd name="connsiteX87" fmla="*/ 29089 w 574049"/>
              <a:gd name="connsiteY87" fmla="*/ 230138 h 608556"/>
              <a:gd name="connsiteX88" fmla="*/ 47583 w 574049"/>
              <a:gd name="connsiteY88" fmla="*/ 211673 h 608556"/>
              <a:gd name="connsiteX89" fmla="*/ 38722 w 574049"/>
              <a:gd name="connsiteY89" fmla="*/ 190612 h 608556"/>
              <a:gd name="connsiteX90" fmla="*/ 12715 w 574049"/>
              <a:gd name="connsiteY90" fmla="*/ 190612 h 608556"/>
              <a:gd name="connsiteX91" fmla="*/ 0 w 574049"/>
              <a:gd name="connsiteY91" fmla="*/ 177821 h 608556"/>
              <a:gd name="connsiteX92" fmla="*/ 0 w 574049"/>
              <a:gd name="connsiteY92" fmla="*/ 131851 h 608556"/>
              <a:gd name="connsiteX93" fmla="*/ 12715 w 574049"/>
              <a:gd name="connsiteY93" fmla="*/ 119156 h 608556"/>
              <a:gd name="connsiteX94" fmla="*/ 38818 w 574049"/>
              <a:gd name="connsiteY94" fmla="*/ 119156 h 608556"/>
              <a:gd name="connsiteX95" fmla="*/ 47583 w 574049"/>
              <a:gd name="connsiteY95" fmla="*/ 98095 h 608556"/>
              <a:gd name="connsiteX96" fmla="*/ 29089 w 574049"/>
              <a:gd name="connsiteY96" fmla="*/ 79630 h 608556"/>
              <a:gd name="connsiteX97" fmla="*/ 25333 w 574049"/>
              <a:gd name="connsiteY97" fmla="*/ 70590 h 608556"/>
              <a:gd name="connsiteX98" fmla="*/ 29089 w 574049"/>
              <a:gd name="connsiteY98" fmla="*/ 61646 h 608556"/>
              <a:gd name="connsiteX99" fmla="*/ 61647 w 574049"/>
              <a:gd name="connsiteY99" fmla="*/ 29044 h 608556"/>
              <a:gd name="connsiteX100" fmla="*/ 70701 w 574049"/>
              <a:gd name="connsiteY100" fmla="*/ 25389 h 608556"/>
              <a:gd name="connsiteX101" fmla="*/ 79659 w 574049"/>
              <a:gd name="connsiteY101" fmla="*/ 29140 h 608556"/>
              <a:gd name="connsiteX102" fmla="*/ 98153 w 574049"/>
              <a:gd name="connsiteY102" fmla="*/ 47509 h 608556"/>
              <a:gd name="connsiteX103" fmla="*/ 119248 w 574049"/>
              <a:gd name="connsiteY103" fmla="*/ 38757 h 608556"/>
              <a:gd name="connsiteX104" fmla="*/ 119248 w 574049"/>
              <a:gd name="connsiteY104" fmla="*/ 12695 h 608556"/>
              <a:gd name="connsiteX105" fmla="*/ 131962 w 574049"/>
              <a:gd name="connsiteY105" fmla="*/ 0 h 60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574049" h="608556">
                <a:moveTo>
                  <a:pt x="163934" y="419229"/>
                </a:moveTo>
                <a:cubicBezTo>
                  <a:pt x="185702" y="442210"/>
                  <a:pt x="212671" y="456825"/>
                  <a:pt x="243204" y="456825"/>
                </a:cubicBezTo>
                <a:cubicBezTo>
                  <a:pt x="273737" y="456825"/>
                  <a:pt x="300706" y="442210"/>
                  <a:pt x="322474" y="419229"/>
                </a:cubicBezTo>
                <a:cubicBezTo>
                  <a:pt x="387585" y="424998"/>
                  <a:pt x="443835" y="468075"/>
                  <a:pt x="465217" y="530768"/>
                </a:cubicBezTo>
                <a:lnTo>
                  <a:pt x="476968" y="565383"/>
                </a:lnTo>
                <a:cubicBezTo>
                  <a:pt x="480339" y="575383"/>
                  <a:pt x="478702" y="586344"/>
                  <a:pt x="472634" y="594902"/>
                </a:cubicBezTo>
                <a:cubicBezTo>
                  <a:pt x="466469" y="603460"/>
                  <a:pt x="456549" y="608556"/>
                  <a:pt x="446050" y="608556"/>
                </a:cubicBezTo>
                <a:lnTo>
                  <a:pt x="40358" y="608556"/>
                </a:lnTo>
                <a:cubicBezTo>
                  <a:pt x="29859" y="608556"/>
                  <a:pt x="19939" y="603460"/>
                  <a:pt x="13871" y="594902"/>
                </a:cubicBezTo>
                <a:cubicBezTo>
                  <a:pt x="7706" y="586344"/>
                  <a:pt x="6069" y="575383"/>
                  <a:pt x="9440" y="565383"/>
                </a:cubicBezTo>
                <a:lnTo>
                  <a:pt x="21191" y="530768"/>
                </a:lnTo>
                <a:cubicBezTo>
                  <a:pt x="42573" y="468075"/>
                  <a:pt x="98919" y="424998"/>
                  <a:pt x="163934" y="419229"/>
                </a:cubicBezTo>
                <a:close/>
                <a:moveTo>
                  <a:pt x="406631" y="313875"/>
                </a:moveTo>
                <a:cubicBezTo>
                  <a:pt x="442857" y="313875"/>
                  <a:pt x="472435" y="343308"/>
                  <a:pt x="472435" y="379473"/>
                </a:cubicBezTo>
                <a:cubicBezTo>
                  <a:pt x="472435" y="404289"/>
                  <a:pt x="458369" y="425642"/>
                  <a:pt x="438040" y="436800"/>
                </a:cubicBezTo>
                <a:cubicBezTo>
                  <a:pt x="411641" y="413523"/>
                  <a:pt x="379269" y="397556"/>
                  <a:pt x="344006" y="390920"/>
                </a:cubicBezTo>
                <a:cubicBezTo>
                  <a:pt x="356435" y="370913"/>
                  <a:pt x="365973" y="347925"/>
                  <a:pt x="371946" y="323974"/>
                </a:cubicBezTo>
                <a:cubicBezTo>
                  <a:pt x="382063" y="317626"/>
                  <a:pt x="393913" y="313875"/>
                  <a:pt x="406631" y="313875"/>
                </a:cubicBezTo>
                <a:close/>
                <a:moveTo>
                  <a:pt x="381817" y="212472"/>
                </a:moveTo>
                <a:lnTo>
                  <a:pt x="431512" y="212472"/>
                </a:lnTo>
                <a:cubicBezTo>
                  <a:pt x="439121" y="212472"/>
                  <a:pt x="445284" y="218530"/>
                  <a:pt x="445284" y="226127"/>
                </a:cubicBezTo>
                <a:lnTo>
                  <a:pt x="445284" y="254301"/>
                </a:lnTo>
                <a:cubicBezTo>
                  <a:pt x="453182" y="256705"/>
                  <a:pt x="460790" y="259879"/>
                  <a:pt x="468013" y="263725"/>
                </a:cubicBezTo>
                <a:lnTo>
                  <a:pt x="488045" y="243820"/>
                </a:lnTo>
                <a:cubicBezTo>
                  <a:pt x="490742" y="241127"/>
                  <a:pt x="494209" y="239781"/>
                  <a:pt x="497773" y="239781"/>
                </a:cubicBezTo>
                <a:cubicBezTo>
                  <a:pt x="501240" y="239781"/>
                  <a:pt x="504803" y="241127"/>
                  <a:pt x="507403" y="243820"/>
                </a:cubicBezTo>
                <a:lnTo>
                  <a:pt x="542556" y="278918"/>
                </a:lnTo>
                <a:cubicBezTo>
                  <a:pt x="545157" y="281514"/>
                  <a:pt x="546601" y="284976"/>
                  <a:pt x="546601" y="288630"/>
                </a:cubicBezTo>
                <a:cubicBezTo>
                  <a:pt x="546601" y="292188"/>
                  <a:pt x="545157" y="295746"/>
                  <a:pt x="542556" y="298246"/>
                </a:cubicBezTo>
                <a:lnTo>
                  <a:pt x="522620" y="318247"/>
                </a:lnTo>
                <a:cubicBezTo>
                  <a:pt x="526473" y="325459"/>
                  <a:pt x="529651" y="333056"/>
                  <a:pt x="532155" y="340941"/>
                </a:cubicBezTo>
                <a:lnTo>
                  <a:pt x="560277" y="340941"/>
                </a:lnTo>
                <a:cubicBezTo>
                  <a:pt x="567885" y="340941"/>
                  <a:pt x="574049" y="347095"/>
                  <a:pt x="574049" y="354692"/>
                </a:cubicBezTo>
                <a:lnTo>
                  <a:pt x="574049" y="404310"/>
                </a:lnTo>
                <a:cubicBezTo>
                  <a:pt x="574049" y="407964"/>
                  <a:pt x="572605" y="411425"/>
                  <a:pt x="570004" y="414022"/>
                </a:cubicBezTo>
                <a:cubicBezTo>
                  <a:pt x="567500" y="416618"/>
                  <a:pt x="563937" y="418060"/>
                  <a:pt x="560277" y="418060"/>
                </a:cubicBezTo>
                <a:lnTo>
                  <a:pt x="532155" y="418060"/>
                </a:lnTo>
                <a:cubicBezTo>
                  <a:pt x="529651" y="425946"/>
                  <a:pt x="526473" y="433542"/>
                  <a:pt x="522620" y="440754"/>
                </a:cubicBezTo>
                <a:lnTo>
                  <a:pt x="542652" y="460755"/>
                </a:lnTo>
                <a:cubicBezTo>
                  <a:pt x="545157" y="463255"/>
                  <a:pt x="546601" y="466813"/>
                  <a:pt x="546601" y="470371"/>
                </a:cubicBezTo>
                <a:cubicBezTo>
                  <a:pt x="546601" y="474025"/>
                  <a:pt x="545157" y="477487"/>
                  <a:pt x="542652" y="480083"/>
                </a:cubicBezTo>
                <a:lnTo>
                  <a:pt x="507500" y="515181"/>
                </a:lnTo>
                <a:cubicBezTo>
                  <a:pt x="504803" y="517874"/>
                  <a:pt x="501240" y="519220"/>
                  <a:pt x="497773" y="519220"/>
                </a:cubicBezTo>
                <a:cubicBezTo>
                  <a:pt x="496232" y="519220"/>
                  <a:pt x="494691" y="518835"/>
                  <a:pt x="493246" y="518355"/>
                </a:cubicBezTo>
                <a:cubicBezTo>
                  <a:pt x="484289" y="493161"/>
                  <a:pt x="470517" y="470660"/>
                  <a:pt x="453182" y="451716"/>
                </a:cubicBezTo>
                <a:cubicBezTo>
                  <a:pt x="476970" y="436331"/>
                  <a:pt x="492861" y="409791"/>
                  <a:pt x="492861" y="379501"/>
                </a:cubicBezTo>
                <a:cubicBezTo>
                  <a:pt x="492861" y="332094"/>
                  <a:pt x="454145" y="293534"/>
                  <a:pt x="406665" y="293534"/>
                </a:cubicBezTo>
                <a:cubicBezTo>
                  <a:pt x="396263" y="293534"/>
                  <a:pt x="386440" y="295650"/>
                  <a:pt x="377098" y="299015"/>
                </a:cubicBezTo>
                <a:cubicBezTo>
                  <a:pt x="378735" y="287765"/>
                  <a:pt x="379698" y="276418"/>
                  <a:pt x="379698" y="265167"/>
                </a:cubicBezTo>
                <a:cubicBezTo>
                  <a:pt x="379698" y="247570"/>
                  <a:pt x="377387" y="231031"/>
                  <a:pt x="373149" y="215741"/>
                </a:cubicBezTo>
                <a:cubicBezTo>
                  <a:pt x="375557" y="213818"/>
                  <a:pt x="378542" y="212472"/>
                  <a:pt x="381817" y="212472"/>
                </a:cubicBezTo>
                <a:close/>
                <a:moveTo>
                  <a:pt x="243227" y="144222"/>
                </a:moveTo>
                <a:cubicBezTo>
                  <a:pt x="296103" y="144270"/>
                  <a:pt x="348968" y="184617"/>
                  <a:pt x="348920" y="265117"/>
                </a:cubicBezTo>
                <a:cubicBezTo>
                  <a:pt x="348920" y="342829"/>
                  <a:pt x="301640" y="426215"/>
                  <a:pt x="243190" y="426215"/>
                </a:cubicBezTo>
                <a:cubicBezTo>
                  <a:pt x="184837" y="426215"/>
                  <a:pt x="137461" y="342829"/>
                  <a:pt x="137461" y="265117"/>
                </a:cubicBezTo>
                <a:cubicBezTo>
                  <a:pt x="137461" y="184424"/>
                  <a:pt x="190350" y="144174"/>
                  <a:pt x="243227" y="144222"/>
                </a:cubicBezTo>
                <a:close/>
                <a:moveTo>
                  <a:pt x="279862" y="119148"/>
                </a:moveTo>
                <a:cubicBezTo>
                  <a:pt x="294336" y="119148"/>
                  <a:pt x="309292" y="116645"/>
                  <a:pt x="310064" y="131181"/>
                </a:cubicBezTo>
                <a:cubicBezTo>
                  <a:pt x="300704" y="125983"/>
                  <a:pt x="290573" y="121940"/>
                  <a:pt x="279862" y="119148"/>
                </a:cubicBezTo>
                <a:close/>
                <a:moveTo>
                  <a:pt x="155080" y="94840"/>
                </a:moveTo>
                <a:cubicBezTo>
                  <a:pt x="175115" y="94840"/>
                  <a:pt x="192838" y="104745"/>
                  <a:pt x="203722" y="119842"/>
                </a:cubicBezTo>
                <a:cubicBezTo>
                  <a:pt x="163749" y="131478"/>
                  <a:pt x="133216" y="160807"/>
                  <a:pt x="117804" y="201676"/>
                </a:cubicBezTo>
                <a:cubicBezTo>
                  <a:pt x="72823" y="165904"/>
                  <a:pt x="98733" y="94840"/>
                  <a:pt x="155080" y="94840"/>
                </a:cubicBezTo>
                <a:close/>
                <a:moveTo>
                  <a:pt x="131962" y="0"/>
                </a:moveTo>
                <a:lnTo>
                  <a:pt x="178101" y="0"/>
                </a:lnTo>
                <a:cubicBezTo>
                  <a:pt x="185133" y="0"/>
                  <a:pt x="190816" y="5674"/>
                  <a:pt x="190816" y="12695"/>
                </a:cubicBezTo>
                <a:lnTo>
                  <a:pt x="190816" y="38757"/>
                </a:lnTo>
                <a:cubicBezTo>
                  <a:pt x="198233" y="41065"/>
                  <a:pt x="205265" y="44047"/>
                  <a:pt x="211911" y="47509"/>
                </a:cubicBezTo>
                <a:lnTo>
                  <a:pt x="230501" y="29044"/>
                </a:lnTo>
                <a:cubicBezTo>
                  <a:pt x="232909" y="26543"/>
                  <a:pt x="236184" y="25389"/>
                  <a:pt x="239459" y="25389"/>
                </a:cubicBezTo>
                <a:cubicBezTo>
                  <a:pt x="242734" y="25389"/>
                  <a:pt x="245913" y="26543"/>
                  <a:pt x="248417" y="29044"/>
                </a:cubicBezTo>
                <a:lnTo>
                  <a:pt x="280975" y="61646"/>
                </a:lnTo>
                <a:cubicBezTo>
                  <a:pt x="283383" y="63954"/>
                  <a:pt x="284731" y="67224"/>
                  <a:pt x="284731" y="70590"/>
                </a:cubicBezTo>
                <a:cubicBezTo>
                  <a:pt x="284731" y="73956"/>
                  <a:pt x="283383" y="77226"/>
                  <a:pt x="280975" y="79534"/>
                </a:cubicBezTo>
                <a:lnTo>
                  <a:pt x="262481" y="97999"/>
                </a:lnTo>
                <a:cubicBezTo>
                  <a:pt x="265659" y="103961"/>
                  <a:pt x="268260" y="110405"/>
                  <a:pt x="270379" y="116848"/>
                </a:cubicBezTo>
                <a:cubicBezTo>
                  <a:pt x="253619" y="113675"/>
                  <a:pt x="239748" y="113675"/>
                  <a:pt x="224915" y="115502"/>
                </a:cubicBezTo>
                <a:cubicBezTo>
                  <a:pt x="211044" y="91171"/>
                  <a:pt x="185133" y="74437"/>
                  <a:pt x="155080" y="74437"/>
                </a:cubicBezTo>
                <a:cubicBezTo>
                  <a:pt x="110675" y="74437"/>
                  <a:pt x="74458" y="110501"/>
                  <a:pt x="74458" y="154836"/>
                </a:cubicBezTo>
                <a:cubicBezTo>
                  <a:pt x="74458" y="183207"/>
                  <a:pt x="89388" y="208115"/>
                  <a:pt x="111638" y="222445"/>
                </a:cubicBezTo>
                <a:cubicBezTo>
                  <a:pt x="108556" y="235812"/>
                  <a:pt x="106822" y="250046"/>
                  <a:pt x="106822" y="265145"/>
                </a:cubicBezTo>
                <a:cubicBezTo>
                  <a:pt x="106822" y="265337"/>
                  <a:pt x="106822" y="265626"/>
                  <a:pt x="106822" y="265818"/>
                </a:cubicBezTo>
                <a:cubicBezTo>
                  <a:pt x="104029" y="264568"/>
                  <a:pt x="100946" y="263606"/>
                  <a:pt x="98153" y="262163"/>
                </a:cubicBezTo>
                <a:lnTo>
                  <a:pt x="79659" y="280628"/>
                </a:lnTo>
                <a:cubicBezTo>
                  <a:pt x="77251" y="283033"/>
                  <a:pt x="74072" y="284379"/>
                  <a:pt x="70701" y="284379"/>
                </a:cubicBezTo>
                <a:cubicBezTo>
                  <a:pt x="67330" y="284379"/>
                  <a:pt x="64055" y="283033"/>
                  <a:pt x="61647" y="280628"/>
                </a:cubicBezTo>
                <a:lnTo>
                  <a:pt x="29089" y="248122"/>
                </a:lnTo>
                <a:cubicBezTo>
                  <a:pt x="24081" y="243121"/>
                  <a:pt x="24081" y="235043"/>
                  <a:pt x="29089" y="230138"/>
                </a:cubicBezTo>
                <a:lnTo>
                  <a:pt x="47583" y="211673"/>
                </a:lnTo>
                <a:cubicBezTo>
                  <a:pt x="44020" y="204941"/>
                  <a:pt x="41034" y="197921"/>
                  <a:pt x="38722" y="190612"/>
                </a:cubicBezTo>
                <a:lnTo>
                  <a:pt x="12715" y="190612"/>
                </a:lnTo>
                <a:cubicBezTo>
                  <a:pt x="5683" y="190612"/>
                  <a:pt x="0" y="184842"/>
                  <a:pt x="0" y="177821"/>
                </a:cubicBezTo>
                <a:lnTo>
                  <a:pt x="0" y="131851"/>
                </a:lnTo>
                <a:cubicBezTo>
                  <a:pt x="0" y="124831"/>
                  <a:pt x="5683" y="119156"/>
                  <a:pt x="12715" y="119156"/>
                </a:cubicBezTo>
                <a:lnTo>
                  <a:pt x="38818" y="119156"/>
                </a:lnTo>
                <a:cubicBezTo>
                  <a:pt x="41034" y="111751"/>
                  <a:pt x="44020" y="104731"/>
                  <a:pt x="47583" y="98095"/>
                </a:cubicBezTo>
                <a:lnTo>
                  <a:pt x="29089" y="79630"/>
                </a:lnTo>
                <a:cubicBezTo>
                  <a:pt x="26681" y="77226"/>
                  <a:pt x="25333" y="73956"/>
                  <a:pt x="25333" y="70590"/>
                </a:cubicBezTo>
                <a:cubicBezTo>
                  <a:pt x="25333" y="67224"/>
                  <a:pt x="26681" y="63954"/>
                  <a:pt x="29089" y="61646"/>
                </a:cubicBezTo>
                <a:lnTo>
                  <a:pt x="61647" y="29044"/>
                </a:lnTo>
                <a:cubicBezTo>
                  <a:pt x="64151" y="26639"/>
                  <a:pt x="67426" y="25389"/>
                  <a:pt x="70701" y="25389"/>
                </a:cubicBezTo>
                <a:cubicBezTo>
                  <a:pt x="73976" y="25389"/>
                  <a:pt x="77155" y="26639"/>
                  <a:pt x="79659" y="29140"/>
                </a:cubicBezTo>
                <a:lnTo>
                  <a:pt x="98153" y="47509"/>
                </a:lnTo>
                <a:cubicBezTo>
                  <a:pt x="104896" y="44047"/>
                  <a:pt x="111927" y="41065"/>
                  <a:pt x="119248" y="38757"/>
                </a:cubicBezTo>
                <a:lnTo>
                  <a:pt x="119248" y="12695"/>
                </a:lnTo>
                <a:cubicBezTo>
                  <a:pt x="119248" y="5674"/>
                  <a:pt x="125027" y="0"/>
                  <a:pt x="131962" y="0"/>
                </a:cubicBezTo>
                <a:close/>
              </a:path>
            </a:pathLst>
          </a:custGeom>
          <a:solidFill>
            <a:srgbClr val="144D8F"/>
          </a:solidFill>
          <a:ln>
            <a:noFill/>
          </a:ln>
        </p:spPr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任意多边形: 形状 57"/>
          <p:cNvSpPr>
            <a:spLocks noChangeAspect="1"/>
          </p:cNvSpPr>
          <p:nvPr/>
        </p:nvSpPr>
        <p:spPr>
          <a:xfrm flipH="1" flipV="1">
            <a:off x="984186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: 形状 57"/>
          <p:cNvSpPr>
            <a:spLocks noChangeAspect="1"/>
          </p:cNvSpPr>
          <p:nvPr/>
        </p:nvSpPr>
        <p:spPr>
          <a:xfrm>
            <a:off x="-46291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-231140" y="2339975"/>
            <a:ext cx="5848985" cy="1503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矩形: 圆角 61"/>
          <p:cNvSpPr/>
          <p:nvPr/>
        </p:nvSpPr>
        <p:spPr>
          <a:xfrm>
            <a:off x="154305" y="4347210"/>
            <a:ext cx="5359400" cy="1503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148715" y="3175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矩形: 圆角 61"/>
          <p:cNvSpPr/>
          <p:nvPr/>
        </p:nvSpPr>
        <p:spPr>
          <a:xfrm flipH="1">
            <a:off x="6666865" y="4347210"/>
            <a:ext cx="5359400" cy="1503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9" name="Freeform 21"/>
          <p:cNvSpPr>
            <a:spLocks noChangeAspect="1"/>
          </p:cNvSpPr>
          <p:nvPr userDrawn="1"/>
        </p:nvSpPr>
        <p:spPr bwMode="auto">
          <a:xfrm>
            <a:off x="5422265" y="915035"/>
            <a:ext cx="1348105" cy="939800"/>
          </a:xfrm>
          <a:custGeom>
            <a:avLst/>
            <a:gdLst>
              <a:gd name="T0" fmla="*/ 1208 w 1270"/>
              <a:gd name="T1" fmla="*/ 0 h 882"/>
              <a:gd name="T2" fmla="*/ 989 w 1270"/>
              <a:gd name="T3" fmla="*/ 0 h 882"/>
              <a:gd name="T4" fmla="*/ 821 w 1270"/>
              <a:gd name="T5" fmla="*/ 0 h 882"/>
              <a:gd name="T6" fmla="*/ 712 w 1270"/>
              <a:gd name="T7" fmla="*/ 145 h 882"/>
              <a:gd name="T8" fmla="*/ 616 w 1270"/>
              <a:gd name="T9" fmla="*/ 336 h 882"/>
              <a:gd name="T10" fmla="*/ 523 w 1270"/>
              <a:gd name="T11" fmla="*/ 520 h 882"/>
              <a:gd name="T12" fmla="*/ 442 w 1270"/>
              <a:gd name="T13" fmla="*/ 682 h 882"/>
              <a:gd name="T14" fmla="*/ 383 w 1270"/>
              <a:gd name="T15" fmla="*/ 566 h 882"/>
              <a:gd name="T16" fmla="*/ 265 w 1270"/>
              <a:gd name="T17" fmla="*/ 330 h 882"/>
              <a:gd name="T18" fmla="*/ 171 w 1270"/>
              <a:gd name="T19" fmla="*/ 144 h 882"/>
              <a:gd name="T20" fmla="*/ 160 w 1270"/>
              <a:gd name="T21" fmla="*/ 121 h 882"/>
              <a:gd name="T22" fmla="*/ 342 w 1270"/>
              <a:gd name="T23" fmla="*/ 121 h 882"/>
              <a:gd name="T24" fmla="*/ 412 w 1270"/>
              <a:gd name="T25" fmla="*/ 121 h 882"/>
              <a:gd name="T26" fmla="*/ 466 w 1270"/>
              <a:gd name="T27" fmla="*/ 228 h 882"/>
              <a:gd name="T28" fmla="*/ 550 w 1270"/>
              <a:gd name="T29" fmla="*/ 396 h 882"/>
              <a:gd name="T30" fmla="*/ 611 w 1270"/>
              <a:gd name="T31" fmla="*/ 277 h 882"/>
              <a:gd name="T32" fmla="*/ 614 w 1270"/>
              <a:gd name="T33" fmla="*/ 254 h 882"/>
              <a:gd name="T34" fmla="*/ 533 w 1270"/>
              <a:gd name="T35" fmla="*/ 94 h 882"/>
              <a:gd name="T36" fmla="*/ 434 w 1270"/>
              <a:gd name="T37" fmla="*/ 0 h 882"/>
              <a:gd name="T38" fmla="*/ 126 w 1270"/>
              <a:gd name="T39" fmla="*/ 0 h 882"/>
              <a:gd name="T40" fmla="*/ 44 w 1270"/>
              <a:gd name="T41" fmla="*/ 3 h 882"/>
              <a:gd name="T42" fmla="*/ 8 w 1270"/>
              <a:gd name="T43" fmla="*/ 88 h 882"/>
              <a:gd name="T44" fmla="*/ 60 w 1270"/>
              <a:gd name="T45" fmla="*/ 191 h 882"/>
              <a:gd name="T46" fmla="*/ 170 w 1270"/>
              <a:gd name="T47" fmla="*/ 410 h 882"/>
              <a:gd name="T48" fmla="*/ 290 w 1270"/>
              <a:gd name="T49" fmla="*/ 649 h 882"/>
              <a:gd name="T50" fmla="*/ 373 w 1270"/>
              <a:gd name="T51" fmla="*/ 814 h 882"/>
              <a:gd name="T52" fmla="*/ 406 w 1270"/>
              <a:gd name="T53" fmla="*/ 866 h 882"/>
              <a:gd name="T54" fmla="*/ 498 w 1270"/>
              <a:gd name="T55" fmla="*/ 839 h 882"/>
              <a:gd name="T56" fmla="*/ 567 w 1270"/>
              <a:gd name="T57" fmla="*/ 701 h 882"/>
              <a:gd name="T58" fmla="*/ 635 w 1270"/>
              <a:gd name="T59" fmla="*/ 566 h 882"/>
              <a:gd name="T60" fmla="*/ 734 w 1270"/>
              <a:gd name="T61" fmla="*/ 369 h 882"/>
              <a:gd name="T62" fmla="*/ 786 w 1270"/>
              <a:gd name="T63" fmla="*/ 265 h 882"/>
              <a:gd name="T64" fmla="*/ 858 w 1270"/>
              <a:gd name="T65" fmla="*/ 121 h 882"/>
              <a:gd name="T66" fmla="*/ 1010 w 1270"/>
              <a:gd name="T67" fmla="*/ 121 h 882"/>
              <a:gd name="T68" fmla="*/ 1109 w 1270"/>
              <a:gd name="T69" fmla="*/ 121 h 882"/>
              <a:gd name="T70" fmla="*/ 1083 w 1270"/>
              <a:gd name="T71" fmla="*/ 177 h 882"/>
              <a:gd name="T72" fmla="*/ 975 w 1270"/>
              <a:gd name="T73" fmla="*/ 392 h 882"/>
              <a:gd name="T74" fmla="*/ 863 w 1270"/>
              <a:gd name="T75" fmla="*/ 613 h 882"/>
              <a:gd name="T76" fmla="*/ 829 w 1270"/>
              <a:gd name="T77" fmla="*/ 681 h 882"/>
              <a:gd name="T78" fmla="*/ 733 w 1270"/>
              <a:gd name="T79" fmla="*/ 492 h 882"/>
              <a:gd name="T80" fmla="*/ 656 w 1270"/>
              <a:gd name="T81" fmla="*/ 593 h 882"/>
              <a:gd name="T82" fmla="*/ 696 w 1270"/>
              <a:gd name="T83" fmla="*/ 687 h 882"/>
              <a:gd name="T84" fmla="*/ 777 w 1270"/>
              <a:gd name="T85" fmla="*/ 848 h 882"/>
              <a:gd name="T86" fmla="*/ 887 w 1270"/>
              <a:gd name="T87" fmla="*/ 834 h 882"/>
              <a:gd name="T88" fmla="*/ 958 w 1270"/>
              <a:gd name="T89" fmla="*/ 695 h 882"/>
              <a:gd name="T90" fmla="*/ 1081 w 1270"/>
              <a:gd name="T91" fmla="*/ 449 h 882"/>
              <a:gd name="T92" fmla="*/ 1201 w 1270"/>
              <a:gd name="T93" fmla="*/ 209 h 882"/>
              <a:gd name="T94" fmla="*/ 1262 w 1270"/>
              <a:gd name="T95" fmla="*/ 89 h 8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270" h="882">
                <a:moveTo>
                  <a:pt x="1268" y="57"/>
                </a:moveTo>
                <a:cubicBezTo>
                  <a:pt x="1268" y="40"/>
                  <a:pt x="1259" y="24"/>
                  <a:pt x="1246" y="14"/>
                </a:cubicBezTo>
                <a:cubicBezTo>
                  <a:pt x="1235" y="5"/>
                  <a:pt x="1222" y="1"/>
                  <a:pt x="1208" y="0"/>
                </a:cubicBezTo>
                <a:cubicBezTo>
                  <a:pt x="1203" y="0"/>
                  <a:pt x="1199" y="0"/>
                  <a:pt x="1194" y="0"/>
                </a:cubicBezTo>
                <a:cubicBezTo>
                  <a:pt x="1165" y="0"/>
                  <a:pt x="1137" y="0"/>
                  <a:pt x="1109" y="0"/>
                </a:cubicBezTo>
                <a:cubicBezTo>
                  <a:pt x="1069" y="0"/>
                  <a:pt x="1029" y="0"/>
                  <a:pt x="989" y="0"/>
                </a:cubicBezTo>
                <a:cubicBezTo>
                  <a:pt x="952" y="0"/>
                  <a:pt x="915" y="0"/>
                  <a:pt x="878" y="0"/>
                </a:cubicBezTo>
                <a:cubicBezTo>
                  <a:pt x="859" y="0"/>
                  <a:pt x="841" y="0"/>
                  <a:pt x="822" y="0"/>
                </a:cubicBezTo>
                <a:cubicBezTo>
                  <a:pt x="822" y="0"/>
                  <a:pt x="822" y="0"/>
                  <a:pt x="821" y="0"/>
                </a:cubicBezTo>
                <a:cubicBezTo>
                  <a:pt x="798" y="1"/>
                  <a:pt x="778" y="14"/>
                  <a:pt x="767" y="35"/>
                </a:cubicBezTo>
                <a:cubicBezTo>
                  <a:pt x="763" y="42"/>
                  <a:pt x="760" y="49"/>
                  <a:pt x="756" y="56"/>
                </a:cubicBezTo>
                <a:cubicBezTo>
                  <a:pt x="741" y="86"/>
                  <a:pt x="726" y="115"/>
                  <a:pt x="712" y="145"/>
                </a:cubicBezTo>
                <a:cubicBezTo>
                  <a:pt x="699" y="171"/>
                  <a:pt x="686" y="197"/>
                  <a:pt x="673" y="223"/>
                </a:cubicBezTo>
                <a:cubicBezTo>
                  <a:pt x="668" y="232"/>
                  <a:pt x="663" y="242"/>
                  <a:pt x="658" y="251"/>
                </a:cubicBezTo>
                <a:cubicBezTo>
                  <a:pt x="644" y="279"/>
                  <a:pt x="630" y="308"/>
                  <a:pt x="616" y="336"/>
                </a:cubicBezTo>
                <a:cubicBezTo>
                  <a:pt x="601" y="365"/>
                  <a:pt x="586" y="395"/>
                  <a:pt x="571" y="424"/>
                </a:cubicBezTo>
                <a:cubicBezTo>
                  <a:pt x="566" y="435"/>
                  <a:pt x="561" y="445"/>
                  <a:pt x="556" y="455"/>
                </a:cubicBezTo>
                <a:cubicBezTo>
                  <a:pt x="545" y="477"/>
                  <a:pt x="534" y="498"/>
                  <a:pt x="523" y="520"/>
                </a:cubicBezTo>
                <a:cubicBezTo>
                  <a:pt x="507" y="552"/>
                  <a:pt x="491" y="584"/>
                  <a:pt x="475" y="616"/>
                </a:cubicBezTo>
                <a:cubicBezTo>
                  <a:pt x="464" y="637"/>
                  <a:pt x="454" y="658"/>
                  <a:pt x="443" y="679"/>
                </a:cubicBezTo>
                <a:cubicBezTo>
                  <a:pt x="443" y="680"/>
                  <a:pt x="442" y="681"/>
                  <a:pt x="442" y="682"/>
                </a:cubicBezTo>
                <a:cubicBezTo>
                  <a:pt x="439" y="677"/>
                  <a:pt x="437" y="672"/>
                  <a:pt x="434" y="667"/>
                </a:cubicBezTo>
                <a:cubicBezTo>
                  <a:pt x="427" y="654"/>
                  <a:pt x="421" y="640"/>
                  <a:pt x="414" y="627"/>
                </a:cubicBezTo>
                <a:cubicBezTo>
                  <a:pt x="404" y="606"/>
                  <a:pt x="394" y="586"/>
                  <a:pt x="383" y="566"/>
                </a:cubicBezTo>
                <a:cubicBezTo>
                  <a:pt x="371" y="542"/>
                  <a:pt x="359" y="517"/>
                  <a:pt x="346" y="492"/>
                </a:cubicBezTo>
                <a:cubicBezTo>
                  <a:pt x="333" y="466"/>
                  <a:pt x="319" y="439"/>
                  <a:pt x="306" y="412"/>
                </a:cubicBezTo>
                <a:cubicBezTo>
                  <a:pt x="292" y="385"/>
                  <a:pt x="279" y="357"/>
                  <a:pt x="265" y="330"/>
                </a:cubicBezTo>
                <a:cubicBezTo>
                  <a:pt x="252" y="305"/>
                  <a:pt x="240" y="280"/>
                  <a:pt x="227" y="254"/>
                </a:cubicBezTo>
                <a:cubicBezTo>
                  <a:pt x="216" y="233"/>
                  <a:pt x="205" y="211"/>
                  <a:pt x="195" y="190"/>
                </a:cubicBezTo>
                <a:cubicBezTo>
                  <a:pt x="187" y="175"/>
                  <a:pt x="179" y="159"/>
                  <a:pt x="171" y="144"/>
                </a:cubicBezTo>
                <a:cubicBezTo>
                  <a:pt x="169" y="139"/>
                  <a:pt x="167" y="134"/>
                  <a:pt x="164" y="130"/>
                </a:cubicBezTo>
                <a:cubicBezTo>
                  <a:pt x="163" y="127"/>
                  <a:pt x="161" y="124"/>
                  <a:pt x="160" y="122"/>
                </a:cubicBezTo>
                <a:cubicBezTo>
                  <a:pt x="160" y="122"/>
                  <a:pt x="160" y="121"/>
                  <a:pt x="160" y="121"/>
                </a:cubicBezTo>
                <a:cubicBezTo>
                  <a:pt x="170" y="121"/>
                  <a:pt x="180" y="121"/>
                  <a:pt x="191" y="121"/>
                </a:cubicBezTo>
                <a:cubicBezTo>
                  <a:pt x="214" y="121"/>
                  <a:pt x="238" y="121"/>
                  <a:pt x="261" y="121"/>
                </a:cubicBezTo>
                <a:cubicBezTo>
                  <a:pt x="288" y="121"/>
                  <a:pt x="315" y="121"/>
                  <a:pt x="342" y="121"/>
                </a:cubicBezTo>
                <a:cubicBezTo>
                  <a:pt x="361" y="121"/>
                  <a:pt x="381" y="121"/>
                  <a:pt x="400" y="121"/>
                </a:cubicBezTo>
                <a:cubicBezTo>
                  <a:pt x="403" y="121"/>
                  <a:pt x="405" y="121"/>
                  <a:pt x="408" y="121"/>
                </a:cubicBezTo>
                <a:cubicBezTo>
                  <a:pt x="409" y="121"/>
                  <a:pt x="411" y="121"/>
                  <a:pt x="412" y="121"/>
                </a:cubicBezTo>
                <a:cubicBezTo>
                  <a:pt x="413" y="122"/>
                  <a:pt x="413" y="124"/>
                  <a:pt x="414" y="125"/>
                </a:cubicBezTo>
                <a:cubicBezTo>
                  <a:pt x="420" y="138"/>
                  <a:pt x="427" y="151"/>
                  <a:pt x="433" y="163"/>
                </a:cubicBezTo>
                <a:cubicBezTo>
                  <a:pt x="444" y="185"/>
                  <a:pt x="455" y="207"/>
                  <a:pt x="466" y="228"/>
                </a:cubicBezTo>
                <a:cubicBezTo>
                  <a:pt x="478" y="253"/>
                  <a:pt x="490" y="277"/>
                  <a:pt x="502" y="301"/>
                </a:cubicBezTo>
                <a:cubicBezTo>
                  <a:pt x="513" y="322"/>
                  <a:pt x="523" y="342"/>
                  <a:pt x="533" y="363"/>
                </a:cubicBezTo>
                <a:cubicBezTo>
                  <a:pt x="539" y="374"/>
                  <a:pt x="544" y="385"/>
                  <a:pt x="550" y="396"/>
                </a:cubicBezTo>
                <a:cubicBezTo>
                  <a:pt x="550" y="396"/>
                  <a:pt x="550" y="397"/>
                  <a:pt x="551" y="397"/>
                </a:cubicBezTo>
                <a:cubicBezTo>
                  <a:pt x="563" y="373"/>
                  <a:pt x="575" y="348"/>
                  <a:pt x="588" y="323"/>
                </a:cubicBezTo>
                <a:cubicBezTo>
                  <a:pt x="596" y="308"/>
                  <a:pt x="603" y="292"/>
                  <a:pt x="611" y="277"/>
                </a:cubicBezTo>
                <a:cubicBezTo>
                  <a:pt x="613" y="273"/>
                  <a:pt x="615" y="269"/>
                  <a:pt x="617" y="265"/>
                </a:cubicBezTo>
                <a:cubicBezTo>
                  <a:pt x="618" y="263"/>
                  <a:pt x="618" y="263"/>
                  <a:pt x="618" y="262"/>
                </a:cubicBezTo>
                <a:cubicBezTo>
                  <a:pt x="617" y="259"/>
                  <a:pt x="615" y="257"/>
                  <a:pt x="614" y="254"/>
                </a:cubicBezTo>
                <a:cubicBezTo>
                  <a:pt x="612" y="250"/>
                  <a:pt x="609" y="245"/>
                  <a:pt x="607" y="240"/>
                </a:cubicBezTo>
                <a:cubicBezTo>
                  <a:pt x="600" y="226"/>
                  <a:pt x="593" y="212"/>
                  <a:pt x="586" y="198"/>
                </a:cubicBezTo>
                <a:cubicBezTo>
                  <a:pt x="568" y="163"/>
                  <a:pt x="551" y="128"/>
                  <a:pt x="533" y="94"/>
                </a:cubicBezTo>
                <a:cubicBezTo>
                  <a:pt x="523" y="74"/>
                  <a:pt x="514" y="54"/>
                  <a:pt x="503" y="34"/>
                </a:cubicBezTo>
                <a:cubicBezTo>
                  <a:pt x="492" y="13"/>
                  <a:pt x="472" y="1"/>
                  <a:pt x="449" y="0"/>
                </a:cubicBezTo>
                <a:cubicBezTo>
                  <a:pt x="444" y="0"/>
                  <a:pt x="439" y="0"/>
                  <a:pt x="434" y="0"/>
                </a:cubicBezTo>
                <a:cubicBezTo>
                  <a:pt x="406" y="0"/>
                  <a:pt x="379" y="0"/>
                  <a:pt x="352" y="0"/>
                </a:cubicBezTo>
                <a:cubicBezTo>
                  <a:pt x="313" y="0"/>
                  <a:pt x="274" y="0"/>
                  <a:pt x="236" y="0"/>
                </a:cubicBezTo>
                <a:cubicBezTo>
                  <a:pt x="199" y="0"/>
                  <a:pt x="163" y="0"/>
                  <a:pt x="126" y="0"/>
                </a:cubicBezTo>
                <a:cubicBezTo>
                  <a:pt x="106" y="0"/>
                  <a:pt x="85" y="0"/>
                  <a:pt x="65" y="0"/>
                </a:cubicBezTo>
                <a:cubicBezTo>
                  <a:pt x="64" y="0"/>
                  <a:pt x="63" y="0"/>
                  <a:pt x="62" y="0"/>
                </a:cubicBezTo>
                <a:cubicBezTo>
                  <a:pt x="56" y="1"/>
                  <a:pt x="50" y="1"/>
                  <a:pt x="44" y="3"/>
                </a:cubicBezTo>
                <a:cubicBezTo>
                  <a:pt x="38" y="5"/>
                  <a:pt x="33" y="8"/>
                  <a:pt x="28" y="11"/>
                </a:cubicBezTo>
                <a:cubicBezTo>
                  <a:pt x="16" y="19"/>
                  <a:pt x="8" y="31"/>
                  <a:pt x="4" y="44"/>
                </a:cubicBezTo>
                <a:cubicBezTo>
                  <a:pt x="0" y="60"/>
                  <a:pt x="2" y="74"/>
                  <a:pt x="8" y="88"/>
                </a:cubicBezTo>
                <a:cubicBezTo>
                  <a:pt x="11" y="94"/>
                  <a:pt x="14" y="99"/>
                  <a:pt x="16" y="104"/>
                </a:cubicBezTo>
                <a:cubicBezTo>
                  <a:pt x="22" y="116"/>
                  <a:pt x="28" y="128"/>
                  <a:pt x="34" y="139"/>
                </a:cubicBezTo>
                <a:cubicBezTo>
                  <a:pt x="43" y="157"/>
                  <a:pt x="52" y="174"/>
                  <a:pt x="60" y="191"/>
                </a:cubicBezTo>
                <a:cubicBezTo>
                  <a:pt x="71" y="213"/>
                  <a:pt x="82" y="234"/>
                  <a:pt x="93" y="256"/>
                </a:cubicBezTo>
                <a:cubicBezTo>
                  <a:pt x="105" y="281"/>
                  <a:pt x="118" y="305"/>
                  <a:pt x="130" y="330"/>
                </a:cubicBezTo>
                <a:cubicBezTo>
                  <a:pt x="143" y="357"/>
                  <a:pt x="157" y="383"/>
                  <a:pt x="170" y="410"/>
                </a:cubicBezTo>
                <a:cubicBezTo>
                  <a:pt x="184" y="437"/>
                  <a:pt x="198" y="465"/>
                  <a:pt x="211" y="492"/>
                </a:cubicBezTo>
                <a:cubicBezTo>
                  <a:pt x="225" y="519"/>
                  <a:pt x="238" y="546"/>
                  <a:pt x="252" y="573"/>
                </a:cubicBezTo>
                <a:cubicBezTo>
                  <a:pt x="265" y="598"/>
                  <a:pt x="277" y="624"/>
                  <a:pt x="290" y="649"/>
                </a:cubicBezTo>
                <a:cubicBezTo>
                  <a:pt x="302" y="672"/>
                  <a:pt x="313" y="694"/>
                  <a:pt x="324" y="717"/>
                </a:cubicBezTo>
                <a:cubicBezTo>
                  <a:pt x="334" y="736"/>
                  <a:pt x="343" y="755"/>
                  <a:pt x="353" y="773"/>
                </a:cubicBezTo>
                <a:cubicBezTo>
                  <a:pt x="359" y="787"/>
                  <a:pt x="366" y="801"/>
                  <a:pt x="373" y="814"/>
                </a:cubicBezTo>
                <a:cubicBezTo>
                  <a:pt x="377" y="822"/>
                  <a:pt x="381" y="829"/>
                  <a:pt x="384" y="836"/>
                </a:cubicBezTo>
                <a:cubicBezTo>
                  <a:pt x="385" y="837"/>
                  <a:pt x="385" y="838"/>
                  <a:pt x="386" y="839"/>
                </a:cubicBezTo>
                <a:cubicBezTo>
                  <a:pt x="391" y="850"/>
                  <a:pt x="397" y="859"/>
                  <a:pt x="406" y="866"/>
                </a:cubicBezTo>
                <a:cubicBezTo>
                  <a:pt x="417" y="874"/>
                  <a:pt x="430" y="877"/>
                  <a:pt x="442" y="877"/>
                </a:cubicBezTo>
                <a:cubicBezTo>
                  <a:pt x="455" y="877"/>
                  <a:pt x="467" y="873"/>
                  <a:pt x="478" y="866"/>
                </a:cubicBezTo>
                <a:cubicBezTo>
                  <a:pt x="487" y="859"/>
                  <a:pt x="493" y="850"/>
                  <a:pt x="498" y="839"/>
                </a:cubicBezTo>
                <a:cubicBezTo>
                  <a:pt x="499" y="837"/>
                  <a:pt x="500" y="834"/>
                  <a:pt x="502" y="832"/>
                </a:cubicBezTo>
                <a:cubicBezTo>
                  <a:pt x="510" y="814"/>
                  <a:pt x="519" y="797"/>
                  <a:pt x="528" y="780"/>
                </a:cubicBezTo>
                <a:cubicBezTo>
                  <a:pt x="541" y="754"/>
                  <a:pt x="554" y="728"/>
                  <a:pt x="567" y="701"/>
                </a:cubicBezTo>
                <a:cubicBezTo>
                  <a:pt x="580" y="676"/>
                  <a:pt x="593" y="650"/>
                  <a:pt x="606" y="624"/>
                </a:cubicBezTo>
                <a:cubicBezTo>
                  <a:pt x="615" y="607"/>
                  <a:pt x="623" y="590"/>
                  <a:pt x="632" y="573"/>
                </a:cubicBezTo>
                <a:cubicBezTo>
                  <a:pt x="633" y="570"/>
                  <a:pt x="634" y="568"/>
                  <a:pt x="635" y="566"/>
                </a:cubicBezTo>
                <a:cubicBezTo>
                  <a:pt x="635" y="566"/>
                  <a:pt x="635" y="566"/>
                  <a:pt x="636" y="566"/>
                </a:cubicBezTo>
                <a:cubicBezTo>
                  <a:pt x="648" y="541"/>
                  <a:pt x="661" y="516"/>
                  <a:pt x="673" y="490"/>
                </a:cubicBezTo>
                <a:cubicBezTo>
                  <a:pt x="693" y="450"/>
                  <a:pt x="714" y="410"/>
                  <a:pt x="734" y="369"/>
                </a:cubicBezTo>
                <a:cubicBezTo>
                  <a:pt x="738" y="360"/>
                  <a:pt x="743" y="351"/>
                  <a:pt x="748" y="341"/>
                </a:cubicBezTo>
                <a:cubicBezTo>
                  <a:pt x="748" y="341"/>
                  <a:pt x="748" y="341"/>
                  <a:pt x="748" y="342"/>
                </a:cubicBezTo>
                <a:cubicBezTo>
                  <a:pt x="761" y="316"/>
                  <a:pt x="773" y="291"/>
                  <a:pt x="786" y="265"/>
                </a:cubicBezTo>
                <a:cubicBezTo>
                  <a:pt x="806" y="226"/>
                  <a:pt x="826" y="186"/>
                  <a:pt x="846" y="146"/>
                </a:cubicBezTo>
                <a:cubicBezTo>
                  <a:pt x="849" y="140"/>
                  <a:pt x="852" y="135"/>
                  <a:pt x="855" y="129"/>
                </a:cubicBezTo>
                <a:cubicBezTo>
                  <a:pt x="855" y="127"/>
                  <a:pt x="857" y="122"/>
                  <a:pt x="858" y="121"/>
                </a:cubicBezTo>
                <a:cubicBezTo>
                  <a:pt x="859" y="121"/>
                  <a:pt x="862" y="121"/>
                  <a:pt x="864" y="121"/>
                </a:cubicBezTo>
                <a:cubicBezTo>
                  <a:pt x="869" y="121"/>
                  <a:pt x="875" y="121"/>
                  <a:pt x="880" y="121"/>
                </a:cubicBezTo>
                <a:cubicBezTo>
                  <a:pt x="923" y="121"/>
                  <a:pt x="966" y="121"/>
                  <a:pt x="1010" y="121"/>
                </a:cubicBezTo>
                <a:cubicBezTo>
                  <a:pt x="1031" y="121"/>
                  <a:pt x="1052" y="121"/>
                  <a:pt x="1074" y="121"/>
                </a:cubicBezTo>
                <a:cubicBezTo>
                  <a:pt x="1081" y="121"/>
                  <a:pt x="1089" y="121"/>
                  <a:pt x="1097" y="121"/>
                </a:cubicBezTo>
                <a:cubicBezTo>
                  <a:pt x="1101" y="121"/>
                  <a:pt x="1105" y="121"/>
                  <a:pt x="1109" y="121"/>
                </a:cubicBezTo>
                <a:cubicBezTo>
                  <a:pt x="1110" y="121"/>
                  <a:pt x="1110" y="121"/>
                  <a:pt x="1111" y="121"/>
                </a:cubicBezTo>
                <a:cubicBezTo>
                  <a:pt x="1108" y="126"/>
                  <a:pt x="1106" y="131"/>
                  <a:pt x="1103" y="136"/>
                </a:cubicBezTo>
                <a:cubicBezTo>
                  <a:pt x="1096" y="150"/>
                  <a:pt x="1089" y="163"/>
                  <a:pt x="1083" y="177"/>
                </a:cubicBezTo>
                <a:cubicBezTo>
                  <a:pt x="1073" y="197"/>
                  <a:pt x="1062" y="217"/>
                  <a:pt x="1052" y="237"/>
                </a:cubicBezTo>
                <a:cubicBezTo>
                  <a:pt x="1040" y="262"/>
                  <a:pt x="1028" y="286"/>
                  <a:pt x="1015" y="311"/>
                </a:cubicBezTo>
                <a:cubicBezTo>
                  <a:pt x="1002" y="338"/>
                  <a:pt x="988" y="365"/>
                  <a:pt x="975" y="392"/>
                </a:cubicBezTo>
                <a:cubicBezTo>
                  <a:pt x="961" y="419"/>
                  <a:pt x="948" y="446"/>
                  <a:pt x="934" y="473"/>
                </a:cubicBezTo>
                <a:cubicBezTo>
                  <a:pt x="921" y="498"/>
                  <a:pt x="908" y="524"/>
                  <a:pt x="896" y="549"/>
                </a:cubicBezTo>
                <a:cubicBezTo>
                  <a:pt x="885" y="570"/>
                  <a:pt x="874" y="592"/>
                  <a:pt x="863" y="613"/>
                </a:cubicBezTo>
                <a:cubicBezTo>
                  <a:pt x="856" y="629"/>
                  <a:pt x="848" y="644"/>
                  <a:pt x="840" y="659"/>
                </a:cubicBezTo>
                <a:cubicBezTo>
                  <a:pt x="838" y="664"/>
                  <a:pt x="835" y="669"/>
                  <a:pt x="833" y="674"/>
                </a:cubicBezTo>
                <a:cubicBezTo>
                  <a:pt x="832" y="676"/>
                  <a:pt x="831" y="679"/>
                  <a:pt x="829" y="681"/>
                </a:cubicBezTo>
                <a:cubicBezTo>
                  <a:pt x="829" y="682"/>
                  <a:pt x="829" y="682"/>
                  <a:pt x="829" y="682"/>
                </a:cubicBezTo>
                <a:cubicBezTo>
                  <a:pt x="817" y="658"/>
                  <a:pt x="804" y="633"/>
                  <a:pt x="792" y="609"/>
                </a:cubicBezTo>
                <a:cubicBezTo>
                  <a:pt x="772" y="570"/>
                  <a:pt x="753" y="531"/>
                  <a:pt x="733" y="492"/>
                </a:cubicBezTo>
                <a:cubicBezTo>
                  <a:pt x="729" y="483"/>
                  <a:pt x="724" y="474"/>
                  <a:pt x="720" y="465"/>
                </a:cubicBezTo>
                <a:cubicBezTo>
                  <a:pt x="711" y="483"/>
                  <a:pt x="702" y="501"/>
                  <a:pt x="693" y="519"/>
                </a:cubicBezTo>
                <a:cubicBezTo>
                  <a:pt x="681" y="543"/>
                  <a:pt x="668" y="568"/>
                  <a:pt x="656" y="593"/>
                </a:cubicBezTo>
                <a:cubicBezTo>
                  <a:pt x="655" y="596"/>
                  <a:pt x="652" y="598"/>
                  <a:pt x="653" y="601"/>
                </a:cubicBezTo>
                <a:cubicBezTo>
                  <a:pt x="655" y="607"/>
                  <a:pt x="659" y="612"/>
                  <a:pt x="661" y="617"/>
                </a:cubicBezTo>
                <a:cubicBezTo>
                  <a:pt x="673" y="641"/>
                  <a:pt x="685" y="664"/>
                  <a:pt x="696" y="687"/>
                </a:cubicBezTo>
                <a:cubicBezTo>
                  <a:pt x="711" y="716"/>
                  <a:pt x="725" y="744"/>
                  <a:pt x="739" y="772"/>
                </a:cubicBezTo>
                <a:cubicBezTo>
                  <a:pt x="749" y="792"/>
                  <a:pt x="759" y="812"/>
                  <a:pt x="769" y="832"/>
                </a:cubicBezTo>
                <a:cubicBezTo>
                  <a:pt x="772" y="837"/>
                  <a:pt x="774" y="843"/>
                  <a:pt x="777" y="848"/>
                </a:cubicBezTo>
                <a:cubicBezTo>
                  <a:pt x="791" y="871"/>
                  <a:pt x="819" y="882"/>
                  <a:pt x="846" y="875"/>
                </a:cubicBezTo>
                <a:cubicBezTo>
                  <a:pt x="865" y="870"/>
                  <a:pt x="877" y="857"/>
                  <a:pt x="885" y="839"/>
                </a:cubicBezTo>
                <a:cubicBezTo>
                  <a:pt x="886" y="838"/>
                  <a:pt x="887" y="836"/>
                  <a:pt x="887" y="834"/>
                </a:cubicBezTo>
                <a:cubicBezTo>
                  <a:pt x="892" y="825"/>
                  <a:pt x="897" y="816"/>
                  <a:pt x="901" y="806"/>
                </a:cubicBezTo>
                <a:cubicBezTo>
                  <a:pt x="909" y="791"/>
                  <a:pt x="917" y="775"/>
                  <a:pt x="925" y="759"/>
                </a:cubicBezTo>
                <a:cubicBezTo>
                  <a:pt x="936" y="737"/>
                  <a:pt x="947" y="716"/>
                  <a:pt x="958" y="695"/>
                </a:cubicBezTo>
                <a:cubicBezTo>
                  <a:pt x="970" y="669"/>
                  <a:pt x="983" y="644"/>
                  <a:pt x="996" y="619"/>
                </a:cubicBezTo>
                <a:cubicBezTo>
                  <a:pt x="1010" y="591"/>
                  <a:pt x="1024" y="563"/>
                  <a:pt x="1038" y="535"/>
                </a:cubicBezTo>
                <a:cubicBezTo>
                  <a:pt x="1052" y="507"/>
                  <a:pt x="1067" y="478"/>
                  <a:pt x="1081" y="449"/>
                </a:cubicBezTo>
                <a:cubicBezTo>
                  <a:pt x="1096" y="420"/>
                  <a:pt x="1110" y="391"/>
                  <a:pt x="1124" y="363"/>
                </a:cubicBezTo>
                <a:cubicBezTo>
                  <a:pt x="1138" y="335"/>
                  <a:pt x="1152" y="308"/>
                  <a:pt x="1165" y="281"/>
                </a:cubicBezTo>
                <a:cubicBezTo>
                  <a:pt x="1177" y="257"/>
                  <a:pt x="1189" y="233"/>
                  <a:pt x="1201" y="209"/>
                </a:cubicBezTo>
                <a:cubicBezTo>
                  <a:pt x="1211" y="189"/>
                  <a:pt x="1221" y="170"/>
                  <a:pt x="1231" y="150"/>
                </a:cubicBezTo>
                <a:cubicBezTo>
                  <a:pt x="1238" y="136"/>
                  <a:pt x="1245" y="123"/>
                  <a:pt x="1252" y="109"/>
                </a:cubicBezTo>
                <a:cubicBezTo>
                  <a:pt x="1255" y="102"/>
                  <a:pt x="1259" y="96"/>
                  <a:pt x="1262" y="89"/>
                </a:cubicBezTo>
                <a:cubicBezTo>
                  <a:pt x="1266" y="79"/>
                  <a:pt x="1270" y="68"/>
                  <a:pt x="1268" y="57"/>
                </a:cubicBezTo>
                <a:cubicBezTo>
                  <a:pt x="1268" y="55"/>
                  <a:pt x="1268" y="58"/>
                  <a:pt x="1268" y="57"/>
                </a:cubicBezTo>
                <a:close/>
              </a:path>
            </a:pathLst>
          </a:custGeom>
          <a:solidFill>
            <a:srgbClr val="144D8F">
              <a:alpha val="9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5444213" y="872171"/>
            <a:ext cx="1301750" cy="768350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zh-CN" altLang="en-US" sz="4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目录</a:t>
            </a:r>
            <a:endParaRPr lang="zh-CN" altLang="en-US" sz="4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392420" y="1565910"/>
            <a:ext cx="1405255" cy="24511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dist">
              <a:lnSpc>
                <a:spcPct val="100000"/>
              </a:lnSpc>
            </a:pPr>
            <a:r>
              <a:rPr lang="en-US" sz="1000" dirty="0">
                <a:solidFill>
                  <a:schemeClr val="tx1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CONTENTS</a:t>
            </a:r>
            <a:endParaRPr lang="en-US" sz="1000" dirty="0">
              <a:solidFill>
                <a:schemeClr val="tx1"/>
              </a:solidFill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cxnSp>
        <p:nvCxnSpPr>
          <p:cNvPr id="119" name="直接连接符 118"/>
          <p:cNvCxnSpPr/>
          <p:nvPr userDrawn="1"/>
        </p:nvCxnSpPr>
        <p:spPr>
          <a:xfrm flipH="1">
            <a:off x="1745993" y="2781455"/>
            <a:ext cx="2638" cy="64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文本占位符 119"/>
          <p:cNvSpPr>
            <a:spLocks noGrp="1"/>
          </p:cNvSpPr>
          <p:nvPr>
            <p:ph type="body" idx="13" hasCustomPrompt="1"/>
          </p:nvPr>
        </p:nvSpPr>
        <p:spPr>
          <a:xfrm>
            <a:off x="1793875" y="2781300"/>
            <a:ext cx="2946400" cy="414020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400" b="1" u="none" strike="noStrike" kern="1200" cap="none" spc="200" normalizeH="0" baseline="0">
                <a:solidFill>
                  <a:srgbClr val="A01D24"/>
                </a:solidFill>
                <a:uFillTx/>
                <a:latin typeface="+mj-ea"/>
                <a:ea typeface="+mj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z="3200" b="0">
                <a:solidFill>
                  <a:srgbClr val="144D8F"/>
                </a:solidFill>
                <a:latin typeface="阿里巴巴普惠体 R" panose="00020600040101010101" charset="-122"/>
                <a:ea typeface="阿里巴巴普惠体 R" panose="00020600040101010101" charset="-122"/>
                <a:sym typeface="+mn-ea"/>
              </a:rPr>
              <a:t>指标分析</a:t>
            </a:r>
            <a:endParaRPr lang="zh-CN" altLang="en-US" sz="3200" b="0" strike="noStrike" noProof="1">
              <a:solidFill>
                <a:srgbClr val="144D8F"/>
              </a:solidFill>
              <a:latin typeface="阿里巴巴普惠体 R" panose="00020600040101010101" charset="-122"/>
              <a:ea typeface="阿里巴巴普惠体 R" panose="00020600040101010101" charset="-122"/>
              <a:sym typeface="+mn-ea"/>
            </a:endParaRPr>
          </a:p>
        </p:txBody>
      </p:sp>
      <p:sp>
        <p:nvSpPr>
          <p:cNvPr id="122" name="文本占位符 34"/>
          <p:cNvSpPr>
            <a:spLocks noGrp="1"/>
          </p:cNvSpPr>
          <p:nvPr/>
        </p:nvSpPr>
        <p:spPr>
          <a:xfrm>
            <a:off x="882015" y="2925445"/>
            <a:ext cx="819150" cy="44005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70000"/>
              </a:lnSpc>
              <a:spcAft>
                <a:spcPts val="0"/>
              </a:spcAft>
              <a:buNone/>
              <a:defRPr sz="2800" b="0" u="none" strike="noStrike" kern="1200" cap="none" spc="200" normalizeH="0" baseline="0">
                <a:solidFill>
                  <a:srgbClr val="A01D24"/>
                </a:solidFill>
                <a:uFillTx/>
                <a:latin typeface="Impact" panose="020B0806030902050204" charset="0"/>
                <a:ea typeface="阿里巴巴普惠体 B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z="3600" strike="noStrike" noProof="1">
                <a:solidFill>
                  <a:srgbClr val="144D8F"/>
                </a:solidFill>
              </a:rPr>
              <a:t>01</a:t>
            </a:r>
            <a:endParaRPr lang="zh-CN" altLang="en-US" sz="3600" strike="noStrike" noProof="1">
              <a:solidFill>
                <a:srgbClr val="144D8F"/>
              </a:solidFill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 flipH="1">
            <a:off x="1836798" y="4762020"/>
            <a:ext cx="2638" cy="64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119"/>
          <p:cNvSpPr>
            <a:spLocks noGrp="1"/>
          </p:cNvSpPr>
          <p:nvPr/>
        </p:nvSpPr>
        <p:spPr>
          <a:xfrm>
            <a:off x="1884680" y="4761865"/>
            <a:ext cx="3710940" cy="414020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400" b="1" u="none" strike="noStrike" kern="1200" cap="none" spc="200" normalizeH="0" baseline="0">
                <a:solidFill>
                  <a:srgbClr val="A01D24"/>
                </a:solidFill>
                <a:uFillTx/>
                <a:latin typeface="+mj-ea"/>
                <a:ea typeface="+mj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en-US" altLang="zh-CN" sz="3200" b="0">
                <a:solidFill>
                  <a:srgbClr val="144D8F"/>
                </a:solidFill>
                <a:latin typeface="阿里巴巴普惠体 R" panose="00020600040101010101" charset="-122"/>
                <a:ea typeface="阿里巴巴普惠体 R" panose="00020600040101010101" charset="-122"/>
                <a:sym typeface="+mn-ea"/>
              </a:rPr>
              <a:t>TB</a:t>
            </a:r>
            <a:r>
              <a:rPr lang="zh-CN" altLang="en-US" sz="3200" b="0">
                <a:solidFill>
                  <a:srgbClr val="144D8F"/>
                </a:solidFill>
                <a:latin typeface="阿里巴巴普惠体 R" panose="00020600040101010101" charset="-122"/>
                <a:ea typeface="阿里巴巴普惠体 R" panose="00020600040101010101" charset="-122"/>
                <a:sym typeface="+mn-ea"/>
              </a:rPr>
              <a:t>搭建及仿真结果</a:t>
            </a:r>
            <a:endParaRPr lang="zh-CN" altLang="en-US" sz="3200" b="0">
              <a:solidFill>
                <a:srgbClr val="144D8F"/>
              </a:solidFill>
              <a:latin typeface="阿里巴巴普惠体 R" panose="00020600040101010101" charset="-122"/>
              <a:ea typeface="阿里巴巴普惠体 R" panose="00020600040101010101" charset="-122"/>
              <a:sym typeface="+mn-ea"/>
            </a:endParaRPr>
          </a:p>
        </p:txBody>
      </p:sp>
      <p:sp>
        <p:nvSpPr>
          <p:cNvPr id="22" name="文本占位符 34"/>
          <p:cNvSpPr>
            <a:spLocks noGrp="1"/>
          </p:cNvSpPr>
          <p:nvPr/>
        </p:nvSpPr>
        <p:spPr>
          <a:xfrm>
            <a:off x="972820" y="4906010"/>
            <a:ext cx="819150" cy="44005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70000"/>
              </a:lnSpc>
              <a:spcAft>
                <a:spcPts val="0"/>
              </a:spcAft>
              <a:buNone/>
              <a:defRPr sz="2800" b="0" u="none" strike="noStrike" kern="1200" cap="none" spc="200" normalizeH="0" baseline="0">
                <a:solidFill>
                  <a:srgbClr val="A01D24"/>
                </a:solidFill>
                <a:uFillTx/>
                <a:latin typeface="Impact" panose="020B0806030902050204" charset="0"/>
                <a:ea typeface="阿里巴巴普惠体 B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z="3600" strike="noStrike" noProof="1">
                <a:solidFill>
                  <a:srgbClr val="144D8F"/>
                </a:solidFill>
              </a:rPr>
              <a:t>0</a:t>
            </a:r>
            <a:r>
              <a:rPr lang="en-US" altLang="zh-CN" sz="3600" strike="noStrike" noProof="1">
                <a:solidFill>
                  <a:srgbClr val="144D8F"/>
                </a:solidFill>
              </a:rPr>
              <a:t>3</a:t>
            </a:r>
            <a:endParaRPr lang="en-US" altLang="zh-CN" sz="3600" strike="noStrike" noProof="1">
              <a:solidFill>
                <a:srgbClr val="144D8F"/>
              </a:solidFill>
            </a:endParaRPr>
          </a:p>
        </p:txBody>
      </p:sp>
      <p:sp>
        <p:nvSpPr>
          <p:cNvPr id="27" name="文本占位符 34"/>
          <p:cNvSpPr>
            <a:spLocks noGrp="1"/>
          </p:cNvSpPr>
          <p:nvPr/>
        </p:nvSpPr>
        <p:spPr>
          <a:xfrm>
            <a:off x="10411460" y="4906010"/>
            <a:ext cx="819150" cy="44005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70000"/>
              </a:lnSpc>
              <a:spcAft>
                <a:spcPts val="0"/>
              </a:spcAft>
              <a:buNone/>
              <a:defRPr sz="2800" b="0" u="none" strike="noStrike" kern="1200" cap="none" spc="200" normalizeH="0" baseline="0">
                <a:solidFill>
                  <a:srgbClr val="A01D24"/>
                </a:solidFill>
                <a:uFillTx/>
                <a:latin typeface="Impact" panose="020B0806030902050204" charset="0"/>
                <a:ea typeface="阿里巴巴普惠体 B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z="3600" strike="noStrike" noProof="1">
                <a:solidFill>
                  <a:srgbClr val="144D8F"/>
                </a:solidFill>
              </a:rPr>
              <a:t>0</a:t>
            </a:r>
            <a:r>
              <a:rPr lang="en-US" altLang="zh-CN" sz="3600" strike="noStrike" noProof="1">
                <a:solidFill>
                  <a:srgbClr val="144D8F"/>
                </a:solidFill>
              </a:rPr>
              <a:t>4</a:t>
            </a:r>
            <a:endParaRPr lang="en-US" altLang="zh-CN" sz="3600" strike="noStrike" noProof="1">
              <a:solidFill>
                <a:srgbClr val="144D8F"/>
              </a:solidFill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 flipH="1">
            <a:off x="10355323" y="4762020"/>
            <a:ext cx="2638" cy="64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占位符 119"/>
          <p:cNvSpPr>
            <a:spLocks noGrp="1"/>
          </p:cNvSpPr>
          <p:nvPr/>
        </p:nvSpPr>
        <p:spPr>
          <a:xfrm>
            <a:off x="7326630" y="4761865"/>
            <a:ext cx="2946400" cy="414020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400" b="1" u="none" strike="noStrike" kern="1200" cap="none" spc="200" normalizeH="0" baseline="0">
                <a:solidFill>
                  <a:srgbClr val="A01D24"/>
                </a:solidFill>
                <a:uFillTx/>
                <a:latin typeface="+mj-ea"/>
                <a:ea typeface="+mj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r" fontAlgn="auto"/>
            <a:r>
              <a:rPr lang="zh-CN" altLang="en-US" sz="3200" b="0">
                <a:solidFill>
                  <a:srgbClr val="144D8F"/>
                </a:solidFill>
                <a:latin typeface="阿里巴巴普惠体 R" panose="00020600040101010101" charset="-122"/>
                <a:ea typeface="阿里巴巴普惠体 R" panose="00020600040101010101" charset="-122"/>
                <a:sym typeface="+mn-ea"/>
              </a:rPr>
              <a:t>性能总结</a:t>
            </a:r>
            <a:endParaRPr lang="zh-CN" altLang="en-US" sz="3200" b="0">
              <a:solidFill>
                <a:srgbClr val="144D8F"/>
              </a:solidFill>
              <a:latin typeface="阿里巴巴普惠体 R" panose="00020600040101010101" charset="-122"/>
              <a:ea typeface="阿里巴巴普惠体 R" panose="00020600040101010101" charset="-122"/>
              <a:sym typeface="+mn-ea"/>
            </a:endParaRPr>
          </a:p>
        </p:txBody>
      </p:sp>
      <p:grpSp>
        <p:nvGrpSpPr>
          <p:cNvPr id="31" name="组合 30"/>
          <p:cNvGrpSpPr>
            <a:grpSpLocks noChangeAspect="1"/>
          </p:cNvGrpSpPr>
          <p:nvPr/>
        </p:nvGrpSpPr>
        <p:grpSpPr>
          <a:xfrm rot="14431547" flipH="1">
            <a:off x="-3618230" y="4192270"/>
            <a:ext cx="8076565" cy="2194560"/>
            <a:chOff x="1037771" y="1124388"/>
            <a:chExt cx="11503479" cy="3392277"/>
          </a:xfrm>
        </p:grpSpPr>
        <p:sp>
          <p:nvSpPr>
            <p:cNvPr id="32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3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4" name="矩形: 圆角 61"/>
          <p:cNvSpPr/>
          <p:nvPr/>
        </p:nvSpPr>
        <p:spPr>
          <a:xfrm flipH="1">
            <a:off x="6559550" y="2339975"/>
            <a:ext cx="5848985" cy="1503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3" name="文本占位符 34"/>
          <p:cNvSpPr>
            <a:spLocks noGrp="1"/>
          </p:cNvSpPr>
          <p:nvPr/>
        </p:nvSpPr>
        <p:spPr>
          <a:xfrm>
            <a:off x="10479405" y="2925445"/>
            <a:ext cx="819150" cy="44005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70000"/>
              </a:lnSpc>
              <a:spcAft>
                <a:spcPts val="0"/>
              </a:spcAft>
              <a:buNone/>
              <a:defRPr sz="2800" b="0" u="none" strike="noStrike" kern="1200" cap="none" spc="200" normalizeH="0" baseline="0">
                <a:solidFill>
                  <a:srgbClr val="A01D24"/>
                </a:solidFill>
                <a:uFillTx/>
                <a:latin typeface="Impact" panose="020B0806030902050204" charset="0"/>
                <a:ea typeface="阿里巴巴普惠体 B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z="3600" strike="noStrike" noProof="1">
                <a:solidFill>
                  <a:srgbClr val="144D8F"/>
                </a:solidFill>
              </a:rPr>
              <a:t>0</a:t>
            </a:r>
            <a:r>
              <a:rPr lang="en-US" altLang="zh-CN" sz="3600" strike="noStrike" noProof="1">
                <a:solidFill>
                  <a:srgbClr val="144D8F"/>
                </a:solidFill>
              </a:rPr>
              <a:t>2</a:t>
            </a:r>
            <a:endParaRPr lang="en-US" altLang="zh-CN" sz="3600" strike="noStrike" noProof="1">
              <a:solidFill>
                <a:srgbClr val="144D8F"/>
              </a:solidFill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 flipH="1">
            <a:off x="10423268" y="2781455"/>
            <a:ext cx="2638" cy="64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占位符 119"/>
          <p:cNvSpPr>
            <a:spLocks noGrp="1"/>
          </p:cNvSpPr>
          <p:nvPr/>
        </p:nvSpPr>
        <p:spPr>
          <a:xfrm>
            <a:off x="7380605" y="2781300"/>
            <a:ext cx="2946400" cy="414020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l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400" b="1" u="none" strike="noStrike" kern="1200" cap="none" spc="200" normalizeH="0" baseline="0">
                <a:solidFill>
                  <a:srgbClr val="A01D24"/>
                </a:solidFill>
                <a:uFillTx/>
                <a:latin typeface="+mj-ea"/>
                <a:ea typeface="+mj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r" fontAlgn="auto"/>
            <a:r>
              <a:rPr lang="zh-CN" altLang="en-US" sz="3200" b="0">
                <a:solidFill>
                  <a:srgbClr val="144D8F"/>
                </a:solidFill>
                <a:latin typeface="阿里巴巴普惠体 R" panose="00020600040101010101" charset="-122"/>
                <a:ea typeface="阿里巴巴普惠体 R" panose="00020600040101010101" charset="-122"/>
                <a:sym typeface="+mn-ea"/>
              </a:rPr>
              <a:t>电路实现</a:t>
            </a:r>
            <a:endParaRPr lang="zh-CN" altLang="en-US" sz="3200" b="0">
              <a:solidFill>
                <a:srgbClr val="144D8F"/>
              </a:solidFill>
              <a:latin typeface="阿里巴巴普惠体 R" panose="00020600040101010101" charset="-122"/>
              <a:ea typeface="阿里巴巴普惠体 R" panose="00020600040101010101" charset="-122"/>
              <a:sym typeface="+mn-ea"/>
            </a:endParaRPr>
          </a:p>
        </p:txBody>
      </p:sp>
      <p:sp>
        <p:nvSpPr>
          <p:cNvPr id="6" name="任意多边形: 形状 57"/>
          <p:cNvSpPr>
            <a:spLocks noChangeAspect="1"/>
          </p:cNvSpPr>
          <p:nvPr/>
        </p:nvSpPr>
        <p:spPr>
          <a:xfrm flipH="1" flipV="1">
            <a:off x="10781665" y="0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 rot="14431548" flipV="1">
            <a:off x="7750810" y="458470"/>
            <a:ext cx="8076565" cy="2194560"/>
            <a:chOff x="1037771" y="1124388"/>
            <a:chExt cx="11503479" cy="3392277"/>
          </a:xfrm>
        </p:grpSpPr>
        <p:sp>
          <p:nvSpPr>
            <p:cNvPr id="3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0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1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2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任意多边形: 形状 57"/>
          <p:cNvSpPr>
            <a:spLocks noChangeAspect="1"/>
          </p:cNvSpPr>
          <p:nvPr/>
        </p:nvSpPr>
        <p:spPr>
          <a:xfrm flipH="1" flipV="1">
            <a:off x="984186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: 形状 57"/>
          <p:cNvSpPr>
            <a:spLocks noChangeAspect="1"/>
          </p:cNvSpPr>
          <p:nvPr/>
        </p:nvSpPr>
        <p:spPr>
          <a:xfrm>
            <a:off x="-46291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: 圆角 61"/>
          <p:cNvSpPr>
            <a:spLocks noChangeAspect="1"/>
          </p:cNvSpPr>
          <p:nvPr/>
        </p:nvSpPr>
        <p:spPr>
          <a:xfrm>
            <a:off x="-464820" y="2360930"/>
            <a:ext cx="13120370" cy="21329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100000">
                  <a:srgbClr val="166C9F">
                    <a:alpha val="0"/>
                  </a:srgbClr>
                </a:gs>
                <a:gs pos="0">
                  <a:srgbClr val="2B85B7">
                    <a:alpha val="0"/>
                  </a:srgbClr>
                </a:gs>
                <a:gs pos="50000">
                  <a:srgbClr val="005287">
                    <a:alpha val="100000"/>
                  </a:srgbClr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148715" y="3175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>
            <a:grpSpLocks noChangeAspect="1"/>
          </p:cNvGrpSpPr>
          <p:nvPr/>
        </p:nvGrpSpPr>
        <p:grpSpPr>
          <a:xfrm rot="14431547" flipH="1">
            <a:off x="-3618230" y="4192270"/>
            <a:ext cx="8076565" cy="2194560"/>
            <a:chOff x="1037771" y="1124388"/>
            <a:chExt cx="11503479" cy="3392277"/>
          </a:xfrm>
        </p:grpSpPr>
        <p:sp>
          <p:nvSpPr>
            <p:cNvPr id="32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3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6" name="矩形: 圆角 61"/>
          <p:cNvSpPr>
            <a:spLocks noChangeAspect="1"/>
          </p:cNvSpPr>
          <p:nvPr/>
        </p:nvSpPr>
        <p:spPr>
          <a:xfrm flipH="1">
            <a:off x="8230870" y="4716780"/>
            <a:ext cx="4241165" cy="8255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57"/>
          <p:cNvSpPr>
            <a:spLocks noChangeAspect="1"/>
          </p:cNvSpPr>
          <p:nvPr/>
        </p:nvSpPr>
        <p:spPr>
          <a:xfrm flipH="1" flipV="1">
            <a:off x="10781665" y="0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 rot="14431548" flipV="1">
            <a:off x="7750810" y="458470"/>
            <a:ext cx="8076565" cy="2194560"/>
            <a:chOff x="1037771" y="1124388"/>
            <a:chExt cx="11503479" cy="3392277"/>
          </a:xfrm>
        </p:grpSpPr>
        <p:sp>
          <p:nvSpPr>
            <p:cNvPr id="3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0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1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2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3837305" y="2667635"/>
            <a:ext cx="451548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指标分析</a:t>
            </a:r>
            <a:endParaRPr lang="zh-CN" altLang="en-US" sz="5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52" name="文本占位符 50"/>
          <p:cNvSpPr>
            <a:spLocks noGrp="1"/>
          </p:cNvSpPr>
          <p:nvPr/>
        </p:nvSpPr>
        <p:spPr>
          <a:xfrm>
            <a:off x="9049385" y="4897755"/>
            <a:ext cx="1577340" cy="46418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80000"/>
              </a:lnSpc>
              <a:spcAft>
                <a:spcPts val="0"/>
              </a:spcAft>
              <a:buNone/>
              <a:defRPr sz="6000" b="0" u="none" strike="noStrike" kern="1200" cap="none" spc="200" normalizeH="0" baseline="0">
                <a:solidFill>
                  <a:srgbClr val="0070C0"/>
                </a:solidFill>
                <a:effectLst/>
                <a:uFillTx/>
                <a:latin typeface="Impact" panose="020B0806030902050204" charset="0"/>
                <a:ea typeface="阿里巴巴普惠体 R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dist" fontAlgn="auto">
              <a:lnSpc>
                <a:spcPct val="100000"/>
              </a:lnSpc>
            </a:pPr>
            <a:r>
              <a:rPr lang="en-US" sz="2400" b="1" strike="noStrike" noProof="1">
                <a:solidFill>
                  <a:srgbClr val="144D8F"/>
                </a:solidFill>
                <a:latin typeface="阿里巴巴普惠体 R" panose="00020600040101010101" charset="-122"/>
                <a:cs typeface="D-DIN Condensed" panose="020B0506030202030204" charset="0"/>
              </a:rPr>
              <a:t>PART 01</a:t>
            </a:r>
            <a:endParaRPr lang="en-US" sz="2400" b="1" strike="noStrike" noProof="1">
              <a:solidFill>
                <a:srgbClr val="144D8F"/>
              </a:solidFill>
              <a:latin typeface="阿里巴巴普惠体 R" panose="00020600040101010101" charset="-122"/>
              <a:cs typeface="D-DIN Condensed" panose="020B0506030202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246634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指标分析</a:t>
            </a:r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2930" y="1242060"/>
            <a:ext cx="11253470" cy="5320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〇确定整体结构：</a:t>
            </a:r>
            <a:r>
              <a:rPr lang="zh-CN"/>
              <a:t>本设计目标通过</a:t>
            </a:r>
            <a:r>
              <a:rPr lang="en-US" altLang="zh-CN"/>
              <a:t>TI</a:t>
            </a:r>
            <a:r>
              <a:rPr lang="zh-CN" altLang="en-US"/>
              <a:t>的经典结构，实现</a:t>
            </a:r>
            <a:r>
              <a:rPr lang="en-US" altLang="zh-CN"/>
              <a:t>AD8628</a:t>
            </a:r>
            <a:r>
              <a:rPr lang="zh-CN" altLang="en-US"/>
              <a:t>的性能。</a:t>
            </a:r>
            <a:r>
              <a:rPr lang="en-US" altLang="zh-CN"/>
              <a:t>AD8628</a:t>
            </a:r>
            <a:r>
              <a:rPr lang="zh-CN" altLang="en-US"/>
              <a:t>是目前</a:t>
            </a:r>
            <a:r>
              <a:rPr lang="en-US" altLang="zh-CN"/>
              <a:t>ADI</a:t>
            </a:r>
            <a:r>
              <a:rPr lang="zh-CN" altLang="en-US"/>
              <a:t>在车规级</a:t>
            </a:r>
            <a:r>
              <a:rPr lang="en-US" altLang="zh-CN"/>
              <a:t>OP</a:t>
            </a:r>
            <a:r>
              <a:rPr lang="zh-CN" altLang="en-US"/>
              <a:t>领域销量很好的一款芯片，指标比较具有代表性</a:t>
            </a:r>
            <a:endParaRPr lang="zh-CN"/>
          </a:p>
          <a:p>
            <a:r>
              <a:rPr lang="zh-CN" altLang="en-US"/>
              <a:t>①确定输入对</a:t>
            </a:r>
            <a:r>
              <a:rPr lang="en-US" altLang="zh-CN"/>
              <a:t>gm</a:t>
            </a:r>
            <a:r>
              <a:rPr lang="zh-CN" altLang="en-US"/>
              <a:t>：无论多级运放还是单级运放，通常都希望能让输入对作为噪声的主要来源，比如一般占</a:t>
            </a:r>
            <a:r>
              <a:rPr lang="en-US" altLang="zh-CN"/>
              <a:t>40%~50%</a:t>
            </a:r>
            <a:r>
              <a:rPr lang="zh-CN" altLang="en-US"/>
              <a:t>。</a:t>
            </a:r>
            <a:r>
              <a:rPr lang="en-US" altLang="zh-CN"/>
              <a:t>AD8628 noise@1kHz</a:t>
            </a:r>
            <a:r>
              <a:rPr lang="zh-CN" altLang="en-US"/>
              <a:t>为</a:t>
            </a:r>
            <a:r>
              <a:rPr lang="en-US" altLang="zh-CN"/>
              <a:t>22nV/rtHz</a:t>
            </a:r>
            <a:r>
              <a:rPr lang="zh-CN" altLang="en-US"/>
              <a:t>，通过</a:t>
            </a:r>
            <a:r>
              <a:rPr lang="en-US" altLang="zh-CN"/>
              <a:t>4kTr/gm</a:t>
            </a:r>
            <a:r>
              <a:rPr lang="zh-CN" altLang="en-US"/>
              <a:t>可以得到</a:t>
            </a:r>
            <a:r>
              <a:rPr lang="en-US" altLang="zh-CN"/>
              <a:t>gm≈36uS</a:t>
            </a:r>
            <a:r>
              <a:rPr lang="zh-CN" altLang="en-US"/>
              <a:t>。为了获得更低的噪声，本设计在功耗基本一致的情况下，增大</a:t>
            </a:r>
            <a:r>
              <a:rPr lang="en-US" altLang="zh-CN"/>
              <a:t>gm</a:t>
            </a:r>
            <a:r>
              <a:rPr lang="zh-CN" altLang="en-US"/>
              <a:t>至</a:t>
            </a:r>
            <a:r>
              <a:rPr lang="en-US" altLang="zh-CN"/>
              <a:t>2mS</a:t>
            </a:r>
            <a:r>
              <a:rPr lang="zh-CN" altLang="en-US"/>
              <a:t>，降低噪声。</a:t>
            </a:r>
            <a:r>
              <a:rPr lang="en-US" altLang="zh-CN"/>
              <a:t> </a:t>
            </a:r>
            <a:endParaRPr lang="en-US" altLang="zh-CN"/>
          </a:p>
          <a:p>
            <a:r>
              <a:rPr lang="zh-CN" altLang="en-US"/>
              <a:t>②通过</a:t>
            </a:r>
            <a:r>
              <a:rPr lang="en-US" altLang="zh-CN"/>
              <a:t>GBW</a:t>
            </a:r>
            <a:r>
              <a:rPr lang="zh-CN" altLang="en-US"/>
              <a:t>确定</a:t>
            </a:r>
            <a:r>
              <a:rPr lang="en-US" altLang="zh-CN"/>
              <a:t>Cc</a:t>
            </a:r>
            <a:r>
              <a:rPr lang="zh-CN" altLang="en-US"/>
              <a:t>：出于稳定性要求，运放的主极点一般放在电路内部，这样即使负载电容发生变化，</a:t>
            </a:r>
            <a:r>
              <a:rPr lang="en-US" altLang="zh-CN"/>
              <a:t>OP</a:t>
            </a:r>
            <a:r>
              <a:rPr lang="zh-CN" altLang="en-US"/>
              <a:t>也能保持稳定。</a:t>
            </a:r>
            <a:r>
              <a:rPr lang="en-US" altLang="zh-CN"/>
              <a:t>AD8628 GBP=2MHz</a:t>
            </a:r>
            <a:r>
              <a:rPr lang="zh-CN" altLang="en-US"/>
              <a:t>，通过</a:t>
            </a:r>
            <a:r>
              <a:rPr lang="en-US" altLang="zh-CN"/>
              <a:t>gm/Cc=2π*2M</a:t>
            </a:r>
            <a:r>
              <a:rPr lang="zh-CN" altLang="en-US"/>
              <a:t>得到补偿电容</a:t>
            </a:r>
            <a:r>
              <a:rPr lang="en-US" altLang="zh-CN"/>
              <a:t>Cc≈160pF</a:t>
            </a:r>
            <a:endParaRPr lang="en-US" altLang="zh-CN"/>
          </a:p>
          <a:p>
            <a:r>
              <a:rPr lang="zh-CN" altLang="en-US"/>
              <a:t>③确定输入对电流</a:t>
            </a:r>
            <a:r>
              <a:rPr lang="en-US" altLang="zh-CN"/>
              <a:t>Id</a:t>
            </a:r>
            <a:r>
              <a:rPr lang="zh-CN" altLang="en-US"/>
              <a:t>：设计</a:t>
            </a:r>
            <a:r>
              <a:rPr lang="en-US" altLang="zh-CN"/>
              <a:t>OP</a:t>
            </a:r>
            <a:r>
              <a:rPr lang="zh-CN" altLang="en-US"/>
              <a:t>时为了获得较高的能效</a:t>
            </a:r>
            <a:r>
              <a:rPr lang="en-US" altLang="zh-CN"/>
              <a:t>(gm/Id)</a:t>
            </a:r>
            <a:r>
              <a:rPr lang="zh-CN" altLang="en-US"/>
              <a:t>，通常把输入和输出级都偏置在亚阈值区，</a:t>
            </a:r>
            <a:r>
              <a:rPr lang="en-US" altLang="zh-CN"/>
              <a:t>gm/Id</a:t>
            </a:r>
            <a:r>
              <a:rPr lang="zh-CN" altLang="en-US"/>
              <a:t>通常在</a:t>
            </a:r>
            <a:r>
              <a:rPr lang="en-US" altLang="zh-CN"/>
              <a:t>18</a:t>
            </a:r>
            <a:r>
              <a:rPr lang="zh-CN" altLang="en-US"/>
              <a:t>以上。本设计按</a:t>
            </a:r>
            <a:r>
              <a:rPr lang="en-US" altLang="zh-CN"/>
              <a:t>gm/Id=20</a:t>
            </a:r>
            <a:r>
              <a:rPr lang="zh-CN" altLang="en-US"/>
              <a:t>计算，得到输入对尾电流</a:t>
            </a:r>
            <a:r>
              <a:rPr lang="en-US" altLang="zh-CN"/>
              <a:t>Ict=2Id=200uA</a:t>
            </a:r>
            <a:endParaRPr lang="en-US" altLang="zh-CN"/>
          </a:p>
          <a:p>
            <a:r>
              <a:rPr lang="zh-CN" altLang="en-US"/>
              <a:t>④输出级电流</a:t>
            </a:r>
            <a:r>
              <a:rPr lang="en-US" altLang="zh-CN"/>
              <a:t>Io</a:t>
            </a:r>
            <a:r>
              <a:rPr lang="zh-CN" altLang="en-US"/>
              <a:t>：由于输出级贡献次级点，因此需要将输出级</a:t>
            </a:r>
            <a:r>
              <a:rPr lang="en-US" altLang="zh-CN"/>
              <a:t>gm</a:t>
            </a:r>
            <a:r>
              <a:rPr lang="zh-CN" altLang="en-US"/>
              <a:t>设计的大一些，保证次级点在带外。本设计外挂</a:t>
            </a:r>
            <a:r>
              <a:rPr lang="en-US" altLang="zh-CN"/>
              <a:t>50</a:t>
            </a:r>
            <a:r>
              <a:rPr lang="en-US" altLang="zh-CN"/>
              <a:t>pF</a:t>
            </a:r>
            <a:r>
              <a:rPr lang="zh-CN" altLang="en-US"/>
              <a:t>负载，因此通过</a:t>
            </a:r>
            <a:r>
              <a:rPr lang="en-US" altLang="zh-CN"/>
              <a:t>gm/Cload=GBW</a:t>
            </a:r>
            <a:r>
              <a:rPr lang="zh-CN" altLang="en-US"/>
              <a:t>，得到</a:t>
            </a:r>
            <a:r>
              <a:rPr lang="en-US" altLang="zh-CN"/>
              <a:t>gm</a:t>
            </a:r>
            <a:r>
              <a:rPr lang="zh-CN" altLang="en-US"/>
              <a:t>最小值为</a:t>
            </a:r>
            <a:r>
              <a:rPr lang="en-US" altLang="zh-CN"/>
              <a:t>630</a:t>
            </a:r>
            <a:r>
              <a:rPr lang="en-US" altLang="zh-CN"/>
              <a:t>uS</a:t>
            </a:r>
            <a:r>
              <a:rPr lang="zh-CN" altLang="en-US"/>
              <a:t>，同时为了降低功耗，也需要保证输出级高能效，即</a:t>
            </a:r>
            <a:r>
              <a:rPr lang="en-US" altLang="zh-CN"/>
              <a:t>gm/Io</a:t>
            </a:r>
            <a:r>
              <a:rPr lang="zh-CN" altLang="en-US"/>
              <a:t>较高。本设计将</a:t>
            </a:r>
            <a:r>
              <a:rPr lang="en-US" altLang="zh-CN"/>
              <a:t>gm/id</a:t>
            </a:r>
            <a:r>
              <a:rPr lang="zh-CN" altLang="en-US"/>
              <a:t>设定在</a:t>
            </a:r>
            <a:r>
              <a:rPr lang="en-US" altLang="zh-CN"/>
              <a:t>20</a:t>
            </a:r>
            <a:r>
              <a:rPr lang="zh-CN" altLang="en-US"/>
              <a:t>，得到输出静态电流</a:t>
            </a:r>
            <a:r>
              <a:rPr lang="en-US" altLang="zh-CN"/>
              <a:t>Io=30uA(</a:t>
            </a:r>
            <a:r>
              <a:rPr lang="zh-CN" altLang="en-US"/>
              <a:t>以上为最保底要求，实际上为了稳定性会适当调整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⑤至于其他指标，</a:t>
            </a:r>
            <a:r>
              <a:rPr lang="en-US" altLang="zh-CN"/>
              <a:t>Vos</a:t>
            </a:r>
            <a:r>
              <a:rPr lang="zh-CN" altLang="en-US"/>
              <a:t>按需增加尺寸即可；低频积分噪声主要贡献来自</a:t>
            </a:r>
            <a:r>
              <a:rPr lang="en-US" altLang="zh-CN"/>
              <a:t>1/f</a:t>
            </a:r>
            <a:r>
              <a:rPr lang="zh-CN" altLang="en-US"/>
              <a:t>噪声，同样按需增加尺寸；</a:t>
            </a:r>
            <a:endParaRPr lang="zh-CN" altLang="en-US"/>
          </a:p>
          <a:p>
            <a:r>
              <a:rPr lang="zh-CN" altLang="en-US">
                <a:sym typeface="+mn-ea"/>
              </a:rPr>
              <a:t>⑥</a:t>
            </a:r>
            <a:r>
              <a:rPr lang="zh-CN" altLang="en-US"/>
              <a:t>本设计不足之处：</a:t>
            </a:r>
            <a:r>
              <a:rPr lang="en-US" altLang="zh-CN"/>
              <a:t>AD8628</a:t>
            </a:r>
            <a:r>
              <a:rPr lang="zh-CN" altLang="en-US"/>
              <a:t>是</a:t>
            </a:r>
            <a:r>
              <a:rPr lang="en-US" altLang="zh-CN"/>
              <a:t>R2R</a:t>
            </a:r>
            <a:r>
              <a:rPr lang="zh-CN" altLang="en-US"/>
              <a:t>输入，但本设计仅支持</a:t>
            </a:r>
            <a:r>
              <a:rPr lang="en-US" altLang="zh-CN"/>
              <a:t>0~VDD-0.6V</a:t>
            </a:r>
            <a:r>
              <a:rPr lang="zh-CN" altLang="en-US"/>
              <a:t>输入</a:t>
            </a:r>
            <a:endParaRPr lang="zh-CN" altLang="en-US"/>
          </a:p>
        </p:txBody>
      </p: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9151620" y="29210"/>
          <a:ext cx="1767205" cy="121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2" imgW="971550" imgH="666750" progId="Package">
                  <p:embed/>
                </p:oleObj>
              </mc:Choice>
              <mc:Fallback>
                <p:oleObj name="" showAsIcon="1" r:id="rId2" imgW="971550" imgH="66675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51620" y="29210"/>
                        <a:ext cx="1767205" cy="1212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228840" y="35560"/>
          <a:ext cx="1752600" cy="1203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4" imgW="971550" imgH="666750" progId="Package">
                  <p:embed/>
                </p:oleObj>
              </mc:Choice>
              <mc:Fallback>
                <p:oleObj name="" showAsIcon="1" r:id="rId4" imgW="971550" imgH="66675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228840" y="35560"/>
                        <a:ext cx="1752600" cy="1203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任意多边形: 形状 57"/>
          <p:cNvSpPr>
            <a:spLocks noChangeAspect="1"/>
          </p:cNvSpPr>
          <p:nvPr/>
        </p:nvSpPr>
        <p:spPr>
          <a:xfrm flipH="1" flipV="1">
            <a:off x="984186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: 形状 57"/>
          <p:cNvSpPr>
            <a:spLocks noChangeAspect="1"/>
          </p:cNvSpPr>
          <p:nvPr/>
        </p:nvSpPr>
        <p:spPr>
          <a:xfrm>
            <a:off x="-46291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: 圆角 61"/>
          <p:cNvSpPr>
            <a:spLocks noChangeAspect="1"/>
          </p:cNvSpPr>
          <p:nvPr/>
        </p:nvSpPr>
        <p:spPr>
          <a:xfrm>
            <a:off x="-464820" y="2360930"/>
            <a:ext cx="13120370" cy="21329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100000">
                  <a:srgbClr val="166C9F">
                    <a:alpha val="0"/>
                  </a:srgbClr>
                </a:gs>
                <a:gs pos="0">
                  <a:srgbClr val="2B85B7">
                    <a:alpha val="0"/>
                  </a:srgbClr>
                </a:gs>
                <a:gs pos="50000">
                  <a:srgbClr val="005287">
                    <a:alpha val="100000"/>
                  </a:srgbClr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148715" y="3175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>
            <a:grpSpLocks noChangeAspect="1"/>
          </p:cNvGrpSpPr>
          <p:nvPr/>
        </p:nvGrpSpPr>
        <p:grpSpPr>
          <a:xfrm rot="14431547" flipH="1">
            <a:off x="-3618230" y="4192270"/>
            <a:ext cx="8076565" cy="2194560"/>
            <a:chOff x="1037771" y="1124388"/>
            <a:chExt cx="11503479" cy="3392277"/>
          </a:xfrm>
        </p:grpSpPr>
        <p:sp>
          <p:nvSpPr>
            <p:cNvPr id="32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3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6" name="矩形: 圆角 61"/>
          <p:cNvSpPr>
            <a:spLocks noChangeAspect="1"/>
          </p:cNvSpPr>
          <p:nvPr/>
        </p:nvSpPr>
        <p:spPr>
          <a:xfrm flipH="1">
            <a:off x="8230870" y="4716780"/>
            <a:ext cx="4241165" cy="8255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57"/>
          <p:cNvSpPr>
            <a:spLocks noChangeAspect="1"/>
          </p:cNvSpPr>
          <p:nvPr/>
        </p:nvSpPr>
        <p:spPr>
          <a:xfrm flipH="1" flipV="1">
            <a:off x="10781665" y="0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 rot="14431548" flipV="1">
            <a:off x="7750810" y="458470"/>
            <a:ext cx="8076565" cy="2194560"/>
            <a:chOff x="1037771" y="1124388"/>
            <a:chExt cx="11503479" cy="3392277"/>
          </a:xfrm>
        </p:grpSpPr>
        <p:sp>
          <p:nvSpPr>
            <p:cNvPr id="3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0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1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2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3837305" y="2667635"/>
            <a:ext cx="451548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电路实现</a:t>
            </a:r>
            <a:endParaRPr lang="zh-CN" altLang="en-US" sz="5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52" name="文本占位符 50"/>
          <p:cNvSpPr>
            <a:spLocks noGrp="1"/>
          </p:cNvSpPr>
          <p:nvPr/>
        </p:nvSpPr>
        <p:spPr>
          <a:xfrm>
            <a:off x="9049385" y="4897120"/>
            <a:ext cx="1577340" cy="46418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80000"/>
              </a:lnSpc>
              <a:spcAft>
                <a:spcPts val="0"/>
              </a:spcAft>
              <a:buNone/>
              <a:defRPr sz="6000" b="0" u="none" strike="noStrike" kern="1200" cap="none" spc="200" normalizeH="0" baseline="0">
                <a:solidFill>
                  <a:srgbClr val="0070C0"/>
                </a:solidFill>
                <a:effectLst/>
                <a:uFillTx/>
                <a:latin typeface="Impact" panose="020B0806030902050204" charset="0"/>
                <a:ea typeface="阿里巴巴普惠体 R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dist" fontAlgn="auto">
              <a:lnSpc>
                <a:spcPct val="100000"/>
              </a:lnSpc>
            </a:pPr>
            <a:r>
              <a:rPr lang="en-US" sz="2400" b="1" strike="noStrike" noProof="1">
                <a:solidFill>
                  <a:srgbClr val="144D8F"/>
                </a:solidFill>
                <a:latin typeface="阿里巴巴普惠体 R" panose="00020600040101010101" charset="-122"/>
                <a:cs typeface="D-DIN Condensed" panose="020B0506030202030204" charset="0"/>
              </a:rPr>
              <a:t>PART 02</a:t>
            </a:r>
            <a:endParaRPr lang="en-US" sz="2400" b="1" strike="noStrike" noProof="1">
              <a:solidFill>
                <a:srgbClr val="144D8F"/>
              </a:solidFill>
              <a:latin typeface="阿里巴巴普惠体 R" panose="00020600040101010101" charset="-122"/>
              <a:cs typeface="D-DIN Condensed" panose="020B0506030202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331343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电路实现</a:t>
            </a:r>
            <a:r>
              <a:rPr lang="en-US" altLang="zh-CN" b="1" strike="noStrike" noProof="1">
                <a:solidFill>
                  <a:srgbClr val="144D8F"/>
                </a:solidFill>
              </a:rPr>
              <a:t>_OP</a:t>
            </a:r>
            <a:r>
              <a:rPr lang="zh-CN" altLang="en-US" b="1" strike="noStrike" noProof="1">
                <a:solidFill>
                  <a:srgbClr val="144D8F"/>
                </a:solidFill>
              </a:rPr>
              <a:t>架构</a:t>
            </a:r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395" y="1242060"/>
            <a:ext cx="11771630" cy="4476750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2597150" y="2705735"/>
            <a:ext cx="1083945" cy="107886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710180" y="378460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CHOP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8" name="圆角矩形 17"/>
          <p:cNvSpPr/>
          <p:nvPr>
            <p:custDataLst>
              <p:tags r:id="rId4"/>
            </p:custDataLst>
          </p:nvPr>
        </p:nvSpPr>
        <p:spPr>
          <a:xfrm>
            <a:off x="5213350" y="2705735"/>
            <a:ext cx="1083945" cy="107886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5"/>
            </p:custDataLst>
          </p:nvPr>
        </p:nvSpPr>
        <p:spPr>
          <a:xfrm>
            <a:off x="5326380" y="378460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CHOP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>
            <p:custDataLst>
              <p:tags r:id="rId6"/>
            </p:custDataLst>
          </p:nvPr>
        </p:nvSpPr>
        <p:spPr>
          <a:xfrm>
            <a:off x="6915150" y="2705735"/>
            <a:ext cx="1083945" cy="107886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7071995" y="3784600"/>
            <a:ext cx="85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Notch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</a:rPr>
              <a:t>Filter</a:t>
            </a:r>
            <a:endParaRPr lang="en-US" altLang="zh-CN">
              <a:solidFill>
                <a:srgbClr val="FF0000"/>
              </a:solidFill>
            </a:endParaRPr>
          </a:p>
        </p:txBody>
      </p:sp>
      <p:cxnSp>
        <p:nvCxnSpPr>
          <p:cNvPr id="22" name="直接连接符 21"/>
          <p:cNvCxnSpPr/>
          <p:nvPr>
            <p:custDataLst>
              <p:tags r:id="rId8"/>
            </p:custDataLst>
          </p:nvPr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446913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电路实现</a:t>
            </a:r>
            <a:r>
              <a:rPr lang="en-US" altLang="zh-CN" b="1" strike="noStrike" noProof="1">
                <a:solidFill>
                  <a:srgbClr val="144D8F"/>
                </a:solidFill>
              </a:rPr>
              <a:t>_OP_Gm1&amp;Gm2</a:t>
            </a:r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44955" y="1242060"/>
            <a:ext cx="9102090" cy="537273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3"/>
            </p:custDataLst>
          </p:nvPr>
        </p:nvSpPr>
        <p:spPr>
          <a:xfrm>
            <a:off x="1809750" y="4702175"/>
            <a:ext cx="3686810" cy="167576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0" y="39497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区别于传统的折叠共源共栅，增加的几个</a:t>
            </a:r>
            <a:r>
              <a:rPr lang="en-US" altLang="zh-CN">
                <a:solidFill>
                  <a:srgbClr val="FF0000"/>
                </a:solidFill>
              </a:rPr>
              <a:t>mos</a:t>
            </a:r>
            <a:r>
              <a:rPr lang="zh-CN" altLang="en-US">
                <a:solidFill>
                  <a:srgbClr val="FF0000"/>
                </a:solidFill>
              </a:rPr>
              <a:t>是为了减小负载端静态电流</a:t>
            </a:r>
            <a:endParaRPr lang="zh-CN" altLang="en-US">
              <a:solidFill>
                <a:srgbClr val="FF0000"/>
              </a:solidFill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>
            <a:off x="4735195" y="4305300"/>
            <a:ext cx="12700" cy="635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>
            <p:custDataLst>
              <p:tags r:id="rId4"/>
            </p:custDataLst>
          </p:nvPr>
        </p:nvCxnSpPr>
        <p:spPr>
          <a:xfrm flipH="1">
            <a:off x="4747895" y="5410200"/>
            <a:ext cx="12700" cy="63500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5"/>
            </p:custDataLst>
          </p:nvPr>
        </p:nvCxnSpPr>
        <p:spPr>
          <a:xfrm>
            <a:off x="5141595" y="5067300"/>
            <a:ext cx="977900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264025" y="3937000"/>
            <a:ext cx="1232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I1=100uA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4264025" y="6009640"/>
            <a:ext cx="1232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I2=100uA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25" name="文本框 24"/>
          <p:cNvSpPr txBox="1"/>
          <p:nvPr>
            <p:custDataLst>
              <p:tags r:id="rId7"/>
            </p:custDataLst>
          </p:nvPr>
        </p:nvSpPr>
        <p:spPr>
          <a:xfrm>
            <a:off x="4961890" y="4597400"/>
            <a:ext cx="12325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I3=0uA</a:t>
            </a:r>
            <a:endParaRPr lang="en-US" altLang="zh-CN">
              <a:solidFill>
                <a:srgbClr val="FF0000"/>
              </a:solidFill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190" y="1795780"/>
            <a:ext cx="11692255" cy="3647440"/>
          </a:xfrm>
          <a:prstGeom prst="rect">
            <a:avLst/>
          </a:prstGeom>
        </p:spPr>
      </p:pic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4246245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电路实现</a:t>
            </a:r>
            <a:r>
              <a:rPr lang="en-US" altLang="zh-CN" b="1" strike="noStrike" noProof="1">
                <a:solidFill>
                  <a:srgbClr val="144D8F"/>
                </a:solidFill>
              </a:rPr>
              <a:t>_Constant gm</a:t>
            </a:r>
            <a:endParaRPr lang="en-US" altLang="zh-CN" b="1" strike="noStrike" noProof="1">
              <a:solidFill>
                <a:srgbClr val="144D8F"/>
              </a:solidFill>
            </a:endParaRPr>
          </a:p>
        </p:txBody>
      </p:sp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521335" y="1795780"/>
            <a:ext cx="2896235" cy="3569335"/>
          </a:xfrm>
          <a:prstGeom prst="round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527810" y="1979930"/>
            <a:ext cx="11093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start up</a:t>
            </a:r>
            <a:endParaRPr lang="en-US" altLang="zh-CN" sz="20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任意多边形: 形状 57"/>
          <p:cNvSpPr>
            <a:spLocks noChangeAspect="1"/>
          </p:cNvSpPr>
          <p:nvPr/>
        </p:nvSpPr>
        <p:spPr>
          <a:xfrm flipH="1" flipV="1">
            <a:off x="984186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: 形状 57"/>
          <p:cNvSpPr>
            <a:spLocks noChangeAspect="1"/>
          </p:cNvSpPr>
          <p:nvPr/>
        </p:nvSpPr>
        <p:spPr>
          <a:xfrm>
            <a:off x="-46291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: 圆角 61"/>
          <p:cNvSpPr>
            <a:spLocks noChangeAspect="1"/>
          </p:cNvSpPr>
          <p:nvPr/>
        </p:nvSpPr>
        <p:spPr>
          <a:xfrm>
            <a:off x="-464820" y="2360930"/>
            <a:ext cx="13120370" cy="21329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100000">
                  <a:srgbClr val="166C9F">
                    <a:alpha val="0"/>
                  </a:srgbClr>
                </a:gs>
                <a:gs pos="0">
                  <a:srgbClr val="2B85B7">
                    <a:alpha val="0"/>
                  </a:srgbClr>
                </a:gs>
                <a:gs pos="50000">
                  <a:srgbClr val="005287">
                    <a:alpha val="100000"/>
                  </a:srgbClr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148715" y="3175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>
            <a:grpSpLocks noChangeAspect="1"/>
          </p:cNvGrpSpPr>
          <p:nvPr/>
        </p:nvGrpSpPr>
        <p:grpSpPr>
          <a:xfrm rot="14431547" flipH="1">
            <a:off x="-3618230" y="4192270"/>
            <a:ext cx="8076565" cy="2194560"/>
            <a:chOff x="1037771" y="1124388"/>
            <a:chExt cx="11503479" cy="3392277"/>
          </a:xfrm>
        </p:grpSpPr>
        <p:sp>
          <p:nvSpPr>
            <p:cNvPr id="32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3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6" name="矩形: 圆角 61"/>
          <p:cNvSpPr>
            <a:spLocks noChangeAspect="1"/>
          </p:cNvSpPr>
          <p:nvPr/>
        </p:nvSpPr>
        <p:spPr>
          <a:xfrm flipH="1">
            <a:off x="8230870" y="4716780"/>
            <a:ext cx="4241165" cy="8255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57"/>
          <p:cNvSpPr>
            <a:spLocks noChangeAspect="1"/>
          </p:cNvSpPr>
          <p:nvPr/>
        </p:nvSpPr>
        <p:spPr>
          <a:xfrm flipH="1" flipV="1">
            <a:off x="10781665" y="0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 rot="14431548" flipV="1">
            <a:off x="7750810" y="458470"/>
            <a:ext cx="8076565" cy="2194560"/>
            <a:chOff x="1037771" y="1124388"/>
            <a:chExt cx="11503479" cy="3392277"/>
          </a:xfrm>
        </p:grpSpPr>
        <p:sp>
          <p:nvSpPr>
            <p:cNvPr id="3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0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1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2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3010535" y="2667635"/>
            <a:ext cx="584263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TB搭建及仿真结果</a:t>
            </a:r>
            <a:endParaRPr lang="zh-CN" altLang="en-US" sz="5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52" name="文本占位符 50"/>
          <p:cNvSpPr>
            <a:spLocks noGrp="1"/>
          </p:cNvSpPr>
          <p:nvPr/>
        </p:nvSpPr>
        <p:spPr>
          <a:xfrm>
            <a:off x="9049385" y="4884420"/>
            <a:ext cx="1577340" cy="46418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80000"/>
              </a:lnSpc>
              <a:spcAft>
                <a:spcPts val="0"/>
              </a:spcAft>
              <a:buNone/>
              <a:defRPr sz="6000" b="0" u="none" strike="noStrike" kern="1200" cap="none" spc="200" normalizeH="0" baseline="0">
                <a:solidFill>
                  <a:srgbClr val="0070C0"/>
                </a:solidFill>
                <a:effectLst/>
                <a:uFillTx/>
                <a:latin typeface="Impact" panose="020B0806030902050204" charset="0"/>
                <a:ea typeface="阿里巴巴普惠体 R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dist" fontAlgn="auto">
              <a:lnSpc>
                <a:spcPct val="100000"/>
              </a:lnSpc>
            </a:pPr>
            <a:r>
              <a:rPr lang="en-US" sz="2400" b="1" strike="noStrike" noProof="1">
                <a:solidFill>
                  <a:srgbClr val="144D8F"/>
                </a:solidFill>
                <a:latin typeface="阿里巴巴普惠体 R" panose="00020600040101010101" charset="-122"/>
                <a:cs typeface="D-DIN Condensed" panose="020B0506030202030204" charset="0"/>
              </a:rPr>
              <a:t>PART 03</a:t>
            </a:r>
            <a:endParaRPr lang="en-US" sz="2400" b="1" strike="noStrike" noProof="1">
              <a:solidFill>
                <a:srgbClr val="144D8F"/>
              </a:solidFill>
              <a:latin typeface="阿里巴巴普惠体 R" panose="00020600040101010101" charset="-122"/>
              <a:cs typeface="D-DIN Condensed" panose="020B0506030202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3161665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59555" y="3055620"/>
            <a:ext cx="40728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Testbench</a:t>
            </a:r>
            <a:r>
              <a:rPr lang="zh-CN" altLang="en-US"/>
              <a:t>主要包括五个</a:t>
            </a:r>
            <a:endParaRPr lang="zh-CN" altLang="en-US"/>
          </a:p>
          <a:p>
            <a:r>
              <a:rPr lang="zh-CN" altLang="en-US"/>
              <a:t>①</a:t>
            </a:r>
            <a:r>
              <a:rPr lang="en-US"/>
              <a:t>Tran Power</a:t>
            </a:r>
            <a:r>
              <a:rPr lang="zh-CN" altLang="en-US"/>
              <a:t>共用一个</a:t>
            </a:r>
            <a:r>
              <a:rPr lang="en-US" altLang="zh-CN"/>
              <a:t>TB</a:t>
            </a:r>
            <a:endParaRPr lang="en-US" altLang="zh-CN"/>
          </a:p>
          <a:p>
            <a:r>
              <a:rPr lang="zh-CN" altLang="en-US"/>
              <a:t>②</a:t>
            </a:r>
            <a:r>
              <a:rPr lang="en-US"/>
              <a:t>PSTB Pnoise</a:t>
            </a:r>
            <a:r>
              <a:rPr lang="zh-CN" altLang="en-US"/>
              <a:t>共用一个</a:t>
            </a:r>
            <a:r>
              <a:rPr lang="en-US" altLang="zh-CN"/>
              <a:t>TB</a:t>
            </a:r>
            <a:endParaRPr lang="en-US" altLang="zh-CN"/>
          </a:p>
          <a:p>
            <a:r>
              <a:rPr lang="zh-CN" altLang="en-US"/>
              <a:t>③</a:t>
            </a:r>
            <a:r>
              <a:rPr lang="en-US" altLang="zh-CN"/>
              <a:t>PSRR</a:t>
            </a:r>
            <a:endParaRPr lang="en-US" altLang="zh-CN"/>
          </a:p>
          <a:p>
            <a:r>
              <a:rPr lang="zh-CN" altLang="en-US"/>
              <a:t>④</a:t>
            </a:r>
            <a:r>
              <a:rPr lang="en-US" altLang="zh-CN"/>
              <a:t>CMRR</a:t>
            </a:r>
            <a:endParaRPr lang="en-US" altLang="zh-CN"/>
          </a:p>
          <a:p>
            <a:r>
              <a:rPr lang="zh-CN" altLang="en-US"/>
              <a:t>⑤</a:t>
            </a:r>
            <a:r>
              <a:rPr lang="en-US" altLang="zh-CN"/>
              <a:t>Avo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1094105" y="4941570"/>
            <a:ext cx="102406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其中需要注意的是，由于本设计的输出为</a:t>
            </a:r>
            <a:r>
              <a:rPr lang="en-US" altLang="zh-CN"/>
              <a:t>R2R</a:t>
            </a:r>
            <a:r>
              <a:rPr lang="zh-CN" altLang="en-US"/>
              <a:t>结构，如果直接用单位增益负反馈的接法进行测试</a:t>
            </a:r>
            <a:r>
              <a:rPr lang="zh-CN"/>
              <a:t>，很可能会在输入电压为</a:t>
            </a:r>
            <a:r>
              <a:rPr lang="en-US" altLang="zh-CN"/>
              <a:t>0/2V</a:t>
            </a:r>
            <a:r>
              <a:rPr lang="zh-CN" altLang="en-US"/>
              <a:t>时出现没有增益的情况，这是因为当输出电压偏到电源地上，输出级某一个</a:t>
            </a:r>
            <a:r>
              <a:rPr lang="en-US" altLang="zh-CN"/>
              <a:t>mos</a:t>
            </a:r>
            <a:r>
              <a:rPr lang="zh-CN" altLang="en-US"/>
              <a:t>的</a:t>
            </a:r>
            <a:r>
              <a:rPr lang="en-US" altLang="zh-CN"/>
              <a:t>vds</a:t>
            </a:r>
            <a:r>
              <a:rPr lang="zh-CN" altLang="en-US"/>
              <a:t>几乎为零，即该</a:t>
            </a:r>
            <a:r>
              <a:rPr lang="en-US" altLang="zh-CN"/>
              <a:t>mos</a:t>
            </a:r>
            <a:r>
              <a:rPr lang="zh-CN" altLang="en-US"/>
              <a:t>不处于饱和区，也就没有增益，所以为了保证输出电压不会偏到电源地，测试极端输入时需要加一个辅助运放</a:t>
            </a:r>
            <a:r>
              <a:rPr lang="en-US" altLang="zh-CN"/>
              <a:t>(vcvs)</a:t>
            </a:r>
            <a:r>
              <a:rPr lang="zh-CN" altLang="en-US"/>
              <a:t>，保证</a:t>
            </a:r>
            <a:r>
              <a:rPr lang="en-US" altLang="zh-CN"/>
              <a:t>OP</a:t>
            </a:r>
            <a:r>
              <a:rPr lang="zh-CN" altLang="en-US"/>
              <a:t>输出接近给定的一个电压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12395" y="1351280"/>
            <a:ext cx="11980545" cy="15716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9448165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Tran+Power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algn="l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7555" y="4623435"/>
            <a:ext cx="1343025" cy="16668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209415" y="1242060"/>
            <a:ext cx="7118985" cy="41249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856740" y="170561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Vos</a:t>
            </a:r>
            <a:r>
              <a:rPr lang="zh-CN" altLang="en-US"/>
              <a:t>在</a:t>
            </a:r>
            <a:r>
              <a:rPr lang="en-US" altLang="zh-CN"/>
              <a:t>1uV</a:t>
            </a:r>
            <a:r>
              <a:rPr lang="zh-CN" altLang="en-US"/>
              <a:t>左右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346325" y="5288915"/>
            <a:ext cx="1752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功耗接近</a:t>
            </a:r>
            <a:r>
              <a:rPr lang="en-US" altLang="zh-CN"/>
              <a:t>1mA</a:t>
            </a:r>
            <a:endParaRPr lang="en-US" altLang="zh-CN"/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9448165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GBP+Noise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algn="l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386965" y="4373880"/>
            <a:ext cx="17678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Gain=156dB</a:t>
            </a:r>
            <a:endParaRPr lang="en-US" altLang="zh-CN"/>
          </a:p>
          <a:p>
            <a:r>
              <a:rPr lang="en-US" altLang="zh-CN"/>
              <a:t>PM=60deg</a:t>
            </a:r>
            <a:endParaRPr lang="en-US" altLang="zh-CN"/>
          </a:p>
          <a:p>
            <a:r>
              <a:rPr lang="en-US" altLang="zh-CN"/>
              <a:t>GBP=1.9MHz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7456805" y="4457065"/>
            <a:ext cx="2897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Noise@1khz=7.6nV/rtHz</a:t>
            </a:r>
            <a:endParaRPr lang="en-US" altLang="zh-CN"/>
          </a:p>
          <a:p>
            <a:r>
              <a:rPr lang="en-US" altLang="zh-CN"/>
              <a:t>1/f Corner≈1Hz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9100" y="1242060"/>
            <a:ext cx="5703570" cy="3049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42685" y="1242060"/>
            <a:ext cx="5325110" cy="30511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490601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PSRR 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algn="l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63645" y="2547620"/>
            <a:ext cx="4667250" cy="2673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2039"/>
          <a:stretch>
            <a:fillRect/>
          </a:stretch>
        </p:blipFill>
        <p:spPr>
          <a:xfrm>
            <a:off x="3763645" y="1623695"/>
            <a:ext cx="4664710" cy="7981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490601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CMRR 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algn="l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00170" y="2767330"/>
            <a:ext cx="4794885" cy="2476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00170" y="1604645"/>
            <a:ext cx="4740910" cy="85344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490601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SR </a:t>
            </a:r>
            <a:endParaRPr lang="zh-CN" altLang="en-US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  <a:p>
            <a:pPr lvl="0" algn="l" fontAlgn="auto"/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56125" y="1242060"/>
            <a:ext cx="7112000" cy="4018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03225" y="1242060"/>
            <a:ext cx="4029710" cy="40144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842895" y="5638800"/>
            <a:ext cx="6400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本设计</a:t>
            </a:r>
            <a:r>
              <a:rPr lang="en-US" altLang="zh-CN"/>
              <a:t>SR</a:t>
            </a:r>
            <a:r>
              <a:rPr lang="zh-CN" altLang="en-US"/>
              <a:t>较低，没有去满足</a:t>
            </a:r>
            <a:r>
              <a:rPr lang="en-US" altLang="zh-CN"/>
              <a:t>spec</a:t>
            </a:r>
            <a:r>
              <a:rPr lang="zh-CN" altLang="en-US"/>
              <a:t>的主要想法是</a:t>
            </a:r>
            <a:r>
              <a:rPr lang="en-US" altLang="zh-CN"/>
              <a:t>chop op</a:t>
            </a:r>
            <a:r>
              <a:rPr lang="zh-CN" altLang="en-US"/>
              <a:t>应用场景频率都在</a:t>
            </a:r>
            <a:r>
              <a:rPr lang="en-US" altLang="zh-CN"/>
              <a:t>1Hz</a:t>
            </a:r>
            <a:r>
              <a:rPr lang="zh-CN" altLang="en-US"/>
              <a:t>以下，对</a:t>
            </a:r>
            <a:r>
              <a:rPr lang="en-US" altLang="zh-CN"/>
              <a:t>SR</a:t>
            </a:r>
            <a:r>
              <a:rPr lang="zh-CN" altLang="en-US"/>
              <a:t>等动态性能需求并不大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28968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646811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l" fontAlgn="auto"/>
            <a:r>
              <a:rPr lang="zh-CN" altLang="en-US" b="1">
                <a:solidFill>
                  <a:srgbClr val="144D8F"/>
                </a:solidFill>
                <a:sym typeface="+mn-ea"/>
              </a:rPr>
              <a:t>TB搭建及仿真结果</a:t>
            </a:r>
            <a:r>
              <a:rPr lang="en-US" altLang="zh-CN" b="1">
                <a:solidFill>
                  <a:srgbClr val="144D8F"/>
                </a:solidFill>
                <a:sym typeface="+mn-ea"/>
              </a:rPr>
              <a:t>  Vos_MC</a:t>
            </a:r>
            <a:endParaRPr lang="en-US" altLang="zh-CN" b="1" strike="noStrike" noProof="1">
              <a:solidFill>
                <a:srgbClr val="144D8F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103495" y="6210300"/>
            <a:ext cx="233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-6.6uV&lt;Vos&lt;9.9uV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70405" y="1386840"/>
            <a:ext cx="8251190" cy="47269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" name="矩形 213"/>
          <p:cNvSpPr/>
          <p:nvPr/>
        </p:nvSpPr>
        <p:spPr>
          <a:xfrm>
            <a:off x="-634" y="0"/>
            <a:ext cx="12191999" cy="6858000"/>
          </a:xfrm>
          <a:prstGeom prst="rect">
            <a:avLst/>
          </a:prstGeom>
          <a:blipFill dpi="0" rotWithShape="1">
            <a:blip r:embed="rId1">
              <a:alphaModFix amt="25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任意多边形: 形状 57"/>
          <p:cNvSpPr>
            <a:spLocks noChangeAspect="1"/>
          </p:cNvSpPr>
          <p:nvPr/>
        </p:nvSpPr>
        <p:spPr>
          <a:xfrm flipH="1" flipV="1">
            <a:off x="984186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任意多边形: 形状 57"/>
          <p:cNvSpPr>
            <a:spLocks noChangeAspect="1"/>
          </p:cNvSpPr>
          <p:nvPr/>
        </p:nvSpPr>
        <p:spPr>
          <a:xfrm>
            <a:off x="-462915" y="0"/>
            <a:ext cx="2815590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: 圆角 61"/>
          <p:cNvSpPr>
            <a:spLocks noChangeAspect="1"/>
          </p:cNvSpPr>
          <p:nvPr/>
        </p:nvSpPr>
        <p:spPr>
          <a:xfrm>
            <a:off x="-464820" y="2360930"/>
            <a:ext cx="13120370" cy="2132965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100000">
                  <a:srgbClr val="166C9F">
                    <a:alpha val="0"/>
                  </a:srgbClr>
                </a:gs>
                <a:gs pos="0">
                  <a:srgbClr val="2B85B7">
                    <a:alpha val="0"/>
                  </a:srgbClr>
                </a:gs>
                <a:gs pos="50000">
                  <a:srgbClr val="005287">
                    <a:alpha val="100000"/>
                  </a:srgbClr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-1148715" y="3175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1" name="组合 30"/>
          <p:cNvGrpSpPr>
            <a:grpSpLocks noChangeAspect="1"/>
          </p:cNvGrpSpPr>
          <p:nvPr/>
        </p:nvGrpSpPr>
        <p:grpSpPr>
          <a:xfrm rot="14431547" flipH="1">
            <a:off x="-3618230" y="4192270"/>
            <a:ext cx="8076565" cy="2194560"/>
            <a:chOff x="1037771" y="1124388"/>
            <a:chExt cx="11503479" cy="3392277"/>
          </a:xfrm>
        </p:grpSpPr>
        <p:sp>
          <p:nvSpPr>
            <p:cNvPr id="32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3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29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0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131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6" name="矩形: 圆角 61"/>
          <p:cNvSpPr>
            <a:spLocks noChangeAspect="1"/>
          </p:cNvSpPr>
          <p:nvPr/>
        </p:nvSpPr>
        <p:spPr>
          <a:xfrm flipH="1">
            <a:off x="8230870" y="4716780"/>
            <a:ext cx="4241165" cy="8255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gradFill flip="none" rotWithShape="1">
              <a:gsLst>
                <a:gs pos="51000">
                  <a:srgbClr val="2B85B7">
                    <a:alpha val="0"/>
                  </a:srgbClr>
                </a:gs>
                <a:gs pos="90000">
                  <a:srgbClr val="005287"/>
                </a:gs>
              </a:gsLst>
              <a:lin ang="0" scaled="1"/>
              <a:tileRect/>
            </a:gradFill>
          </a:ln>
          <a:effectLst>
            <a:outerShdw blurRad="4064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" name="任意多边形: 形状 57"/>
          <p:cNvSpPr>
            <a:spLocks noChangeAspect="1"/>
          </p:cNvSpPr>
          <p:nvPr/>
        </p:nvSpPr>
        <p:spPr>
          <a:xfrm flipH="1" flipV="1">
            <a:off x="10781665" y="0"/>
            <a:ext cx="2571115" cy="6854825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503" h="10795">
                <a:moveTo>
                  <a:pt x="564" y="0"/>
                </a:moveTo>
                <a:lnTo>
                  <a:pt x="2499" y="0"/>
                </a:lnTo>
                <a:lnTo>
                  <a:pt x="2385" y="445"/>
                </a:lnTo>
                <a:cubicBezTo>
                  <a:pt x="2018" y="1987"/>
                  <a:pt x="1818" y="3653"/>
                  <a:pt x="1818" y="5390"/>
                </a:cubicBezTo>
                <a:cubicBezTo>
                  <a:pt x="1818" y="7128"/>
                  <a:pt x="2018" y="8794"/>
                  <a:pt x="2385" y="10336"/>
                </a:cubicBezTo>
                <a:lnTo>
                  <a:pt x="2503" y="10795"/>
                </a:lnTo>
                <a:lnTo>
                  <a:pt x="567" y="10795"/>
                </a:lnTo>
                <a:lnTo>
                  <a:pt x="502" y="10499"/>
                </a:lnTo>
                <a:cubicBezTo>
                  <a:pt x="176" y="8885"/>
                  <a:pt x="0" y="7169"/>
                  <a:pt x="0" y="5390"/>
                </a:cubicBezTo>
                <a:cubicBezTo>
                  <a:pt x="0" y="3611"/>
                  <a:pt x="176" y="1895"/>
                  <a:pt x="502" y="282"/>
                </a:cubicBezTo>
                <a:lnTo>
                  <a:pt x="564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6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34" name="组合 33"/>
          <p:cNvGrpSpPr>
            <a:grpSpLocks noChangeAspect="1"/>
          </p:cNvGrpSpPr>
          <p:nvPr/>
        </p:nvGrpSpPr>
        <p:grpSpPr>
          <a:xfrm rot="14431548" flipV="1">
            <a:off x="7750810" y="458470"/>
            <a:ext cx="8076565" cy="2194560"/>
            <a:chOff x="1037771" y="1124388"/>
            <a:chExt cx="11503479" cy="3392277"/>
          </a:xfrm>
        </p:grpSpPr>
        <p:sp>
          <p:nvSpPr>
            <p:cNvPr id="35" name="任意多边形: 形状 124"/>
            <p:cNvSpPr/>
            <p:nvPr/>
          </p:nvSpPr>
          <p:spPr>
            <a:xfrm>
              <a:off x="1051379" y="1347048"/>
              <a:ext cx="11487150" cy="2924688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6" name="任意多边形: 形状 125"/>
            <p:cNvSpPr/>
            <p:nvPr/>
          </p:nvSpPr>
          <p:spPr>
            <a:xfrm>
              <a:off x="1048657" y="1569708"/>
              <a:ext cx="11487150" cy="2751013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7" name="任意多边形: 形状 126"/>
            <p:cNvSpPr/>
            <p:nvPr/>
          </p:nvSpPr>
          <p:spPr>
            <a:xfrm>
              <a:off x="1045936" y="1792368"/>
              <a:ext cx="11487150" cy="2577339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38" name="任意多边形: 形状 127"/>
            <p:cNvSpPr/>
            <p:nvPr/>
          </p:nvSpPr>
          <p:spPr>
            <a:xfrm>
              <a:off x="1043214" y="2015029"/>
              <a:ext cx="11487150" cy="2403664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0" name="任意多边形: 形状 128"/>
            <p:cNvSpPr/>
            <p:nvPr/>
          </p:nvSpPr>
          <p:spPr>
            <a:xfrm>
              <a:off x="1040493" y="2237689"/>
              <a:ext cx="11487150" cy="2229990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1" name="任意多边形: 形状 129"/>
            <p:cNvSpPr/>
            <p:nvPr/>
          </p:nvSpPr>
          <p:spPr>
            <a:xfrm>
              <a:off x="1037771" y="2460349"/>
              <a:ext cx="11487150" cy="2056316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 cap="flat" cmpd="sng" algn="ctr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  <p:sp>
          <p:nvSpPr>
            <p:cNvPr id="42" name="任意多边形: 形状 130"/>
            <p:cNvSpPr/>
            <p:nvPr/>
          </p:nvSpPr>
          <p:spPr>
            <a:xfrm>
              <a:off x="1054100" y="1124388"/>
              <a:ext cx="11487150" cy="3098362"/>
            </a:xfrm>
            <a:custGeom>
              <a:avLst/>
              <a:gdLst>
                <a:gd name="connsiteX0" fmla="*/ 0 w 11487150"/>
                <a:gd name="connsiteY0" fmla="*/ 3098362 h 3098362"/>
                <a:gd name="connsiteX1" fmla="*/ 6254750 w 11487150"/>
                <a:gd name="connsiteY1" fmla="*/ 24962 h 3098362"/>
                <a:gd name="connsiteX2" fmla="*/ 11487150 w 11487150"/>
                <a:gd name="connsiteY2" fmla="*/ 1898212 h 3098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87150" h="3098362">
                  <a:moveTo>
                    <a:pt x="0" y="3098362"/>
                  </a:moveTo>
                  <a:cubicBezTo>
                    <a:pt x="2170112" y="1661674"/>
                    <a:pt x="4340225" y="224987"/>
                    <a:pt x="6254750" y="24962"/>
                  </a:cubicBezTo>
                  <a:cubicBezTo>
                    <a:pt x="8169275" y="-175063"/>
                    <a:pt x="9828212" y="861574"/>
                    <a:pt x="11487150" y="1898212"/>
                  </a:cubicBezTo>
                </a:path>
              </a:pathLst>
            </a:custGeom>
            <a:noFill/>
            <a:ln w="9525">
              <a:gradFill flip="none" rotWithShape="1">
                <a:gsLst>
                  <a:gs pos="100000">
                    <a:schemeClr val="bg1">
                      <a:alpha val="0"/>
                    </a:schemeClr>
                  </a:gs>
                  <a:gs pos="5000">
                    <a:schemeClr val="bg1">
                      <a:alpha val="65000"/>
                    </a:schemeClr>
                  </a:gs>
                </a:gsLst>
                <a:lin ang="1080000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+mn-cs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3837305" y="2667635"/>
            <a:ext cx="4515485" cy="92202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zh-CN" altLang="en-US" sz="5400" b="1" dirty="0">
                <a:solidFill>
                  <a:srgbClr val="144D8F"/>
                </a:solidFill>
                <a:latin typeface="思源黑体 Normal" panose="020B0400000000000000" charset="-122"/>
                <a:ea typeface="思源黑体 Normal" panose="020B0400000000000000" charset="-122"/>
                <a:sym typeface="+mn-ea"/>
              </a:rPr>
              <a:t>性能总结</a:t>
            </a:r>
            <a:endParaRPr lang="zh-CN" altLang="en-US" sz="5400" b="1" dirty="0">
              <a:solidFill>
                <a:srgbClr val="144D8F"/>
              </a:solidFill>
              <a:latin typeface="思源黑体 Normal" panose="020B0400000000000000" charset="-122"/>
              <a:ea typeface="思源黑体 Normal" panose="020B0400000000000000" charset="-122"/>
              <a:sym typeface="+mn-ea"/>
            </a:endParaRPr>
          </a:p>
        </p:txBody>
      </p:sp>
      <p:sp>
        <p:nvSpPr>
          <p:cNvPr id="52" name="文本占位符 50"/>
          <p:cNvSpPr>
            <a:spLocks noGrp="1"/>
          </p:cNvSpPr>
          <p:nvPr/>
        </p:nvSpPr>
        <p:spPr>
          <a:xfrm>
            <a:off x="9049385" y="4884420"/>
            <a:ext cx="1577340" cy="464185"/>
          </a:xfrm>
          <a:prstGeom prst="rect">
            <a:avLst/>
          </a:prstGeom>
          <a:effectLst/>
        </p:spPr>
        <p:txBody>
          <a:bodyPr vert="horz" lIns="101600" tIns="38100" rIns="76200" bIns="38100" rtlCol="0" anchor="t" anchorCtr="0">
            <a:noAutofit/>
          </a:bodyPr>
          <a:lstStyle>
            <a:lvl1pPr marL="0" indent="0" algn="ctr" eaLnBrk="1" fontAlgn="auto" latinLnBrk="0" hangingPunct="1">
              <a:lnSpc>
                <a:spcPct val="80000"/>
              </a:lnSpc>
              <a:spcAft>
                <a:spcPts val="0"/>
              </a:spcAft>
              <a:buNone/>
              <a:defRPr sz="6000" b="0" u="none" strike="noStrike" kern="1200" cap="none" spc="200" normalizeH="0" baseline="0">
                <a:solidFill>
                  <a:srgbClr val="0070C0"/>
                </a:solidFill>
                <a:effectLst/>
                <a:uFillTx/>
                <a:latin typeface="Impact" panose="020B0806030902050204" charset="0"/>
                <a:ea typeface="阿里巴巴普惠体 R" panose="00020600040101010101" charset="-122"/>
                <a:cs typeface="Impact" panose="020B080603090205020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algn="dist" fontAlgn="auto">
              <a:lnSpc>
                <a:spcPct val="100000"/>
              </a:lnSpc>
            </a:pPr>
            <a:r>
              <a:rPr lang="en-US" sz="2400" b="1" strike="noStrike" noProof="1">
                <a:solidFill>
                  <a:srgbClr val="144D8F"/>
                </a:solidFill>
                <a:latin typeface="阿里巴巴普惠体 R" panose="00020600040101010101" charset="-122"/>
                <a:cs typeface="D-DIN Condensed" panose="020B0506030202030204" charset="0"/>
              </a:rPr>
              <a:t>PART 04</a:t>
            </a:r>
            <a:endParaRPr lang="en-US" sz="2400" b="1" strike="noStrike" noProof="1">
              <a:solidFill>
                <a:srgbClr val="144D8F"/>
              </a:solidFill>
              <a:latin typeface="阿里巴巴普惠体 R" panose="00020600040101010101" charset="-122"/>
              <a:cs typeface="D-DIN Condensed" panose="020B0506030202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246634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性能总结</a:t>
            </a:r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905000" y="1666875"/>
          <a:ext cx="8532495" cy="455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165"/>
                <a:gridCol w="2844165"/>
                <a:gridCol w="28441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指标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This Work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AD8628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Vos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&lt;10uV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&lt;5uV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CMRR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129dB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&gt;115dB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PSRR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137dB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&gt;115dB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Avo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153dB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&gt;110dB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Power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973uA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750uA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rgbClr val="FF0000"/>
                          </a:solidFill>
                        </a:rPr>
                        <a:t>SR</a:t>
                      </a:r>
                      <a:endParaRPr lang="en-US" altLang="zh-CN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&gt;0.15V/s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1V/us@10k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GBP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1.9MHz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2MHz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>
                          <a:solidFill>
                            <a:schemeClr val="accent3"/>
                          </a:solidFill>
                        </a:rPr>
                        <a:t>Noise@1kHz</a:t>
                      </a:r>
                      <a:endParaRPr lang="en-US" altLang="zh-CN">
                        <a:solidFill>
                          <a:schemeClr val="accent3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7.6nV/rtHz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22nV/rtHz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solidFill>
                            <a:schemeClr val="accent3"/>
                          </a:solidFill>
                          <a:sym typeface="+mn-ea"/>
                        </a:rPr>
                        <a:t>Noise@0.1~10Hz</a:t>
                      </a:r>
                      <a:endParaRPr lang="en-US" altLang="zh-CN" sz="1800">
                        <a:solidFill>
                          <a:schemeClr val="accent3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142nVpp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0.5uVpp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" name="任意多边形: 形状 57"/>
          <p:cNvSpPr>
            <a:spLocks noChangeAspect="1"/>
          </p:cNvSpPr>
          <p:nvPr/>
        </p:nvSpPr>
        <p:spPr>
          <a:xfrm>
            <a:off x="0" y="3935126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57"/>
          <p:cNvSpPr>
            <a:spLocks noChangeAspect="1"/>
          </p:cNvSpPr>
          <p:nvPr/>
        </p:nvSpPr>
        <p:spPr>
          <a:xfrm flipH="1" flipV="1">
            <a:off x="11503025" y="31"/>
            <a:ext cx="688975" cy="2922874"/>
          </a:xfrm>
          <a:custGeom>
            <a:avLst/>
            <a:gdLst>
              <a:gd name="connsiteX0" fmla="*/ 13246862 w 14915548"/>
              <a:gd name="connsiteY0" fmla="*/ 0 h 4686116"/>
              <a:gd name="connsiteX1" fmla="*/ 14538893 w 14915548"/>
              <a:gd name="connsiteY1" fmla="*/ 0 h 4686116"/>
              <a:gd name="connsiteX2" fmla="*/ 14580261 w 14915548"/>
              <a:gd name="connsiteY2" fmla="*/ 122261 h 4686116"/>
              <a:gd name="connsiteX3" fmla="*/ 14915548 w 14915548"/>
              <a:gd name="connsiteY3" fmla="*/ 2339975 h 4686116"/>
              <a:gd name="connsiteX4" fmla="*/ 14580261 w 14915548"/>
              <a:gd name="connsiteY4" fmla="*/ 4557689 h 4686116"/>
              <a:gd name="connsiteX5" fmla="*/ 14536806 w 14915548"/>
              <a:gd name="connsiteY5" fmla="*/ 4686116 h 4686116"/>
              <a:gd name="connsiteX6" fmla="*/ 13244431 w 14915548"/>
              <a:gd name="connsiteY6" fmla="*/ 4686116 h 4686116"/>
              <a:gd name="connsiteX7" fmla="*/ 13322978 w 14915548"/>
              <a:gd name="connsiteY7" fmla="*/ 4486904 h 4686116"/>
              <a:gd name="connsiteX8" fmla="*/ 13701868 w 14915548"/>
              <a:gd name="connsiteY8" fmla="*/ 2339975 h 4686116"/>
              <a:gd name="connsiteX9" fmla="*/ 13322978 w 14915548"/>
              <a:gd name="connsiteY9" fmla="*/ 193046 h 4686116"/>
              <a:gd name="connsiteX10" fmla="*/ 376656 w 14915548"/>
              <a:gd name="connsiteY10" fmla="*/ 0 h 4686116"/>
              <a:gd name="connsiteX11" fmla="*/ 1668684 w 14915548"/>
              <a:gd name="connsiteY11" fmla="*/ 0 h 4686116"/>
              <a:gd name="connsiteX12" fmla="*/ 1592568 w 14915548"/>
              <a:gd name="connsiteY12" fmla="*/ 193046 h 4686116"/>
              <a:gd name="connsiteX13" fmla="*/ 1213678 w 14915548"/>
              <a:gd name="connsiteY13" fmla="*/ 2339975 h 4686116"/>
              <a:gd name="connsiteX14" fmla="*/ 1592568 w 14915548"/>
              <a:gd name="connsiteY14" fmla="*/ 4486904 h 4686116"/>
              <a:gd name="connsiteX15" fmla="*/ 1671116 w 14915548"/>
              <a:gd name="connsiteY15" fmla="*/ 4686116 h 4686116"/>
              <a:gd name="connsiteX16" fmla="*/ 378742 w 14915548"/>
              <a:gd name="connsiteY16" fmla="*/ 4686116 h 4686116"/>
              <a:gd name="connsiteX17" fmla="*/ 335287 w 14915548"/>
              <a:gd name="connsiteY17" fmla="*/ 4557689 h 4686116"/>
              <a:gd name="connsiteX18" fmla="*/ 0 w 14915548"/>
              <a:gd name="connsiteY18" fmla="*/ 2339975 h 4686116"/>
              <a:gd name="connsiteX19" fmla="*/ 335287 w 14915548"/>
              <a:gd name="connsiteY19" fmla="*/ 122261 h 4686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" h="4603">
                <a:moveTo>
                  <a:pt x="0" y="0"/>
                </a:moveTo>
                <a:lnTo>
                  <a:pt x="0" y="7"/>
                </a:lnTo>
                <a:cubicBezTo>
                  <a:pt x="85" y="1454"/>
                  <a:pt x="393" y="2843"/>
                  <a:pt x="894" y="4144"/>
                </a:cubicBezTo>
                <a:lnTo>
                  <a:pt x="1085" y="4603"/>
                </a:lnTo>
                <a:lnTo>
                  <a:pt x="0" y="460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B85B7"/>
              </a:gs>
              <a:gs pos="19000">
                <a:srgbClr val="144D8F"/>
              </a:gs>
            </a:gsLst>
            <a:lin ang="2700000"/>
          </a:gradFill>
          <a:ln>
            <a:noFill/>
          </a:ln>
          <a:effectLst>
            <a:outerShdw blurRad="381000" sx="98000" sy="98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660400" y="1160145"/>
            <a:ext cx="3240000" cy="0"/>
          </a:xfrm>
          <a:prstGeom prst="line">
            <a:avLst/>
          </a:prstGeom>
          <a:ln>
            <a:solidFill>
              <a:srgbClr val="144D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492760" y="601345"/>
            <a:ext cx="2466340" cy="476885"/>
          </a:xfrm>
          <a:effectLst/>
        </p:spPr>
        <p:txBody>
          <a:bodyPr lIns="101600" tIns="38100" rIns="76200" bIns="38100" anchor="t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600" b="0" u="none" strike="noStrike" kern="1200" cap="none" spc="200" normalizeH="0" baseline="0">
                <a:solidFill>
                  <a:srgbClr val="426126"/>
                </a:solidFill>
                <a:uFillTx/>
                <a:latin typeface="阿里巴巴普惠体 R" panose="00020600040101010101" charset="-122"/>
                <a:ea typeface="阿里巴巴普惠体 R" panose="00020600040101010101" charset="-122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b="1" strike="noStrike" noProof="1">
                <a:solidFill>
                  <a:srgbClr val="144D8F"/>
                </a:solidFill>
              </a:rPr>
              <a:t>仿真设置</a:t>
            </a:r>
            <a:endParaRPr lang="zh-CN" altLang="en-US" b="1" strike="noStrike" noProof="1">
              <a:solidFill>
                <a:srgbClr val="144D8F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2015" y="1416050"/>
            <a:ext cx="4966335" cy="421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31255" y="3406775"/>
            <a:ext cx="465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仿真已经在</a:t>
            </a:r>
            <a:r>
              <a:rPr lang="en-US" altLang="zh-CN"/>
              <a:t>ADE XL</a:t>
            </a:r>
            <a:r>
              <a:rPr lang="zh-CN" altLang="en-US"/>
              <a:t>设置好，可以直接调用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485255" y="1416050"/>
            <a:ext cx="3905250" cy="17335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TABLE_BEAUTIFY" val="smartTable{f83fedbf-6ecd-4f01-a5f5-1a492860f0ee}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PP_MARK_KEY" val="8f42026d-1f4d-4910-ada4-ba73a5013e67"/>
  <p:tag name="COMMONDATA" val="eyJjb3VudCI6NTgsImhkaWQiOiIyZmEwYTliY2IyN2ZjMDg1ZTI1ZDU2NmMyNTM1MTM5MiIsInVzZXJDb3VudCI6NDh9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1616</Words>
  <Application>WPS 演示</Application>
  <PresentationFormat>宽屏</PresentationFormat>
  <Paragraphs>181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宋体</vt:lpstr>
      <vt:lpstr>Wingdings</vt:lpstr>
      <vt:lpstr>微软雅黑</vt:lpstr>
      <vt:lpstr>Wingdings</vt:lpstr>
      <vt:lpstr>OPPOSans B</vt:lpstr>
      <vt:lpstr>思源黑体 Normal</vt:lpstr>
      <vt:lpstr>黑体</vt:lpstr>
      <vt:lpstr>阿里巴巴普惠体 R</vt:lpstr>
      <vt:lpstr>Impact</vt:lpstr>
      <vt:lpstr>阿里巴巴普惠体 B</vt:lpstr>
      <vt:lpstr>D-DIN Condensed</vt:lpstr>
      <vt:lpstr>Arial Unicode MS</vt:lpstr>
      <vt:lpstr>Calibri</vt:lpstr>
      <vt:lpstr>Yu Gothic UI</vt:lpstr>
      <vt:lpstr>Office 主题​​</vt:lpstr>
      <vt:lpstr>Package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Chuancey</cp:lastModifiedBy>
  <cp:revision>210</cp:revision>
  <dcterms:created xsi:type="dcterms:W3CDTF">2019-06-19T02:08:00Z</dcterms:created>
  <dcterms:modified xsi:type="dcterms:W3CDTF">2024-01-20T07:18:04Z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KSOTemplateUUID">
    <vt:lpwstr>v1.0_mb_XlKwfinFwL/sINuBFW3fjg==</vt:lpwstr>
  </property>
  <property fmtid="{D5CDD505-2E9C-101B-9397-08002B2CF9AE}" pid="4" name="ICV">
    <vt:lpwstr>50E7C2A6F560419B9875C70613DED10C</vt:lpwstr>
  </property>
</Properties>
</file>