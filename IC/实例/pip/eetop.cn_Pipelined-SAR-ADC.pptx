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26" r:id="rId3"/>
    <p:sldId id="332" r:id="rId4"/>
    <p:sldId id="319" r:id="rId5"/>
    <p:sldId id="333" r:id="rId6"/>
    <p:sldId id="312" r:id="rId7"/>
    <p:sldId id="313" r:id="rId8"/>
    <p:sldId id="293" r:id="rId9"/>
    <p:sldId id="298" r:id="rId10"/>
    <p:sldId id="322" r:id="rId11"/>
    <p:sldId id="317" r:id="rId12"/>
    <p:sldId id="323" r:id="rId13"/>
    <p:sldId id="294" r:id="rId14"/>
    <p:sldId id="316" r:id="rId15"/>
    <p:sldId id="301" r:id="rId16"/>
    <p:sldId id="308" r:id="rId17"/>
    <p:sldId id="310" r:id="rId18"/>
    <p:sldId id="302" r:id="rId19"/>
    <p:sldId id="311" r:id="rId20"/>
    <p:sldId id="314" r:id="rId21"/>
    <p:sldId id="328" r:id="rId22"/>
    <p:sldId id="330" r:id="rId23"/>
    <p:sldId id="331" r:id="rId24"/>
    <p:sldId id="324" r:id="rId25"/>
    <p:sldId id="33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  <a:srgbClr val="5500FF"/>
    <a:srgbClr val="ED7D31"/>
    <a:srgbClr val="CC04D1"/>
    <a:srgbClr val="34069C"/>
    <a:srgbClr val="5725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660"/>
  </p:normalViewPr>
  <p:slideViewPr>
    <p:cSldViewPr snapToGrid="0">
      <p:cViewPr varScale="1">
        <p:scale>
          <a:sx n="84" d="100"/>
          <a:sy n="84" d="100"/>
        </p:scale>
        <p:origin x="56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ink/ink1.xml><?xml version="1.0" encoding="utf-8"?>
<inkml:ink xmlns:inkml="http://www.w3.org/2003/InkML">
  <inkml:definitions/>
</inkml:ink>
</file>

<file path=ppt/ink/ink2.xml><?xml version="1.0" encoding="utf-8"?>
<inkml:ink xmlns:inkml="http://www.w3.org/2003/InkML">
  <inkml:definitions/>
</inkml:ink>
</file>

<file path=ppt/ink/ink3.xml><?xml version="1.0" encoding="utf-8"?>
<inkml:ink xmlns:inkml="http://www.w3.org/2003/InkML">
  <inkml:definitions/>
</inkml:ink>
</file>

<file path=ppt/ink/ink4.xml><?xml version="1.0" encoding="utf-8"?>
<inkml:ink xmlns:inkml="http://www.w3.org/2003/InkML">
  <inkml:definitions/>
</inkml:ink>
</file>

<file path=ppt/ink/ink5.xml><?xml version="1.0" encoding="utf-8"?>
<inkml:ink xmlns:inkml="http://www.w3.org/2003/InkML">
  <inkml:definitions/>
</inkml:ink>
</file>

<file path=ppt/ink/ink6.xml><?xml version="1.0" encoding="utf-8"?>
<inkml:ink xmlns:inkml="http://www.w3.org/2003/InkML">
  <inkml:definitions/>
</inkml:ink>
</file>

<file path=ppt/ink/ink7.xml><?xml version="1.0" encoding="utf-8"?>
<inkml:ink xmlns:inkml="http://www.w3.org/2003/InkML">
  <inkml:definitions/>
</inkml:ink>
</file>

<file path=ppt/ink/ink8.xml><?xml version="1.0" encoding="utf-8"?>
<inkml:ink xmlns:inkml="http://www.w3.org/2003/InkML">
  <inkml:definitions/>
</inkml:ink>
</file>

<file path=ppt/ink/ink9.xml><?xml version="1.0" encoding="utf-8"?>
<inkml:ink xmlns:inkml="http://www.w3.org/2003/InkML">
  <inkml:definitions/>
</inkml:ink>
</file>

<file path=ppt/ink/ink10.xml><?xml version="1.0" encoding="utf-8"?>
<inkml:ink xmlns:inkml="http://www.w3.org/2003/InkML">
  <inkml:definitions/>
</inkml:ink>
</file>

<file path=ppt/ink/ink11.xml><?xml version="1.0" encoding="utf-8"?>
<inkml:ink xmlns:inkml="http://www.w3.org/2003/InkML">
  <inkml:definitions/>
</inkml:ink>
</file>

<file path=ppt/ink/ink12.xml><?xml version="1.0" encoding="utf-8"?>
<inkml:ink xmlns:inkml="http://www.w3.org/2003/InkML">
  <inkml:definitions/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00BB89-04D9-DD1B-B941-5DDB619B4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5F6E413-6543-DE2E-3635-4C78D83AA8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CA7F2F-1475-824F-8D34-5F30CE5B4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D34A09-00DB-28E8-9CA8-DFD2AACD9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2C9370-9A68-D7FB-3286-11298839C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3915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A20B2-88B2-F8D6-763E-148C3BE5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E2A88D-A447-1F0A-1F98-EBF182ED7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EBBAE6-3CB7-64E2-2D99-2C64B074E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978C4-458C-D65A-DB10-1028D09DD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E9A52C-36D0-E84E-0A33-5A6674DE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30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F60249-7066-4482-F666-43EECE7A9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E1EE0F-0023-E422-CB1D-5662915E07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96AD2C-3BB5-96A6-F89D-D78538E4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937B57-AEBB-C7F1-5785-48E6D16B5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0C1B12-CB5D-0906-613A-293E758AF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576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229E29-BF77-C8BE-DFBF-D4FDB766B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B291AB-43CA-8639-CA4B-38565DC44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52D657B-24F1-C3E5-157E-9C667E74AD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896C05-FEE6-1A57-31F6-17C551177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608F65-5E79-B5B6-6DF8-F4F778AB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230506-32D5-50B3-4C02-EE411FFFC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363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CB169A-59C5-C3D2-D218-C6F1300CE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A334D1-0780-3993-97DF-6A21FE56C6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7D92E9-039B-EBF4-C1AD-F614795A6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745C05F-13C6-1543-F6E9-FC02B7A73C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F638B3-9BD5-6882-DA53-BBE6BE4ECB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72738F-A7BA-27F1-0E9A-A68FAA9D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13A7C6-AA20-E7C2-2657-970074CD3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38373EC-1FF8-6363-ECC7-1D9140238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8117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573654-C392-0B9F-B8C0-1F8BD866E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BCA0146-2312-ACD4-C149-8D8877CE8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9A7C0B2-1657-70DD-4D3D-F236419E8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A876409-1901-4E7A-DB3A-3D1302E95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6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F09C5D-E794-A955-7149-382F66FD4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C24A08-733F-1D25-70E2-2CF00A872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3D448F-C603-0B10-4052-596A1192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4527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572450-D5FA-46CB-5E89-E68C610CB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A5E306-61F2-CAC9-2A7D-066E40212A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4CFD0B-565A-170A-7F94-D26A67FD1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4F5E8E-E014-424B-1C65-E0FA73A05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AC9D07-69C9-C5B3-5BB8-EDB586C07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683874-F49C-68A1-1E5B-C4E4B14AB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61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742FFE-4ABC-EF26-EFE5-7C9F16C3C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8B320C8-2011-EB97-B8C3-A49BF4463E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1942792-7B65-4980-407B-A57224B5A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2603AD-C9B4-1F80-DC85-C8CBD56B1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7F4DFC-6772-DE37-9787-608468C1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3D32205-D383-E32F-D114-289EACD9B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948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171751-DB4E-2E64-4B6F-0AF0B917F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A1DBFE6-209A-3036-816D-08FA24E29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8AF8F1-9009-ACF5-5586-94B8C652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FDCDCC-1005-C351-0BF1-8AE683631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A04F4A-61DB-B8A1-6A9E-2224FA48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631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811FDF-0CC7-010E-A840-89EC588447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CA3A84-BCF4-F953-99FB-9C7B51F5C6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21DE60-525B-E180-5336-76C9C07D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77C7C3-EF40-0B04-0B26-DE992756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0DD73C-A1DC-5C09-E9CB-D56165A6B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223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0F3EF9-E9B7-7338-1FBE-9CC4EB4D9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3CC3D6-EF0E-E641-E393-EF119C410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454369-6177-69AE-3352-B51A573FC7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733F9-D91C-43FC-8A2E-8D491E957A6C}" type="datetimeFigureOut">
              <a:rPr lang="zh-CN" altLang="en-US" smtClean="0"/>
              <a:t>2023/9/20 Wednesday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C9BF0-9109-FD2F-A6F8-A19BE5D29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7C529-A6C2-3AF5-6008-84A4816E5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6D2DD-C69E-4AA1-94F1-8BF85EA8B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819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13.png"/><Relationship Id="rId17" Type="http://schemas.openxmlformats.org/officeDocument/2006/relationships/image" Target="../media/image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10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5" Type="http://schemas.openxmlformats.org/officeDocument/2006/relationships/image" Target="../media/image7.wmf"/><Relationship Id="rId10" Type="http://schemas.openxmlformats.org/officeDocument/2006/relationships/image" Target="../media/image12.png"/><Relationship Id="rId4" Type="http://schemas.microsoft.com/office/2007/relationships/hdphoto" Target="../media/hdphoto1.wdp"/><Relationship Id="rId9" Type="http://schemas.openxmlformats.org/officeDocument/2006/relationships/customXml" Target="../ink/ink3.xml"/><Relationship Id="rId1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emf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6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microsoft.com/office/2007/relationships/hdphoto" Target="../media/hdphoto5.wdp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emf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emf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8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microsoft.com/office/2007/relationships/hdphoto" Target="../media/hdphoto7.wdp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13" Type="http://schemas.openxmlformats.org/officeDocument/2006/relationships/image" Target="../media/image26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12" Type="http://schemas.openxmlformats.org/officeDocument/2006/relationships/image" Target="../media/image2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5" Type="http://schemas.openxmlformats.org/officeDocument/2006/relationships/image" Target="../media/image28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12.png"/><Relationship Id="rId1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3" Type="http://schemas.openxmlformats.org/officeDocument/2006/relationships/image" Target="../media/image30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12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2.png"/><Relationship Id="rId1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microsoft.com/office/2007/relationships/hdphoto" Target="../media/hdphoto1.wdp"/><Relationship Id="rId7" Type="http://schemas.microsoft.com/office/2007/relationships/hdphoto" Target="../media/hdphoto10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microsoft.com/office/2007/relationships/hdphoto" Target="../media/hdphoto12.wdp"/><Relationship Id="rId5" Type="http://schemas.microsoft.com/office/2007/relationships/hdphoto" Target="../media/hdphoto9.wdp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microsoft.com/office/2007/relationships/hdphoto" Target="../media/hdphoto11.wdp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3.wdp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3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microsoft.com/office/2007/relationships/hdphoto" Target="../media/hdphoto14.wdp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microsoft.com/office/2007/relationships/hdphoto" Target="../media/hdphoto15.wdp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17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microsoft.com/office/2007/relationships/hdphoto" Target="../media/hdphoto16.wdp"/><Relationship Id="rId4" Type="http://schemas.openxmlformats.org/officeDocument/2006/relationships/image" Target="../media/image43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19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microsoft.com/office/2007/relationships/hdphoto" Target="../media/hdphoto18.wdp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68A7413-18B2-4EE9-A1E2-956E1E2E6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01"/>
            <a:ext cx="12192000" cy="296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62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系统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EECCE8-14E1-497F-109D-559CD67E06EC}"/>
              </a:ext>
            </a:extLst>
          </p:cNvPr>
          <p:cNvSpPr txBox="1"/>
          <p:nvPr/>
        </p:nvSpPr>
        <p:spPr>
          <a:xfrm>
            <a:off x="379159" y="1494895"/>
            <a:ext cx="7709764" cy="414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第一级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SAR 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、余量放大器、第二级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位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SAR 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、数字校正电路</a:t>
            </a:r>
            <a:endParaRPr lang="en-US" altLang="zh-CN" sz="16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5D96B2-A5CA-CF23-AC73-7173F26E2172}"/>
              </a:ext>
            </a:extLst>
          </p:cNvPr>
          <p:cNvSpPr txBox="1"/>
          <p:nvPr/>
        </p:nvSpPr>
        <p:spPr>
          <a:xfrm>
            <a:off x="379159" y="2139419"/>
            <a:ext cx="113439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总分辨率为12bit，采用6+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的两级架构，级间冗余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位，第一级SAR ADC为6bit，要达到12bit的分辨率，则单位电容的失配率小于0.092%；第二级 SAR ADC 为 7bit，要达到 7bit 的分辨率，则单位电容的失配率小于 4.1%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余量放大器以闭环的形式实现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8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倍的放大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/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对于第一级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，采样时间为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0.95ns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，量化时间为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4ns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，余量放大器放大时间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4.6ns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1/10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采样，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4/10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第一级量化，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5/10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rPr>
              <a:t>余量放大</a:t>
            </a:r>
          </a:p>
        </p:txBody>
      </p:sp>
    </p:spTree>
    <p:extLst>
      <p:ext uri="{BB962C8B-B14F-4D97-AF65-F5344CB8AC3E}">
        <p14:creationId xmlns:p14="http://schemas.microsoft.com/office/powerpoint/2010/main" val="382344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系统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305D96B2-A5CA-CF23-AC73-7173F26E2172}"/>
              </a:ext>
            </a:extLst>
          </p:cNvPr>
          <p:cNvSpPr txBox="1"/>
          <p:nvPr/>
        </p:nvSpPr>
        <p:spPr>
          <a:xfrm>
            <a:off x="397604" y="1330263"/>
            <a:ext cx="11343918" cy="5545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TSMC65nm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工艺，电源电压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1.2V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，采样时钟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100MHz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，信号带宽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50MHz</a:t>
            </a:r>
          </a:p>
          <a:p>
            <a:pPr algn="just">
              <a:lnSpc>
                <a:spcPct val="150000"/>
              </a:lnSpc>
            </a:pP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系统总体指标：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fclk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=100MHz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fin=47×fclk/1024Hz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Vcm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=600mV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amp=400mV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，为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满摆幅输入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有效位数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ENOB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11.6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bit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信噪比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SNR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61.20dB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无杂散动态范围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SFDR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71.26dB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总谐波失真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THD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-70.97dB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第一位</a:t>
            </a:r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fin=47×fclk/1024Hz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Vcm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=600mV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amp=400mV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，为第一位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满摆幅输入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有效位数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ENOB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9.86bit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信噪比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SNR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61.20dB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无杂散动态范围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SFDR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71.26dB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总谐波失真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THD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-70.97dB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第二位</a:t>
            </a:r>
            <a:r>
              <a:rPr lang="en-US" altLang="zh-CN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en-US" sz="1400" b="1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输入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fin=47×fclk/1024Hz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Vcm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=600mV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amp=200mV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，为第二位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r>
              <a:rPr lang="zh-CN" altLang="en-US" sz="1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满摆幅输入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有效位数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ENOB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9.86bit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信噪比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SNR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61.20dB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无杂散动态范围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SFDR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71.26dB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总谐波失真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THD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-70.97dB</a:t>
            </a:r>
            <a:endParaRPr lang="en-US" altLang="zh-CN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25216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1.SAR ADC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3FEAC9-1486-9CD8-620D-3A44CDF723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5" y="1034459"/>
            <a:ext cx="12067475" cy="5507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22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graphicFrame>
        <p:nvGraphicFramePr>
          <p:cNvPr id="2" name="表格 2">
            <a:extLst>
              <a:ext uri="{FF2B5EF4-FFF2-40B4-BE49-F238E27FC236}">
                <a16:creationId xmlns:a16="http://schemas.microsoft.com/office/drawing/2014/main" id="{BE130C43-BC4A-18D2-916B-2E835213B5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260405"/>
              </p:ext>
            </p:extLst>
          </p:nvPr>
        </p:nvGraphicFramePr>
        <p:xfrm>
          <a:off x="280705" y="1616471"/>
          <a:ext cx="698784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917">
                  <a:extLst>
                    <a:ext uri="{9D8B030D-6E8A-4147-A177-3AD203B41FA5}">
                      <a16:colId xmlns:a16="http://schemas.microsoft.com/office/drawing/2014/main" val="3915921974"/>
                    </a:ext>
                  </a:extLst>
                </a:gridCol>
                <a:gridCol w="2768117">
                  <a:extLst>
                    <a:ext uri="{9D8B030D-6E8A-4147-A177-3AD203B41FA5}">
                      <a16:colId xmlns:a16="http://schemas.microsoft.com/office/drawing/2014/main" val="3206697291"/>
                    </a:ext>
                  </a:extLst>
                </a:gridCol>
                <a:gridCol w="2693807">
                  <a:extLst>
                    <a:ext uri="{9D8B030D-6E8A-4147-A177-3AD203B41FA5}">
                      <a16:colId xmlns:a16="http://schemas.microsoft.com/office/drawing/2014/main" val="96272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第一位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ADC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第二位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ADC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49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200mV~1V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400mV~800mV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914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Vref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800mV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400mV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4546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采样开关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栅压自举开关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205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采样技术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下极板采样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0736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采样时钟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时钟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SAM-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CKS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两相非交叠时钟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CK1/CK2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、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CKS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5454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CDAC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阵列位数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6+1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7+1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8024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采样电容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mim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电容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19.5fF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5pF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mom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电容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2.5fF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1.28pF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21886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比较器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NMOS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输入对管两级动态比较器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PMOS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输入对管两级动态比较器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4396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1LSB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12.5mV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1.56mV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333276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输出范围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Vcm±12.5mV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Vcm±1.56mV</a:t>
                      </a:r>
                      <a:endParaRPr lang="zh-CN" altLang="en-US" sz="1400" dirty="0"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586349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6154D71D-B0B1-D03F-6CED-A04F90A2E63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1.SAR ADC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8E38BA-D04E-262A-81BC-EEB39616DD7D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488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1.SAR ADC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0AF9D82-955E-8A12-2A15-7225A784FC5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792" y="1409306"/>
            <a:ext cx="9797402" cy="53738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5FE9766-9504-5352-7E0B-7CD22204F3A5}"/>
              </a:ext>
            </a:extLst>
          </p:cNvPr>
          <p:cNvSpPr txBox="1"/>
          <p:nvPr/>
        </p:nvSpPr>
        <p:spPr>
          <a:xfrm>
            <a:off x="149290" y="1295119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511D958-A9A9-1B0E-B9AF-8E2AE35EB283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8133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1.SAR ADC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FEA1282-6C3B-558A-C09A-B704F546D94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839" y="1409306"/>
            <a:ext cx="10758918" cy="5106879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C767D8F-F37C-3E64-65D8-7AAFE1FC5E00}"/>
              </a:ext>
            </a:extLst>
          </p:cNvPr>
          <p:cNvSpPr txBox="1"/>
          <p:nvPr/>
        </p:nvSpPr>
        <p:spPr>
          <a:xfrm>
            <a:off x="149290" y="1295119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3D366B-F2A5-9498-105E-94CAFDB78D11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59037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1.SAR ADC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2FC55E4-1493-F4C9-9678-4A17BC55F359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BE5992F6-1CD7-547B-B31A-161EB2818C8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32" y="1927466"/>
            <a:ext cx="8726229" cy="491684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2A417D41-E952-AECE-4B33-70BEE4CDE771}"/>
              </a:ext>
            </a:extLst>
          </p:cNvPr>
          <p:cNvSpPr txBox="1"/>
          <p:nvPr/>
        </p:nvSpPr>
        <p:spPr>
          <a:xfrm>
            <a:off x="1472778" y="3334161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2C2180C-078D-E41F-9935-EF05EFB6F51A}"/>
              </a:ext>
            </a:extLst>
          </p:cNvPr>
          <p:cNvSpPr txBox="1"/>
          <p:nvPr/>
        </p:nvSpPr>
        <p:spPr>
          <a:xfrm>
            <a:off x="1473624" y="5195726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M2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B4F26B6-B3A9-606F-FEFA-C3DDF7BB4FCC}"/>
              </a:ext>
            </a:extLst>
          </p:cNvPr>
          <p:cNvSpPr txBox="1"/>
          <p:nvPr/>
        </p:nvSpPr>
        <p:spPr>
          <a:xfrm>
            <a:off x="3100100" y="6141842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M3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E8BAC3F-E7F1-733F-F3FA-3D4CDFC8152B}"/>
              </a:ext>
            </a:extLst>
          </p:cNvPr>
          <p:cNvSpPr txBox="1"/>
          <p:nvPr/>
        </p:nvSpPr>
        <p:spPr>
          <a:xfrm>
            <a:off x="3907820" y="2842853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M4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F4DF605-727A-9CCD-0F7A-44C934E3F7F0}"/>
              </a:ext>
            </a:extLst>
          </p:cNvPr>
          <p:cNvSpPr txBox="1"/>
          <p:nvPr/>
        </p:nvSpPr>
        <p:spPr>
          <a:xfrm>
            <a:off x="5448719" y="3888255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M5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AE02520-0486-0175-3647-733A6DCBF2F4}"/>
              </a:ext>
            </a:extLst>
          </p:cNvPr>
          <p:cNvSpPr txBox="1"/>
          <p:nvPr/>
        </p:nvSpPr>
        <p:spPr>
          <a:xfrm>
            <a:off x="5475156" y="4971244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M6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D38241A9-5BD4-6D26-93F6-FEFF037111F2}"/>
              </a:ext>
            </a:extLst>
          </p:cNvPr>
          <p:cNvSpPr txBox="1"/>
          <p:nvPr/>
        </p:nvSpPr>
        <p:spPr>
          <a:xfrm>
            <a:off x="6521683" y="5056489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M7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8838CC9-AC3C-32F7-5DD0-58E27BAFB72D}"/>
              </a:ext>
            </a:extLst>
          </p:cNvPr>
          <p:cNvSpPr txBox="1"/>
          <p:nvPr/>
        </p:nvSpPr>
        <p:spPr>
          <a:xfrm>
            <a:off x="7801299" y="5058378"/>
            <a:ext cx="4074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M8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EEE25EC-68A0-6020-B84B-A211ABDB5A46}"/>
              </a:ext>
            </a:extLst>
          </p:cNvPr>
          <p:cNvSpPr txBox="1"/>
          <p:nvPr/>
        </p:nvSpPr>
        <p:spPr>
          <a:xfrm>
            <a:off x="8010869" y="2228585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M9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CDC70A9-986E-347F-2AC3-D3C978D3C809}"/>
              </a:ext>
            </a:extLst>
          </p:cNvPr>
          <p:cNvSpPr txBox="1"/>
          <p:nvPr/>
        </p:nvSpPr>
        <p:spPr>
          <a:xfrm>
            <a:off x="149289" y="1177836"/>
            <a:ext cx="11840547" cy="830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8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zh-CN" altLang="zh-CN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忽略衬偏效应时，导通阻抗呈现恒定值，考虑衬偏效应时，导通阻抗随</a:t>
            </a:r>
            <a:r>
              <a:rPr lang="en-US" altLang="zh-CN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Vin</a:t>
            </a:r>
            <a:r>
              <a:rPr lang="zh-CN" altLang="zh-CN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增加而增加。可知，</a:t>
            </a:r>
            <a:r>
              <a:rPr lang="zh-CN" altLang="zh-CN" sz="1600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在全摆幅范围内，忽略衬偏效应时，线性度很好</a:t>
            </a:r>
            <a:r>
              <a:rPr lang="zh-CN" altLang="en-US" sz="16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（电荷守恒原理）</a:t>
            </a:r>
            <a:r>
              <a:rPr lang="en-US" altLang="zh-CN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降低了导通电阻，且除去了非线性</a:t>
            </a:r>
            <a:endParaRPr lang="zh-CN" altLang="en-US" sz="1600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AADBE0E-745A-F1E7-AB13-31681ED35D4F}"/>
              </a:ext>
            </a:extLst>
          </p:cNvPr>
          <p:cNvSpPr txBox="1"/>
          <p:nvPr/>
        </p:nvSpPr>
        <p:spPr>
          <a:xfrm>
            <a:off x="8782680" y="2092772"/>
            <a:ext cx="3378087" cy="2397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电路连接：</a:t>
            </a:r>
            <a:endParaRPr lang="en-US" altLang="zh-CN" sz="1400" b="1" dirty="0">
              <a:solidFill>
                <a:srgbClr val="0070C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M8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NMOS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采样开关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400" kern="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mim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电容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427fF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点更敏感，则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</a:t>
            </a:r>
            <a:r>
              <a:rPr lang="en-US" altLang="zh-CN" sz="1400" kern="0" baseline="-25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上极板接在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PMOS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管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M4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M5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衬底需连接到最高电位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B</a:t>
            </a:r>
            <a:r>
              <a:rPr lang="zh-CN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点（防止寄生二极管击穿）</a:t>
            </a:r>
            <a:endParaRPr lang="zh-CN" altLang="en-US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CF54874A-3A07-FC75-93B9-D485251253B0}"/>
              </a:ext>
            </a:extLst>
          </p:cNvPr>
          <p:cNvSpPr txBox="1"/>
          <p:nvPr/>
        </p:nvSpPr>
        <p:spPr>
          <a:xfrm>
            <a:off x="3704078" y="3538491"/>
            <a:ext cx="2872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1154080-C6EA-7FC4-A6C6-E14B574A874C}"/>
              </a:ext>
            </a:extLst>
          </p:cNvPr>
          <p:cNvSpPr txBox="1"/>
          <p:nvPr/>
        </p:nvSpPr>
        <p:spPr>
          <a:xfrm>
            <a:off x="3704078" y="5195726"/>
            <a:ext cx="2952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450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30" name="墨迹 7">
                <a:extLst>
                  <a:ext uri="{FF2B5EF4-FFF2-40B4-BE49-F238E27FC236}">
                    <a16:creationId xmlns:a16="http://schemas.microsoft.com/office/drawing/2014/main" id="{EE19C656-52E4-45BF-6ACD-A221B79210C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67748" y="3100033"/>
              <a:ext cx="144462" cy="95250"/>
            </p14:xfrm>
          </p:contentPart>
        </mc:Choice>
        <mc:Fallback xmlns="">
          <p:pic>
            <p:nvPicPr>
              <p:cNvPr id="1030" name="墨迹 7">
                <a:extLst>
                  <a:ext uri="{FF2B5EF4-FFF2-40B4-BE49-F238E27FC236}">
                    <a16:creationId xmlns:a16="http://schemas.microsoft.com/office/drawing/2014/main" id="{EE19C656-52E4-45BF-6ACD-A221B79210CE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031" name="墨迹 8">
                <a:extLst>
                  <a:ext uri="{FF2B5EF4-FFF2-40B4-BE49-F238E27FC236}">
                    <a16:creationId xmlns:a16="http://schemas.microsoft.com/office/drawing/2014/main" id="{755B5BE9-068C-B61C-77E2-6735CE35E4C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40773" y="3120671"/>
              <a:ext cx="19050" cy="136525"/>
            </p14:xfrm>
          </p:contentPart>
        </mc:Choice>
        <mc:Fallback xmlns="">
          <p:pic>
            <p:nvPicPr>
              <p:cNvPr id="1031" name="墨迹 8">
                <a:extLst>
                  <a:ext uri="{FF2B5EF4-FFF2-40B4-BE49-F238E27FC236}">
                    <a16:creationId xmlns:a16="http://schemas.microsoft.com/office/drawing/2014/main" id="{755B5BE9-068C-B61C-77E2-6735CE35E4CA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35" name="墨迹 14">
                <a:extLst>
                  <a:ext uri="{FF2B5EF4-FFF2-40B4-BE49-F238E27FC236}">
                    <a16:creationId xmlns:a16="http://schemas.microsoft.com/office/drawing/2014/main" id="{35519C27-1065-EC6A-C8D1-92D0490E0CC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66398" y="4689121"/>
              <a:ext cx="109537" cy="174625"/>
            </p14:xfrm>
          </p:contentPart>
        </mc:Choice>
        <mc:Fallback xmlns="">
          <p:pic>
            <p:nvPicPr>
              <p:cNvPr id="1035" name="墨迹 14">
                <a:extLst>
                  <a:ext uri="{FF2B5EF4-FFF2-40B4-BE49-F238E27FC236}">
                    <a16:creationId xmlns:a16="http://schemas.microsoft.com/office/drawing/2014/main" id="{35519C27-1065-EC6A-C8D1-92D0490E0CCD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34" name="墨迹 19">
                <a:extLst>
                  <a:ext uri="{FF2B5EF4-FFF2-40B4-BE49-F238E27FC236}">
                    <a16:creationId xmlns:a16="http://schemas.microsoft.com/office/drawing/2014/main" id="{5265B2A6-2874-700E-E38C-6AD96897B2E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20085" y="4498621"/>
              <a:ext cx="212725" cy="201612"/>
            </p14:xfrm>
          </p:contentPart>
        </mc:Choice>
        <mc:Fallback xmlns="">
          <p:pic>
            <p:nvPicPr>
              <p:cNvPr id="1034" name="墨迹 19">
                <a:extLst>
                  <a:ext uri="{FF2B5EF4-FFF2-40B4-BE49-F238E27FC236}">
                    <a16:creationId xmlns:a16="http://schemas.microsoft.com/office/drawing/2014/main" id="{5265B2A6-2874-700E-E38C-6AD96897B2E4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Rectangle 15">
            <a:extLst>
              <a:ext uri="{FF2B5EF4-FFF2-40B4-BE49-F238E27FC236}">
                <a16:creationId xmlns:a16="http://schemas.microsoft.com/office/drawing/2014/main" id="{E4D99FA5-FA50-4EBB-18A8-20CFDA59F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560" y="235073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76176" rIns="91440" bIns="7617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等线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332AAE4-7A0B-E950-9055-9184A8288F3E}"/>
                  </a:ext>
                </a:extLst>
              </p:cNvPr>
              <p:cNvSpPr txBox="1"/>
              <p:nvPr/>
            </p:nvSpPr>
            <p:spPr>
              <a:xfrm>
                <a:off x="325585" y="1270570"/>
                <a:ext cx="11664252" cy="5486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40000"/>
                  </a:lnSpc>
                </a:pPr>
                <a:r>
                  <a:rPr lang="en-US" altLang="zh-CN" sz="14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MOS</a:t>
                </a:r>
                <a:r>
                  <a:rPr lang="zh-CN" altLang="en-US" sz="14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尺寸取值：</a:t>
                </a:r>
                <a:r>
                  <a:rPr lang="zh-CN" altLang="zh-CN" sz="1400" kern="0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（准确值需要通过仿真不断迭代得到）</a:t>
                </a:r>
                <a:endParaRPr lang="en-US" altLang="zh-CN" sz="1400" b="1" dirty="0">
                  <a:solidFill>
                    <a:srgbClr val="7030A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M8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导通电阻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R=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18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Ω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r>
                  <a:rPr lang="zh-CN" altLang="en-US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取决于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RC</a:t>
                </a:r>
                <a:r>
                  <a:rPr lang="zh-CN" altLang="en-US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的建立精度要求，前面已经具体计算</a:t>
                </a:r>
                <a:endParaRPr lang="en-US" altLang="zh-CN" sz="14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CB=427fF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测得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M8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电容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Cg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28f</a:t>
                </a:r>
                <a:r>
                  <a:rPr lang="zh-CN" altLang="en-US" sz="14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要求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sz="1400" kern="0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大于其他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MOS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寄生电容</a:t>
                </a:r>
                <a:endParaRPr lang="en-US" altLang="zh-CN" sz="14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M3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电阻为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200Ω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M4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电阻为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600Ω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M4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M3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sz="1400" strike="sngStrike" kern="0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充电到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VDD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，占空比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10%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，频率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100MHz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（周期</a:t>
                </a:r>
                <a:r>
                  <a:rPr lang="en-US" altLang="zh-CN" sz="1400" strike="sngStrike" kern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0ns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）采样时钟，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CLK=0</a:t>
                </a:r>
                <a:r>
                  <a:rPr lang="zh-CN" altLang="en-US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即在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1ns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内将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en-US" altLang="zh-CN" sz="1400" strike="sngStrike" kern="0" baseline="-25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充电到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VDD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，对于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位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ADC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为使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建立误差</a:t>
                </a:r>
                <a:r>
                  <a:rPr lang="en-US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0.1%</a:t>
                </a:r>
                <a:r>
                  <a:rPr lang="zh-CN" altLang="en-US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，给</a:t>
                </a:r>
                <a:r>
                  <a:rPr lang="en-US" altLang="zh-CN" sz="1400" strike="sngStrike" kern="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个</a:t>
                </a:r>
                <a14:m>
                  <m:oMath xmlns:m="http://schemas.openxmlformats.org/officeDocument/2006/math"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400" i="1" strike="sngStrike" ker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&lt;1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𝑛𝑠</m:t>
                    </m:r>
                  </m:oMath>
                </a14:m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zh-CN" altLang="zh-CN" sz="1400" i="1" strike="sngStrike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400" i="1" strike="sngStrike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400" i="1" strike="sngStrike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1400" i="1" strike="sngStrike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zh-CN" altLang="zh-CN" sz="1400" i="1" strike="sngStrike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strike="sngStrike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400" i="1" strike="sngStrike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400" b="0" i="1" strike="sngStrike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400" b="0" i="1" strike="sngStrike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𝑛𝑠</m:t>
                    </m:r>
                  </m:oMath>
                </a14:m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400" i="1" strike="sngStrike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400" i="1" strike="sngStrike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1400" i="1" strike="sngStrike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400" b="0" i="1" strike="sngStrike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0.5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𝑝𝐹</m:t>
                    </m:r>
                  </m:oMath>
                </a14:m>
                <a:r>
                  <a:rPr lang="zh-CN" altLang="zh-CN" sz="1400" strike="sngStrike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，则要求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zh-CN" sz="1400" i="1" strike="sngStrike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zh-CN" sz="1400" i="1" strike="sngStrike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sz="1400" i="1" strike="sngStrike" ker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1400" i="1" strike="sngStrike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𝑀</m:t>
                            </m:r>
                            <m:r>
                              <a:rPr lang="en-US" altLang="zh-CN" sz="1400" i="1" strike="sngStrike" ker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Times New Roman" panose="020206030504050203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&lt;</m:t>
                    </m:r>
                    <m:r>
                      <a:rPr lang="en-US" altLang="zh-CN" sz="1400" b="0" i="1" strike="sngStrike" kern="0" smtClea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sz="1400" i="1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US" altLang="zh-CN" sz="1400" strike="sngStrike" kern="0">
                        <a:solidFill>
                          <a:schemeClr val="tx1"/>
                        </a:solidFill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Ω</m:t>
                    </m:r>
                  </m:oMath>
                </a14:m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14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M6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W/L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取值较小：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因为只需要在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电压低时，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M2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导通，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A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电压高时，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M6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导通。则不需要大电阻，取小尺寸使寄生电容小。</a:t>
                </a:r>
                <a:endParaRPr lang="en-US" altLang="zh-CN" sz="1400" kern="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M9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W/L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取值较大：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因为</a:t>
                </a:r>
                <a:r>
                  <a:rPr lang="en-US" altLang="zh-CN" sz="1400" kern="0" dirty="0" err="1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en-US" altLang="zh-CN" sz="1400" kern="0" dirty="0" err="1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gate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点是高压点（最大电压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VDD+VIN=2VDD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），需要一定保护，则使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M9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W/L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较大。</a:t>
                </a:r>
                <a:endParaRPr lang="en-US" altLang="zh-CN" sz="14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M1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M5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M7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的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W/L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取值无要求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r>
                  <a:rPr lang="zh-CN" altLang="zh-CN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使寄生电容小</a:t>
                </a:r>
                <a:r>
                  <a:rPr lang="zh-CN" altLang="en-US" sz="14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，即使尺寸较小即可</a:t>
                </a:r>
                <a:endParaRPr lang="en-US" altLang="zh-CN" sz="14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40000"/>
                  </a:lnSpc>
                </a:pPr>
                <a:r>
                  <a:rPr lang="zh-CN" altLang="en-US" sz="1400" b="1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非理想效应：</a:t>
                </a:r>
                <a:endParaRPr lang="en-US" altLang="zh-CN" sz="1400" b="1" dirty="0">
                  <a:solidFill>
                    <a:srgbClr val="0070C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（</a:t>
                </a:r>
                <a:r>
                  <a:rPr lang="en-US" altLang="zh-CN" sz="14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1</a:t>
                </a:r>
                <a:r>
                  <a:rPr lang="zh-CN" altLang="en-US" sz="14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）</a:t>
                </a:r>
                <a:r>
                  <a:rPr lang="en-US" altLang="zh-CN" sz="14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M8</a:t>
                </a:r>
                <a:r>
                  <a:rPr lang="zh-CN" altLang="zh-CN" sz="1400" b="1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的衬偏效应</a:t>
                </a:r>
                <a:r>
                  <a:rPr lang="zh-CN" altLang="en-US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Vin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变化，使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Vth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变化（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Vin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越大，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Vth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越大），使导通阻抗变化，使导通阻抗线性度降低</a:t>
                </a:r>
                <a:endParaRPr lang="en-US" altLang="zh-CN" sz="1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zh-CN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en-US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①：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M8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衬底接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A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</a:t>
                </a:r>
                <a:endParaRPr lang="en-US" altLang="zh-CN" sz="1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zh-CN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②：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开关断开时衬底接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GND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，开关闭合时衬底接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Vin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（衬底不可一直接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Vin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，因为当</a:t>
                </a:r>
                <a:r>
                  <a:rPr lang="en-US" altLang="zh-CN" sz="140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Vout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比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Vin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低于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0.7V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时，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M8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衬底二极管会导通）</a:t>
                </a:r>
                <a:endParaRPr lang="en-US" altLang="zh-CN" sz="1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zh-CN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③：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采用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PMOS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开关（效率低，不常见）</a:t>
                </a:r>
                <a:endParaRPr lang="en-US" altLang="zh-CN" sz="14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zh-CN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en-US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④：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采用低阈值</a:t>
                </a:r>
                <a:r>
                  <a:rPr lang="en-US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NMOS</a:t>
                </a:r>
                <a:r>
                  <a:rPr lang="zh-CN" altLang="zh-CN" sz="140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器件（缺：有漏电效应）</a:t>
                </a:r>
                <a:endParaRPr lang="zh-CN" altLang="zh-CN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zh-CN" altLang="en-US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:r>
                  <a:rPr lang="zh-CN" altLang="zh-CN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寄生电容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电容上极板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点寄生电容和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M8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端以及其他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MOS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的寄生电容会分走部分电荷，使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上电荷不能储存到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VDD*C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，使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M8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en-US" altLang="zh-CN" sz="1400" kern="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Vgs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小于理论值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VDD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zh-CN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en-US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①：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保证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C&gt;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其他寄生电容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40000"/>
                  </a:lnSpc>
                  <a:buFont typeface="Wingdings" panose="05000000000000000000" pitchFamily="2" charset="2"/>
                  <a:buChar char="n"/>
                </a:pPr>
                <a:r>
                  <a:rPr lang="zh-CN" altLang="zh-CN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解决</a:t>
                </a: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</a:t>
                </a:r>
                <a:r>
                  <a:rPr lang="zh-CN" altLang="en-US" sz="1400" b="1" dirty="0">
                    <a:solidFill>
                      <a:srgbClr val="7030A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宋体" panose="02010600030101010101" pitchFamily="2" charset="-122"/>
                  </a:rPr>
                  <a:t>：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Layout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尽可能减小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的上极板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点的寄生电容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4332AAE4-7A0B-E950-9055-9184A8288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585" y="1270570"/>
                <a:ext cx="11664252" cy="5486054"/>
              </a:xfrm>
              <a:prstGeom prst="rect">
                <a:avLst/>
              </a:prstGeom>
              <a:blipFill>
                <a:blip r:embed="rId13"/>
                <a:stretch>
                  <a:fillRect l="-157" r="-1620" b="-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9E5D77E9-B918-F191-67E7-DA15104F2871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1.SAR ADC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90F3C9-437F-7CC6-1D67-5EEA59ACAC18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21357137-19A4-26E3-DC3E-8227C3D318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0803703"/>
              </p:ext>
            </p:extLst>
          </p:nvPr>
        </p:nvGraphicFramePr>
        <p:xfrm>
          <a:off x="6419461" y="5838075"/>
          <a:ext cx="4112167" cy="391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r:id="rId14" imgW="2971800" imgH="279400" progId="Unknown">
                  <p:embed/>
                </p:oleObj>
              </mc:Choice>
              <mc:Fallback>
                <p:oleObj r:id="rId14" imgW="2971800" imgH="279400" progId="Unknown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31A2110D-7577-D6BB-EC73-39EBB8E295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9461" y="5838075"/>
                        <a:ext cx="4112167" cy="3910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57599E81-92B2-778D-5D23-75CBFCA0DAE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0882230"/>
              </p:ext>
            </p:extLst>
          </p:nvPr>
        </p:nvGraphicFramePr>
        <p:xfrm>
          <a:off x="6505669" y="6210663"/>
          <a:ext cx="3393623" cy="628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r:id="rId16" imgW="2552700" imgH="469900" progId="Unknown">
                  <p:embed/>
                </p:oleObj>
              </mc:Choice>
              <mc:Fallback>
                <p:oleObj r:id="rId16" imgW="2552700" imgH="469900" progId="Unknown">
                  <p:embed/>
                  <p:pic>
                    <p:nvPicPr>
                      <p:cNvPr id="26" name="对象 25">
                        <a:extLst>
                          <a:ext uri="{FF2B5EF4-FFF2-40B4-BE49-F238E27FC236}">
                            <a16:creationId xmlns:a16="http://schemas.microsoft.com/office/drawing/2014/main" id="{84509DFA-07BC-41BD-B5B0-7618E987D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5669" y="6210663"/>
                        <a:ext cx="3393623" cy="6289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73434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B3A88A-F88A-61EB-C8F3-38E0E840231A}"/>
              </a:ext>
            </a:extLst>
          </p:cNvPr>
          <p:cNvSpPr txBox="1"/>
          <p:nvPr/>
        </p:nvSpPr>
        <p:spPr>
          <a:xfrm>
            <a:off x="149290" y="5700170"/>
            <a:ext cx="11893420" cy="10209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①采样：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SAM-=1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S1=Vin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S2=Vin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S3=Vin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S4=Vin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②置位：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SAM-=0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时：第一次比较前，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Pi=din&lt;</a:t>
            </a:r>
            <a:r>
              <a:rPr lang="en-US" altLang="zh-CN" sz="14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&gt;=0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S2=200mV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S3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S4=200mV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1V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③比较：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SAM-=0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时：每一位比较：根据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din&lt;</a:t>
            </a:r>
            <a:r>
              <a:rPr lang="en-US" altLang="zh-CN" sz="14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400" b="1" kern="0" dirty="0">
                <a:solidFill>
                  <a:srgbClr val="55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400" b="1" kern="0" dirty="0">
                <a:solidFill>
                  <a:srgbClr val="55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S3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S4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sz="1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35F4BD-D2CC-D8E8-8F8B-FCA8308843A7}"/>
              </a:ext>
            </a:extLst>
          </p:cNvPr>
          <p:cNvSpPr txBox="1"/>
          <p:nvPr/>
        </p:nvSpPr>
        <p:spPr>
          <a:xfrm>
            <a:off x="9354572" y="4819598"/>
            <a:ext cx="1367682" cy="1442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CKS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0.95/10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1/10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时钟间隔：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0.05ns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采样时间：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0.95ns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比较时间：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9ns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F0BC717C-A39A-2C3A-B658-9EEDC089FA22}"/>
              </a:ext>
            </a:extLst>
          </p:cNvPr>
          <p:cNvSpPr txBox="1"/>
          <p:nvPr/>
        </p:nvSpPr>
        <p:spPr>
          <a:xfrm>
            <a:off x="7898905" y="457386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ED7D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采样时刻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C467963-FA78-FC4A-ABEA-A13AE6997D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14" y="1585170"/>
            <a:ext cx="4575118" cy="3707879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E5EB9C3-BFE3-7D16-0141-0650665437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562" y="5000586"/>
            <a:ext cx="3641844" cy="646331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DE3F2B93-ACE0-12D9-414A-33E5094A97AD}"/>
              </a:ext>
            </a:extLst>
          </p:cNvPr>
          <p:cNvSpPr txBox="1"/>
          <p:nvPr/>
        </p:nvSpPr>
        <p:spPr>
          <a:xfrm>
            <a:off x="7860829" y="5108523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55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CKS</a:t>
            </a:r>
            <a:endParaRPr lang="zh-CN" altLang="en-US" sz="1200" b="1" dirty="0">
              <a:solidFill>
                <a:srgbClr val="55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A42D273F-0583-37B4-6865-07799E60359D}"/>
              </a:ext>
            </a:extLst>
          </p:cNvPr>
          <p:cNvSpPr txBox="1"/>
          <p:nvPr/>
        </p:nvSpPr>
        <p:spPr>
          <a:xfrm>
            <a:off x="8447569" y="5103294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685A3C0-8D11-9FE7-E361-3BBD94690D45}"/>
              </a:ext>
            </a:extLst>
          </p:cNvPr>
          <p:cNvCxnSpPr>
            <a:cxnSpLocks/>
          </p:cNvCxnSpPr>
          <p:nvPr/>
        </p:nvCxnSpPr>
        <p:spPr>
          <a:xfrm>
            <a:off x="8310061" y="4811704"/>
            <a:ext cx="0" cy="23683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>
            <a:extLst>
              <a:ext uri="{FF2B5EF4-FFF2-40B4-BE49-F238E27FC236}">
                <a16:creationId xmlns:a16="http://schemas.microsoft.com/office/drawing/2014/main" id="{E4687A32-64DB-FC49-A135-E1CE8F772E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4310" y="1386206"/>
            <a:ext cx="5881791" cy="2745416"/>
          </a:xfrm>
          <a:prstGeom prst="rect">
            <a:avLst/>
          </a:prstGeom>
        </p:spPr>
      </p:pic>
      <p:sp>
        <p:nvSpPr>
          <p:cNvPr id="37" name="文本框 36">
            <a:extLst>
              <a:ext uri="{FF2B5EF4-FFF2-40B4-BE49-F238E27FC236}">
                <a16:creationId xmlns:a16="http://schemas.microsoft.com/office/drawing/2014/main" id="{5B337ABD-0E6B-0710-CFCD-612FF11F6FC4}"/>
              </a:ext>
            </a:extLst>
          </p:cNvPr>
          <p:cNvSpPr txBox="1"/>
          <p:nvPr/>
        </p:nvSpPr>
        <p:spPr>
          <a:xfrm>
            <a:off x="4919877" y="1941975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DAC_CK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D9ABEC8-7F42-14A4-A97E-78E52576565F}"/>
              </a:ext>
            </a:extLst>
          </p:cNvPr>
          <p:cNvSpPr txBox="1"/>
          <p:nvPr/>
        </p:nvSpPr>
        <p:spPr>
          <a:xfrm>
            <a:off x="4866178" y="1589529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CKS/SAM-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749866E3-145E-1A89-275D-8FDB12459C3E}"/>
              </a:ext>
            </a:extLst>
          </p:cNvPr>
          <p:cNvSpPr txBox="1"/>
          <p:nvPr/>
        </p:nvSpPr>
        <p:spPr>
          <a:xfrm>
            <a:off x="5057532" y="3885305"/>
            <a:ext cx="595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OUT1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F3C7ACD-B12E-BB73-C07B-598A00BBED2F}"/>
              </a:ext>
            </a:extLst>
          </p:cNvPr>
          <p:cNvSpPr txBox="1"/>
          <p:nvPr/>
        </p:nvSpPr>
        <p:spPr>
          <a:xfrm>
            <a:off x="149290" y="1295119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14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6B3A88A-F88A-61EB-C8F3-38E0E840231A}"/>
              </a:ext>
            </a:extLst>
          </p:cNvPr>
          <p:cNvSpPr txBox="1"/>
          <p:nvPr/>
        </p:nvSpPr>
        <p:spPr>
          <a:xfrm>
            <a:off x="149290" y="5700170"/>
            <a:ext cx="11893420" cy="10209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①采样：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SAM-=1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S1=Vin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S2=Vin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S3=Vin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S4=Vin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②置位：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SAM-=0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时：第一次比较前，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Pi=din&lt;</a:t>
            </a:r>
            <a:r>
              <a:rPr lang="en-US" altLang="zh-CN" sz="14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&gt;=0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S2=400mV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S3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S4=400mV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800mV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③比较：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SAM-=0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时：每一位比较：根据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din&lt;</a:t>
            </a:r>
            <a:r>
              <a:rPr lang="en-US" altLang="zh-CN" sz="14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S1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S2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</a:t>
            </a:r>
            <a:r>
              <a:rPr lang="en-US" altLang="zh-CN" sz="1400" b="1" kern="0" dirty="0">
                <a:solidFill>
                  <a:srgbClr val="55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400" b="1" kern="0" dirty="0">
                <a:solidFill>
                  <a:srgbClr val="55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800mV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S3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S4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不变</a:t>
            </a:r>
            <a:endParaRPr lang="en-US" altLang="zh-CN" sz="14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635F4BD-D2CC-D8E8-8F8B-FCA8308843A7}"/>
              </a:ext>
            </a:extLst>
          </p:cNvPr>
          <p:cNvSpPr txBox="1"/>
          <p:nvPr/>
        </p:nvSpPr>
        <p:spPr>
          <a:xfrm>
            <a:off x="9354572" y="4819598"/>
            <a:ext cx="1293944" cy="14422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CKS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4.6/10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4.8/10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时钟间隔：</a:t>
            </a: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0.2ns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采样时间：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4.6ns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比较时间：</a:t>
            </a:r>
            <a:r>
              <a:rPr lang="en-US" altLang="zh-CN" sz="12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5.2ns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E5CDE3-CC5D-9346-D8ED-50EE365D1E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86" y="1548081"/>
            <a:ext cx="4664160" cy="378004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3417F2E0-4098-1745-5FDE-9265AAA77B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142" y="4997634"/>
            <a:ext cx="3860149" cy="621051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27E4A3A-0D57-6551-1BD7-41238FD75941}"/>
              </a:ext>
            </a:extLst>
          </p:cNvPr>
          <p:cNvSpPr txBox="1"/>
          <p:nvPr/>
        </p:nvSpPr>
        <p:spPr>
          <a:xfrm>
            <a:off x="7793150" y="5148498"/>
            <a:ext cx="5004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CKS</a:t>
            </a:r>
            <a:endParaRPr lang="zh-CN" altLang="en-US" sz="1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A1BAA11-17BF-461E-3F1A-7571EDDFD10A}"/>
              </a:ext>
            </a:extLst>
          </p:cNvPr>
          <p:cNvSpPr txBox="1"/>
          <p:nvPr/>
        </p:nvSpPr>
        <p:spPr>
          <a:xfrm>
            <a:off x="8474653" y="5122130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B1C20E0-7D50-02CD-A1CC-F869F40AF98F}"/>
              </a:ext>
            </a:extLst>
          </p:cNvPr>
          <p:cNvCxnSpPr>
            <a:cxnSpLocks/>
          </p:cNvCxnSpPr>
          <p:nvPr/>
        </p:nvCxnSpPr>
        <p:spPr>
          <a:xfrm>
            <a:off x="8310061" y="4811704"/>
            <a:ext cx="0" cy="236836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F0BC717C-A39A-2C3A-B658-9EEDC089FA22}"/>
              </a:ext>
            </a:extLst>
          </p:cNvPr>
          <p:cNvSpPr txBox="1"/>
          <p:nvPr/>
        </p:nvSpPr>
        <p:spPr>
          <a:xfrm>
            <a:off x="7898905" y="457386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ED7D3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采样时刻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A530598-B083-1AD7-A403-1535FADCF234}"/>
              </a:ext>
            </a:extLst>
          </p:cNvPr>
          <p:cNvSpPr txBox="1"/>
          <p:nvPr/>
        </p:nvSpPr>
        <p:spPr>
          <a:xfrm>
            <a:off x="4919877" y="1941975"/>
            <a:ext cx="8242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DAC_CK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6332DDE-2907-0C31-F431-7DB166517C83}"/>
              </a:ext>
            </a:extLst>
          </p:cNvPr>
          <p:cNvSpPr txBox="1"/>
          <p:nvPr/>
        </p:nvSpPr>
        <p:spPr>
          <a:xfrm>
            <a:off x="4866178" y="1589529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CKS/SAM-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D386A2A-1CF6-5521-89DF-16C38410DB81}"/>
              </a:ext>
            </a:extLst>
          </p:cNvPr>
          <p:cNvSpPr txBox="1"/>
          <p:nvPr/>
        </p:nvSpPr>
        <p:spPr>
          <a:xfrm>
            <a:off x="5057532" y="3885305"/>
            <a:ext cx="59503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OUT1</a:t>
            </a:r>
            <a:endParaRPr lang="zh-CN" altLang="en-US" sz="1200" b="1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B0A2041-172E-E0A8-6EAA-0A8229557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2638" y="1458871"/>
            <a:ext cx="5820175" cy="2802209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9A008C9-262A-5577-F0D9-092DAC784004}"/>
              </a:ext>
            </a:extLst>
          </p:cNvPr>
          <p:cNvSpPr txBox="1"/>
          <p:nvPr/>
        </p:nvSpPr>
        <p:spPr>
          <a:xfrm>
            <a:off x="149290" y="1295119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5809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76D1A80-6AE4-1B4B-EF2B-96C5C8DC3F9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2180" y="1731841"/>
            <a:ext cx="2840620" cy="46269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0CDF4625-7A98-28B1-DCE6-D141308928F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14" y="1739524"/>
            <a:ext cx="7170667" cy="462691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D5C9ACC7-A9B4-9A14-394D-896141B1A48C}"/>
              </a:ext>
            </a:extLst>
          </p:cNvPr>
          <p:cNvSpPr/>
          <p:nvPr/>
        </p:nvSpPr>
        <p:spPr>
          <a:xfrm>
            <a:off x="570113" y="1516006"/>
            <a:ext cx="7170667" cy="215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 Control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B9C13BA-0C82-3FA9-B463-7F280D404F46}"/>
              </a:ext>
            </a:extLst>
          </p:cNvPr>
          <p:cNvSpPr/>
          <p:nvPr/>
        </p:nvSpPr>
        <p:spPr>
          <a:xfrm>
            <a:off x="8132179" y="1508322"/>
            <a:ext cx="2840619" cy="231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910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E45AEA-4AF6-AD80-7CA1-AA772A7648DE}"/>
                  </a:ext>
                </a:extLst>
              </p:cNvPr>
              <p:cNvSpPr txBox="1"/>
              <p:nvPr/>
            </p:nvSpPr>
            <p:spPr>
              <a:xfrm>
                <a:off x="8758957" y="1348079"/>
                <a:ext cx="3230880" cy="53745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①下极板采样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②基于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VCM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的开关切换策略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最右的电容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Cu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dummy 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电容，作用调节权重，保证权重为 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 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的倍数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中间电平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采用两个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分别连接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实现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若比较器正端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负端（</a:t>
                </a:r>
                <a:r>
                  <a:rPr lang="en-US" altLang="zh-CN" sz="1400" kern="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vip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&lt;vin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则正端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200mV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负端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1V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③采用</a:t>
                </a:r>
                <a:r>
                  <a:rPr lang="en-US" altLang="zh-CN" sz="1400" b="1" kern="0" dirty="0" err="1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mim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电容，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C=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19.5fF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，总电容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5pF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④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最后一位比较：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1LSB=</a:t>
                </a:r>
                <a:r>
                  <a:rPr lang="zh-CN" altLang="en-US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40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ref</m:t>
                        </m:r>
                      </m:num>
                      <m:den>
                        <m:sSup>
                          <m:sSup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0.8</m:t>
                        </m:r>
                      </m:num>
                      <m:den>
                        <m:sSup>
                          <m:sSup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4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den>
                    </m:f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=12.5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lang="en-US" altLang="zh-CN" sz="1400" kern="0" dirty="0">
                  <a:solidFill>
                    <a:srgbClr val="55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则第一级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输出范围：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Vcm±12.5mV</a:t>
                </a:r>
                <a:endParaRPr lang="en-US" altLang="zh-CN" sz="1400" b="1" kern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E45AEA-4AF6-AD80-7CA1-AA772A764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8957" y="1348079"/>
                <a:ext cx="3230880" cy="5374548"/>
              </a:xfrm>
              <a:prstGeom prst="rect">
                <a:avLst/>
              </a:prstGeom>
              <a:blipFill>
                <a:blip r:embed="rId4"/>
                <a:stretch>
                  <a:fillRect l="-566" r="-566" b="-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5651F98-C3FF-B2CB-0442-791B07E3E2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4" y="1232112"/>
            <a:ext cx="8539326" cy="55409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05B5038-7744-616C-2C10-F95BC66364A2}"/>
              </a:ext>
            </a:extLst>
          </p:cNvPr>
          <p:cNvSpPr txBox="1"/>
          <p:nvPr/>
        </p:nvSpPr>
        <p:spPr>
          <a:xfrm>
            <a:off x="8917646" y="931936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0076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E45AEA-4AF6-AD80-7CA1-AA772A7648DE}"/>
                  </a:ext>
                </a:extLst>
              </p:cNvPr>
              <p:cNvSpPr txBox="1"/>
              <p:nvPr/>
            </p:nvSpPr>
            <p:spPr>
              <a:xfrm>
                <a:off x="8917646" y="1330262"/>
                <a:ext cx="3230880" cy="5372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①下极板采样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②基于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VCM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的开关切换策略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最右的电容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Cu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dummy 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电容，作用调节权重，保证权重为 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 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的倍数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中间电平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采用两个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分别连接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800mV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实现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若比较器正端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&gt;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负端（</a:t>
                </a:r>
                <a:r>
                  <a:rPr lang="en-US" altLang="zh-CN" sz="1400" kern="0" dirty="0" err="1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vip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&lt;vin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则正端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800mV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00mV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负端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00mV 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→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 800mV 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③采用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mom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电容，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C=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2.5fF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，总电容</a:t>
                </a:r>
                <a:r>
                  <a:rPr lang="en-US" altLang="zh-CN" sz="1400" b="1" kern="0" dirty="0">
                    <a:solidFill>
                      <a:srgbClr val="5500FF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1.28pF</a:t>
                </a:r>
              </a:p>
              <a:p>
                <a:pPr algn="just">
                  <a:lnSpc>
                    <a:spcPct val="150000"/>
                  </a:lnSpc>
                </a:pP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④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最后一位比较：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1LSB=</a:t>
                </a:r>
                <a:r>
                  <a:rPr lang="zh-CN" altLang="en-US" sz="14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40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ref</m:t>
                        </m:r>
                      </m:num>
                      <m:den>
                        <m:sSup>
                          <m:sSup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</m:den>
                    </m:f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400" b="0" i="0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zh-CN" altLang="en-US" sz="1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4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  <m:r>
                      <a:rPr lang="en-US" altLang="zh-CN" sz="1400" b="0" i="1" smtClean="0">
                        <a:latin typeface="Cambria Math" panose="02040503050406030204" pitchFamily="18" charset="0"/>
                      </a:rPr>
                      <m:t>=1.56</m:t>
                    </m:r>
                    <m:r>
                      <m:rPr>
                        <m:sty m:val="p"/>
                      </m:rPr>
                      <a:rPr lang="en-US" altLang="zh-CN" sz="1400" i="1"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</a:t>
                </a:r>
                <a:endParaRPr lang="en-US" altLang="zh-CN" sz="1400" kern="0" dirty="0">
                  <a:solidFill>
                    <a:srgbClr val="5500FF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则第一级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输出范围：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1400" b="1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Vcm±1.56mV</a:t>
                </a:r>
                <a:endParaRPr lang="en-US" altLang="zh-CN" sz="1400" b="1" kern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B5E45AEA-4AF6-AD80-7CA1-AA772A764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7646" y="1330262"/>
                <a:ext cx="3230880" cy="5372368"/>
              </a:xfrm>
              <a:prstGeom prst="rect">
                <a:avLst/>
              </a:prstGeom>
              <a:blipFill>
                <a:blip r:embed="rId4"/>
                <a:stretch>
                  <a:fillRect l="-566" r="-566" b="-2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C6A43D10-67FC-F668-525F-F4A2D8DF6B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54" y="1330262"/>
            <a:ext cx="8753179" cy="545289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20FE095-C54B-A029-080A-C60FCB64D4CD}"/>
              </a:ext>
            </a:extLst>
          </p:cNvPr>
          <p:cNvSpPr txBox="1"/>
          <p:nvPr/>
        </p:nvSpPr>
        <p:spPr>
          <a:xfrm>
            <a:off x="8917646" y="931936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62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748B54F-A4AE-AA6E-3149-9CF60F0F6AF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1" y="1321236"/>
            <a:ext cx="6270086" cy="471988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4899CBB5-24FE-4FB4-A129-146668DBE6A1}"/>
              </a:ext>
            </a:extLst>
          </p:cNvPr>
          <p:cNvSpPr txBox="1"/>
          <p:nvPr/>
        </p:nvSpPr>
        <p:spPr>
          <a:xfrm>
            <a:off x="115078" y="6079736"/>
            <a:ext cx="119618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两级预放大结构</a:t>
            </a:r>
            <a:r>
              <a:rPr lang="zh-CN" altLang="en-US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200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预放大级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sz="1200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锁存比较级</a:t>
            </a:r>
            <a:endParaRPr lang="en-US" altLang="zh-CN" sz="12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①功耗低：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动态比较器不消耗静态功耗，消耗动态功耗，则功耗低</a:t>
            </a:r>
            <a:r>
              <a:rPr lang="zh-CN" altLang="en-US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②速度快：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</a:t>
            </a:r>
            <a:r>
              <a:rPr lang="en-US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latch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比较器，利用反相器的互咬，增加比较速度</a:t>
            </a:r>
            <a:r>
              <a:rPr lang="zh-CN" altLang="en-US" sz="12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③消除</a:t>
            </a:r>
            <a:r>
              <a:rPr lang="en-US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kick back</a:t>
            </a:r>
            <a:r>
              <a:rPr lang="zh-CN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噪声：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两级分离的电路结构，断开了输出与输入通过寄生电容的连接，消除了</a:t>
            </a:r>
            <a:r>
              <a:rPr lang="en-US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kick back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噪声</a:t>
            </a:r>
            <a:r>
              <a:rPr lang="zh-CN" altLang="en-US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1200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重点</a:t>
            </a:r>
            <a:r>
              <a:rPr lang="zh-CN" altLang="en-US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12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④更低的电源电压：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该电路在电源电压和地之间堆叠的</a:t>
            </a:r>
            <a:r>
              <a:rPr lang="en-US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MOS</a:t>
            </a:r>
            <a:r>
              <a:rPr lang="zh-CN" altLang="zh-CN" sz="12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个数更少，可以工作在更低的电源电压</a:t>
            </a:r>
            <a:r>
              <a:rPr lang="zh-CN" altLang="en-US" sz="12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200" b="1" kern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⑤减小比较器噪声和输入失调电压：</a:t>
            </a:r>
            <a:r>
              <a:rPr lang="zh-CN" altLang="zh-CN" sz="1200" b="0" i="0" kern="0" dirty="0">
                <a:solidFill>
                  <a:srgbClr val="000000"/>
                </a:solidFill>
                <a:effectLst/>
                <a:latin typeface="F5"/>
                <a:ea typeface="宋体" panose="02010600030101010101" pitchFamily="2" charset="-122"/>
                <a:cs typeface="宋体" panose="02010600030101010101" pitchFamily="2" charset="-122"/>
              </a:rPr>
              <a:t>两级分离的电路结构，减小了比较器的噪声和输入失调电压</a:t>
            </a:r>
            <a:endParaRPr lang="en-US" altLang="zh-CN" sz="12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FA2F2E9-F338-E72D-0ECF-88A6E5A32EA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5807" y="1311155"/>
            <a:ext cx="5761115" cy="472996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684DA65-F0A0-1D05-5D65-177E5C8F0F72}"/>
              </a:ext>
            </a:extLst>
          </p:cNvPr>
          <p:cNvSpPr txBox="1"/>
          <p:nvPr/>
        </p:nvSpPr>
        <p:spPr>
          <a:xfrm>
            <a:off x="45721" y="1321236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B803B36-4C08-DF39-DF37-06293C9260C0}"/>
              </a:ext>
            </a:extLst>
          </p:cNvPr>
          <p:cNvSpPr txBox="1"/>
          <p:nvPr/>
        </p:nvSpPr>
        <p:spPr>
          <a:xfrm>
            <a:off x="6315807" y="1311155"/>
            <a:ext cx="1417320" cy="3595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第二级</a:t>
            </a:r>
            <a:r>
              <a:rPr lang="en-US" altLang="zh-CN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ADC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094FE1B-0579-E4FF-EC52-E1A4A6776F51}"/>
              </a:ext>
            </a:extLst>
          </p:cNvPr>
          <p:cNvSpPr txBox="1"/>
          <p:nvPr/>
        </p:nvSpPr>
        <p:spPr>
          <a:xfrm>
            <a:off x="2764204" y="5352098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NMOS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输入对管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4DE79D3-A945-052E-3F5B-0F86016382FB}"/>
              </a:ext>
            </a:extLst>
          </p:cNvPr>
          <p:cNvSpPr txBox="1"/>
          <p:nvPr/>
        </p:nvSpPr>
        <p:spPr>
          <a:xfrm>
            <a:off x="9540924" y="5167432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PMOS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输入对管</a:t>
            </a:r>
          </a:p>
        </p:txBody>
      </p:sp>
    </p:spTree>
    <p:extLst>
      <p:ext uri="{BB962C8B-B14F-4D97-AF65-F5344CB8AC3E}">
        <p14:creationId xmlns:p14="http://schemas.microsoft.com/office/powerpoint/2010/main" val="2208076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30" name="墨迹 7">
                <a:extLst>
                  <a:ext uri="{FF2B5EF4-FFF2-40B4-BE49-F238E27FC236}">
                    <a16:creationId xmlns:a16="http://schemas.microsoft.com/office/drawing/2014/main" id="{EE19C656-52E4-45BF-6ACD-A221B79210C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67748" y="3100033"/>
              <a:ext cx="144462" cy="95250"/>
            </p14:xfrm>
          </p:contentPart>
        </mc:Choice>
        <mc:Fallback xmlns="">
          <p:pic>
            <p:nvPicPr>
              <p:cNvPr id="1030" name="墨迹 7">
                <a:extLst>
                  <a:ext uri="{FF2B5EF4-FFF2-40B4-BE49-F238E27FC236}">
                    <a16:creationId xmlns:a16="http://schemas.microsoft.com/office/drawing/2014/main" id="{EE19C656-52E4-45BF-6ACD-A221B79210CE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1" name="墨迹 8">
                <a:extLst>
                  <a:ext uri="{FF2B5EF4-FFF2-40B4-BE49-F238E27FC236}">
                    <a16:creationId xmlns:a16="http://schemas.microsoft.com/office/drawing/2014/main" id="{755B5BE9-068C-B61C-77E2-6735CE35E4C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40773" y="3120671"/>
              <a:ext cx="19050" cy="136525"/>
            </p14:xfrm>
          </p:contentPart>
        </mc:Choice>
        <mc:Fallback xmlns="">
          <p:pic>
            <p:nvPicPr>
              <p:cNvPr id="1031" name="墨迹 8">
                <a:extLst>
                  <a:ext uri="{FF2B5EF4-FFF2-40B4-BE49-F238E27FC236}">
                    <a16:creationId xmlns:a16="http://schemas.microsoft.com/office/drawing/2014/main" id="{755B5BE9-068C-B61C-77E2-6735CE35E4CA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35" name="墨迹 14">
                <a:extLst>
                  <a:ext uri="{FF2B5EF4-FFF2-40B4-BE49-F238E27FC236}">
                    <a16:creationId xmlns:a16="http://schemas.microsoft.com/office/drawing/2014/main" id="{35519C27-1065-EC6A-C8D1-92D0490E0CC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66398" y="4689121"/>
              <a:ext cx="109537" cy="174625"/>
            </p14:xfrm>
          </p:contentPart>
        </mc:Choice>
        <mc:Fallback xmlns="">
          <p:pic>
            <p:nvPicPr>
              <p:cNvPr id="1035" name="墨迹 14">
                <a:extLst>
                  <a:ext uri="{FF2B5EF4-FFF2-40B4-BE49-F238E27FC236}">
                    <a16:creationId xmlns:a16="http://schemas.microsoft.com/office/drawing/2014/main" id="{35519C27-1065-EC6A-C8D1-92D0490E0CCD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34" name="墨迹 19">
                <a:extLst>
                  <a:ext uri="{FF2B5EF4-FFF2-40B4-BE49-F238E27FC236}">
                    <a16:creationId xmlns:a16="http://schemas.microsoft.com/office/drawing/2014/main" id="{5265B2A6-2874-700E-E38C-6AD96897B2E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20085" y="4498621"/>
              <a:ext cx="212725" cy="201612"/>
            </p14:xfrm>
          </p:contentPart>
        </mc:Choice>
        <mc:Fallback xmlns="">
          <p:pic>
            <p:nvPicPr>
              <p:cNvPr id="1034" name="墨迹 19">
                <a:extLst>
                  <a:ext uri="{FF2B5EF4-FFF2-40B4-BE49-F238E27FC236}">
                    <a16:creationId xmlns:a16="http://schemas.microsoft.com/office/drawing/2014/main" id="{5265B2A6-2874-700E-E38C-6AD96897B2E4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DE170CC-218C-0435-8405-E81601D2E3E0}"/>
                  </a:ext>
                </a:extLst>
              </p:cNvPr>
              <p:cNvSpPr txBox="1"/>
              <p:nvPr/>
            </p:nvSpPr>
            <p:spPr>
              <a:xfrm>
                <a:off x="2848947" y="1409306"/>
                <a:ext cx="9140890" cy="51900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）分辨率：</a:t>
                </a:r>
                <a:endParaRPr lang="en-US" altLang="zh-CN" sz="1400" b="1" kern="0" dirty="0">
                  <a:solidFill>
                    <a:srgbClr val="0070C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仿真方案：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输出比较开始翻转时，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INP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INN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之间的电压差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输入：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VIN=VDD/2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VIP= VDD/2±50mV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，负载电容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100fF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分辨率：</a:t>
                </a:r>
                <a:r>
                  <a:rPr lang="en-US" altLang="zh-CN" sz="1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3.076uV</a:t>
                </a:r>
                <a:r>
                  <a:rPr lang="zh-CN" altLang="en-US" sz="1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u="sng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49.5uV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）比较速度：</a:t>
                </a:r>
                <a:endParaRPr lang="en-US" altLang="zh-CN" sz="1400" b="1" kern="0" dirty="0">
                  <a:solidFill>
                    <a:srgbClr val="0070C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输入：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VIN=500mV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VIP= 499mV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。（电压差为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，即约为</a:t>
                </a:r>
                <a:r>
                  <a:rPr lang="en-US" altLang="zh-CN" sz="1400" kern="0" dirty="0"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1LSB???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），负载电容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100fF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比较速度：</a:t>
                </a:r>
                <a:r>
                  <a:rPr lang="en-US" altLang="zh-CN" sz="1400" u="sng" dirty="0">
                    <a:solidFill>
                      <a:srgbClr val="C00000"/>
                    </a:solidFill>
                    <a:highlight>
                      <a:srgbClr val="FFFF00"/>
                    </a:highlight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200ps???</a:t>
                </a: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增加比较速度：</a:t>
                </a:r>
                <a:endParaRPr lang="en-US" altLang="zh-CN" sz="14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①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电路结构上：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latch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结构，对大信号的响应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</a:t>
                </a:r>
                <a14:m>
                  <m:oMath xmlns:m="http://schemas.openxmlformats.org/officeDocument/2006/math">
                    <m:r>
                      <a:rPr lang="en-US" altLang="zh-CN" sz="140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sz="140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40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𝑅𝐶</m:t>
                    </m:r>
                    <m:r>
                      <a:rPr lang="en-US" altLang="zh-CN" sz="140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zh-CN" altLang="zh-CN" sz="1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zh-CN" altLang="zh-CN" sz="1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400" i="1" kern="100" smtClean="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zh-CN" altLang="zh-CN" sz="1400" i="1" kern="1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i="1" kern="100" smtClean="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zh-CN" sz="1400" i="1" kern="100" smtClean="0">
                                    <a:effectLst/>
                                    <a:latin typeface="Cambria Math" panose="02040503050406030204" pitchFamily="18" charset="0"/>
                                    <a:ea typeface="等线" panose="02010600030101010101" pitchFamily="2" charset="-122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zh-CN" altLang="zh-CN" sz="1400" i="1" kern="100">
                        <a:effectLst/>
                        <a:latin typeface="Cambria Math" panose="02040503050406030204" pitchFamily="18" charset="0"/>
                        <a:ea typeface="MS Gothic" panose="020B0609070205080204" pitchFamily="49" charset="-128"/>
                        <a:cs typeface="MS Gothic" panose="020B0609070205080204" pitchFamily="49" charset="-128"/>
                      </a:rPr>
                      <m:t>⋅</m:t>
                    </m:r>
                    <m:r>
                      <a:rPr lang="en-US" altLang="zh-CN" sz="140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sz="1400" i="1" kern="100" smtClean="0">
                        <a:effectLst/>
                        <a:latin typeface="Cambria Math" panose="02040503050406030204" pitchFamily="18" charset="0"/>
                        <a:ea typeface="等线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zh-CN" altLang="zh-CN" sz="14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1400" i="1" kern="100" smtClean="0">
                            <a:effectLst/>
                            <a:latin typeface="Cambria Math" panose="02040503050406030204" pitchFamily="18" charset="0"/>
                            <a:ea typeface="等线" panose="02010600030101010101" pitchFamily="2" charset="-122"/>
                            <a:cs typeface="Times New Roman" panose="02020603050405020304" pitchFamily="18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zh-CN" altLang="zh-CN" sz="14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i="1" kern="100" smtClean="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zh-CN" sz="1400" i="1" kern="100" smtClean="0">
                                <a:effectLst/>
                                <a:latin typeface="Cambria Math" panose="02040503050406030204" pitchFamily="18" charset="0"/>
                                <a:ea typeface="等线" panose="02010600030101010101" pitchFamily="2" charset="-122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 sz="1400" kern="100" dirty="0">
                    <a:effectLst/>
                    <a:latin typeface="等线" panose="02010600030101010101" pitchFamily="2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增加工作电流，减小输出节点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）第一级预放大增益：</a:t>
                </a:r>
                <a:endParaRPr lang="en-US" altLang="zh-CN" sz="1400" b="1" kern="0" dirty="0">
                  <a:solidFill>
                    <a:srgbClr val="0070C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仿真方案：输入已知电压差，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仿真查看第一级输出电压差，相比得放大倍数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输入：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VIN=500mV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VIP=600mV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，负载电容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100fF</a:t>
                </a:r>
                <a:endPara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第一级预放大增益：（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512m-97m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/100m=4.1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1400" u="sng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4~5</a:t>
                </a:r>
                <a:r>
                  <a:rPr lang="zh-CN" altLang="en-US" sz="1400" u="sng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倍</a:t>
                </a:r>
                <a:endParaRPr lang="en-US" altLang="zh-CN" sz="1400" u="sng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sz="14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）输入失配电压：</a:t>
                </a:r>
                <a:endParaRPr lang="en-US" altLang="zh-CN" sz="1400" b="1" kern="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蒙特卡洛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sz="14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失配：</a:t>
                </a:r>
                <a:r>
                  <a:rPr lang="en-US" altLang="zh-CN" sz="1400" u="sng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20mV</a:t>
                </a:r>
                <a:endParaRPr lang="en-US" altLang="zh-CN" sz="1400" dirty="0">
                  <a:solidFill>
                    <a:srgbClr val="C0000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失配来源：</a:t>
                </a:r>
                <a:r>
                  <a:rPr lang="zh-CN" altLang="zh-CN" sz="1400" b="0" i="0" kern="0" dirty="0">
                    <a:solidFill>
                      <a:srgbClr val="000000"/>
                    </a:solidFill>
                    <a:effectLst/>
                    <a:latin typeface="F5"/>
                    <a:ea typeface="宋体" panose="02010600030101010101" pitchFamily="2" charset="-122"/>
                    <a:cs typeface="宋体" panose="02010600030101010101" pitchFamily="2" charset="-122"/>
                  </a:rPr>
                  <a:t>在实际生产过程中，由于工艺、环境等问题导致两个应该完全相同的器件之间存在误差，如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MOS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的迁移率</a:t>
                </a:r>
                <a14:m>
                  <m:oMath xmlns:m="http://schemas.openxmlformats.org/officeDocument/2006/math">
                    <m:r>
                      <a:rPr lang="en-US" altLang="zh-CN" sz="1400" i="1" ker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𝜇</m:t>
                    </m:r>
                  </m:oMath>
                </a14:m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、宽长比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W/L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、阈值电压</a:t>
                </a:r>
                <a:r>
                  <a:rPr lang="en-US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</a:rPr>
                  <a:t>Vth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400" b="0" i="0" kern="0" dirty="0">
                    <a:solidFill>
                      <a:srgbClr val="000000"/>
                    </a:solidFill>
                    <a:effectLst/>
                    <a:latin typeface="F5"/>
                    <a:ea typeface="宋体" panose="02010600030101010101" pitchFamily="2" charset="-122"/>
                    <a:cs typeface="宋体" panose="02010600030101010101" pitchFamily="2" charset="-122"/>
                  </a:rPr>
                  <a:t>称之为器件失配，在比较器</a:t>
                </a:r>
                <a:r>
                  <a:rPr lang="zh-CN" altLang="en-US" sz="1400" kern="0" dirty="0">
                    <a:solidFill>
                      <a:srgbClr val="000000"/>
                    </a:solidFill>
                    <a:latin typeface="F5"/>
                    <a:ea typeface="宋体" panose="02010600030101010101" pitchFamily="2" charset="-122"/>
                    <a:cs typeface="宋体" panose="02010600030101010101" pitchFamily="2" charset="-122"/>
                  </a:rPr>
                  <a:t>的两个输入端</a:t>
                </a:r>
                <a:r>
                  <a:rPr lang="zh-CN" altLang="zh-CN" sz="1400" b="0" i="0" kern="0" dirty="0">
                    <a:solidFill>
                      <a:srgbClr val="000000"/>
                    </a:solidFill>
                    <a:effectLst/>
                    <a:latin typeface="F5"/>
                    <a:ea typeface="宋体" panose="02010600030101010101" pitchFamily="2" charset="-122"/>
                    <a:cs typeface="宋体" panose="02010600030101010101" pitchFamily="2" charset="-122"/>
                  </a:rPr>
                  <a:t>表现为输入失调电压</a:t>
                </a:r>
                <a:endParaRPr lang="en-US" altLang="zh-CN" sz="1400" b="0" i="0" kern="0" dirty="0">
                  <a:solidFill>
                    <a:srgbClr val="000000"/>
                  </a:solidFill>
                  <a:effectLst/>
                  <a:latin typeface="F5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1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7030A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减小失配：</a:t>
                </a:r>
                <a:endParaRPr lang="en-US" altLang="zh-CN" sz="1400" b="1" dirty="0">
                  <a:solidFill>
                    <a:srgbClr val="7030A0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①</a:t>
                </a:r>
                <a:r>
                  <a:rPr lang="zh-CN" altLang="zh-CN" sz="14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增加前置运放的增益</a:t>
                </a:r>
                <a:endParaRPr lang="en-US" altLang="zh-CN" sz="1400" kern="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10000"/>
                  </a:lnSpc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②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OOS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IOS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（用作静态比较器，不能用作动态比较器）</a:t>
                </a:r>
                <a:endParaRPr lang="zh-CN" altLang="zh-CN" sz="1400" dirty="0">
                  <a:effectLst/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8DE170CC-218C-0435-8405-E81601D2E3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8947" y="1409306"/>
                <a:ext cx="9140890" cy="5190011"/>
              </a:xfrm>
              <a:prstGeom prst="rect">
                <a:avLst/>
              </a:prstGeom>
              <a:blipFill>
                <a:blip r:embed="rId12"/>
                <a:stretch>
                  <a:fillRect l="-200" t="-352" r="-133" b="-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51E862D5-E0F1-EBFA-9107-BE3CC619E77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3" y="1278041"/>
            <a:ext cx="2302295" cy="16923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741C549-9BB5-7AC6-A63E-A6C975068FF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123" y="3013454"/>
            <a:ext cx="2302295" cy="168677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B04E72F9-6D05-DF41-510D-C765E4CDD60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122" y="4786261"/>
            <a:ext cx="2297296" cy="1830260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4CD2D03D-8B3B-EF2C-39BB-A9AC24BD5034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B86C536-653C-2D7A-3092-3A8DF48A8E57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5455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30" name="墨迹 7">
                <a:extLst>
                  <a:ext uri="{FF2B5EF4-FFF2-40B4-BE49-F238E27FC236}">
                    <a16:creationId xmlns:a16="http://schemas.microsoft.com/office/drawing/2014/main" id="{EE19C656-52E4-45BF-6ACD-A221B79210CE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567748" y="3100033"/>
              <a:ext cx="144462" cy="95250"/>
            </p14:xfrm>
          </p:contentPart>
        </mc:Choice>
        <mc:Fallback xmlns="">
          <p:pic>
            <p:nvPicPr>
              <p:cNvPr id="1030" name="墨迹 7">
                <a:extLst>
                  <a:ext uri="{FF2B5EF4-FFF2-40B4-BE49-F238E27FC236}">
                    <a16:creationId xmlns:a16="http://schemas.microsoft.com/office/drawing/2014/main" id="{EE19C656-52E4-45BF-6ACD-A221B79210CE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31" name="墨迹 8">
                <a:extLst>
                  <a:ext uri="{FF2B5EF4-FFF2-40B4-BE49-F238E27FC236}">
                    <a16:creationId xmlns:a16="http://schemas.microsoft.com/office/drawing/2014/main" id="{755B5BE9-068C-B61C-77E2-6735CE35E4CA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640773" y="3120671"/>
              <a:ext cx="19050" cy="136525"/>
            </p14:xfrm>
          </p:contentPart>
        </mc:Choice>
        <mc:Fallback xmlns="">
          <p:pic>
            <p:nvPicPr>
              <p:cNvPr id="1031" name="墨迹 8">
                <a:extLst>
                  <a:ext uri="{FF2B5EF4-FFF2-40B4-BE49-F238E27FC236}">
                    <a16:creationId xmlns:a16="http://schemas.microsoft.com/office/drawing/2014/main" id="{755B5BE9-068C-B61C-77E2-6735CE35E4CA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035" name="墨迹 14">
                <a:extLst>
                  <a:ext uri="{FF2B5EF4-FFF2-40B4-BE49-F238E27FC236}">
                    <a16:creationId xmlns:a16="http://schemas.microsoft.com/office/drawing/2014/main" id="{35519C27-1065-EC6A-C8D1-92D0490E0CCD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5466398" y="4689121"/>
              <a:ext cx="109537" cy="174625"/>
            </p14:xfrm>
          </p:contentPart>
        </mc:Choice>
        <mc:Fallback xmlns="">
          <p:pic>
            <p:nvPicPr>
              <p:cNvPr id="1035" name="墨迹 14">
                <a:extLst>
                  <a:ext uri="{FF2B5EF4-FFF2-40B4-BE49-F238E27FC236}">
                    <a16:creationId xmlns:a16="http://schemas.microsoft.com/office/drawing/2014/main" id="{35519C27-1065-EC6A-C8D1-92D0490E0CCD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34" name="墨迹 19">
                <a:extLst>
                  <a:ext uri="{FF2B5EF4-FFF2-40B4-BE49-F238E27FC236}">
                    <a16:creationId xmlns:a16="http://schemas.microsoft.com/office/drawing/2014/main" id="{5265B2A6-2874-700E-E38C-6AD96897B2E4}"/>
                  </a:ext>
                </a:extLst>
              </p14:cNvPr>
              <p14:cNvContentPartPr>
                <a14:cpLocks xmlns:a14="http://schemas.microsoft.com/office/drawing/2010/main" noRot="1" noChangeAspect="1" noEditPoints="1" noChangeArrowheads="1" noChangeShapeType="1"/>
              </p14:cNvContentPartPr>
              <p14:nvPr/>
            </p14:nvContentPartPr>
            <p14:xfrm>
              <a:off x="3220085" y="4498621"/>
              <a:ext cx="212725" cy="201612"/>
            </p14:xfrm>
          </p:contentPart>
        </mc:Choice>
        <mc:Fallback xmlns="">
          <p:pic>
            <p:nvPicPr>
              <p:cNvPr id="1034" name="墨迹 19">
                <a:extLst>
                  <a:ext uri="{FF2B5EF4-FFF2-40B4-BE49-F238E27FC236}">
                    <a16:creationId xmlns:a16="http://schemas.microsoft.com/office/drawing/2014/main" id="{5265B2A6-2874-700E-E38C-6AD96897B2E4}"/>
                  </a:ext>
                </a:extLst>
              </p:cNvPr>
              <p:cNvPicPr>
                <a:picLocks noRot="1" noChangeAspect="1" noEditPoint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0" y="0"/>
                <a:ext cx="0" cy="0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8DE170CC-218C-0435-8405-E81601D2E3E0}"/>
              </a:ext>
            </a:extLst>
          </p:cNvPr>
          <p:cNvSpPr txBox="1"/>
          <p:nvPr/>
        </p:nvSpPr>
        <p:spPr>
          <a:xfrm>
            <a:off x="5575935" y="1601620"/>
            <a:ext cx="6212978" cy="3000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en-US" sz="16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）等效输入噪声：</a:t>
            </a:r>
            <a:r>
              <a:rPr lang="zh-CN" altLang="zh-CN" sz="1600" b="1" kern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噪声影响</a:t>
            </a:r>
            <a:r>
              <a:rPr lang="en-US" altLang="zh-CN" sz="1600" b="1" kern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ADC</a:t>
            </a:r>
            <a:r>
              <a:rPr lang="zh-CN" altLang="zh-CN" sz="1600" b="1" kern="0" dirty="0"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精度</a:t>
            </a:r>
            <a:endParaRPr lang="en-US" altLang="zh-CN" sz="1600" b="1" kern="0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仿真方案：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次，计算比较错误的次数，得到误码率（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88/1000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），将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误码率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88/1000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），和</a:t>
            </a:r>
            <a:r>
              <a:rPr lang="zh-CN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输入的电压差值</a:t>
            </a:r>
            <a:r>
              <a:rPr lang="en-US" altLang="zh-CN" sz="16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600" b="1" kern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200uV)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matlab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中通过算法得到对应噪声值</a:t>
            </a:r>
            <a:endParaRPr lang="en-US" altLang="zh-CN" sz="16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输入：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VIN=VDD/2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VIP=VDD/2+</a:t>
            </a:r>
            <a:r>
              <a:rPr lang="en-US" altLang="zh-CN" sz="1600" b="1" kern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200uV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（电压差不能太大）</a:t>
            </a:r>
            <a:r>
              <a:rPr lang="en-US" altLang="zh-CN" sz="1600" b="1" kern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仿真中加入</a:t>
            </a:r>
            <a:r>
              <a:rPr lang="en-US" altLang="zh-CN" sz="1600" b="1" kern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5M~20G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的白噪声，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5MHz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&lt;fin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20GHz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主要考虑仿真时间，负载电容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100fF</a:t>
            </a:r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噪声：</a:t>
            </a:r>
            <a:r>
              <a:rPr lang="en-US" altLang="zh-CN" sz="1600" u="sng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160uV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B747860-5989-2946-5184-BD91A287D83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851" y="5725529"/>
            <a:ext cx="1483042" cy="7188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5BFC03B-A1C3-FA25-14D8-5960868AFA3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2081" y="5747807"/>
            <a:ext cx="1483042" cy="664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6FBA004-B2B6-6B99-008D-079F5BC3433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24" y="1575666"/>
            <a:ext cx="5233174" cy="336306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669E7AA-90B3-4F4F-DFDC-E5AA8FE730B1}"/>
              </a:ext>
            </a:extLst>
          </p:cNvPr>
          <p:cNvSpPr txBox="1"/>
          <p:nvPr/>
        </p:nvSpPr>
        <p:spPr>
          <a:xfrm>
            <a:off x="149290" y="5132348"/>
            <a:ext cx="9169082" cy="1530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噪声来源：</a:t>
            </a:r>
            <a:r>
              <a:rPr lang="zh-CN" altLang="zh-CN" sz="16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沟道热噪声、闪烁噪声，和</a:t>
            </a:r>
            <a:r>
              <a:rPr lang="zh-CN" altLang="zh-CN" sz="1600" b="0" i="0" kern="0" dirty="0">
                <a:solidFill>
                  <a:srgbClr val="000000"/>
                </a:solidFill>
                <a:effectLst/>
                <a:latin typeface="F5"/>
                <a:ea typeface="宋体" panose="02010600030101010101" pitchFamily="2" charset="-122"/>
                <a:cs typeface="宋体" panose="02010600030101010101" pitchFamily="2" charset="-122"/>
              </a:rPr>
              <a:t>回踢噪声</a:t>
            </a:r>
            <a:endParaRPr lang="en-US" altLang="zh-CN" sz="16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en-US" sz="16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减小噪声：</a:t>
            </a:r>
            <a:endParaRPr lang="en-US" altLang="zh-CN" sz="16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减小热噪声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：增加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MOS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的宽长比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W/L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，从而增加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gm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减小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1/f</a:t>
            </a: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闪烁噪声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：①增加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WL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，减小闪烁噪声；②使用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PMOS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作为输入管，减小闪烁噪声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just">
              <a:lnSpc>
                <a:spcPct val="120000"/>
              </a:lnSpc>
            </a:pPr>
            <a:r>
              <a:rPr lang="zh-CN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减小回踢噪声</a:t>
            </a:r>
            <a:r>
              <a:rPr lang="zh-CN" altLang="zh-CN" sz="1600" b="0" i="0" dirty="0">
                <a:solidFill>
                  <a:srgbClr val="000000"/>
                </a:solidFill>
                <a:effectLst/>
                <a:latin typeface="F5"/>
                <a:ea typeface="宋体" panose="02010600030101010101" pitchFamily="2" charset="-122"/>
                <a:cs typeface="宋体" panose="02010600030101010101" pitchFamily="2" charset="-122"/>
              </a:rPr>
              <a:t>：采用两级预放大结构</a:t>
            </a:r>
            <a:r>
              <a:rPr lang="zh-CN" altLang="en-US" sz="1600" b="0" i="0" dirty="0">
                <a:solidFill>
                  <a:srgbClr val="000000"/>
                </a:solidFill>
                <a:effectLst/>
                <a:latin typeface="F5"/>
                <a:ea typeface="宋体" panose="02010600030101010101" pitchFamily="2" charset="-122"/>
                <a:cs typeface="宋体" panose="02010600030101010101" pitchFamily="2" charset="-122"/>
              </a:rPr>
              <a:t>（本结构消除了回踢噪声）</a:t>
            </a:r>
            <a:endParaRPr lang="zh-CN" altLang="zh-CN" sz="16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7CFEA12-03F2-0D7F-600C-C424CE7B2A62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0AD2BB1-203A-3DE8-C372-F5F04FA1348F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3616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DD5C0C9-CE4B-81BD-E277-BD706DB63081}"/>
              </a:ext>
            </a:extLst>
          </p:cNvPr>
          <p:cNvSpPr txBox="1"/>
          <p:nvPr/>
        </p:nvSpPr>
        <p:spPr>
          <a:xfrm>
            <a:off x="3053207" y="1683037"/>
            <a:ext cx="2519662" cy="15279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①产生比较器高速时钟：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检测比较完成信号，反向后提供复位信号给比较器</a:t>
            </a:r>
            <a:endParaRPr lang="zh-CN" altLang="en-US" sz="16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AFCD5E-4186-11FA-11A9-76587B8CF9E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00" y="1323655"/>
            <a:ext cx="3860969" cy="377103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0AAAC3A-280E-A4A3-D6C1-E1582A07565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518" y="1358124"/>
            <a:ext cx="2333625" cy="12668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E15566B-F9B1-27F0-2284-1126A24B314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636" y="5071595"/>
            <a:ext cx="11396727" cy="1786405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44DA188-118E-3AB9-D582-698E5E772E4A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869" y="3907054"/>
            <a:ext cx="3744141" cy="1500751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73E430FC-364D-E531-3835-C88E6311826A}"/>
              </a:ext>
            </a:extLst>
          </p:cNvPr>
          <p:cNvSpPr txBox="1"/>
          <p:nvPr/>
        </p:nvSpPr>
        <p:spPr>
          <a:xfrm>
            <a:off x="8562875" y="1526563"/>
            <a:ext cx="3390225" cy="78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②什么时候开始比较</a:t>
            </a:r>
            <a:r>
              <a:rPr lang="zh-CN" altLang="en-US" sz="1600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下降沿（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SAM=1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4324795-166A-B759-097A-48DF94C55FE8}"/>
              </a:ext>
            </a:extLst>
          </p:cNvPr>
          <p:cNvSpPr txBox="1"/>
          <p:nvPr/>
        </p:nvSpPr>
        <p:spPr>
          <a:xfrm>
            <a:off x="5801360" y="3064064"/>
            <a:ext cx="6172200" cy="789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③什么时候结束比较：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①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次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比较结束（</a:t>
            </a:r>
            <a:r>
              <a:rPr lang="en-US" altLang="zh-CN" sz="1600" kern="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Rdy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-=0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），②下一次采样开始（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SAM-=1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160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434AB-50BA-73D7-3C42-147ACCD9A688}"/>
              </a:ext>
            </a:extLst>
          </p:cNvPr>
          <p:cNvSpPr/>
          <p:nvPr/>
        </p:nvSpPr>
        <p:spPr>
          <a:xfrm>
            <a:off x="149290" y="1323655"/>
            <a:ext cx="5540310" cy="374794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42D0911-8644-07BF-596A-A92220954970}"/>
              </a:ext>
            </a:extLst>
          </p:cNvPr>
          <p:cNvSpPr/>
          <p:nvPr/>
        </p:nvSpPr>
        <p:spPr>
          <a:xfrm>
            <a:off x="5689600" y="1323655"/>
            <a:ext cx="6353110" cy="1582105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5A55390-8DB7-091F-B3F0-279B9AFC305C}"/>
              </a:ext>
            </a:extLst>
          </p:cNvPr>
          <p:cNvSpPr/>
          <p:nvPr/>
        </p:nvSpPr>
        <p:spPr>
          <a:xfrm>
            <a:off x="149290" y="1321236"/>
            <a:ext cx="11893420" cy="546192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9E4F1A8-BDBE-13BA-4249-F8B00F47AB1E}"/>
              </a:ext>
            </a:extLst>
          </p:cNvPr>
          <p:cNvSpPr txBox="1"/>
          <p:nvPr/>
        </p:nvSpPr>
        <p:spPr>
          <a:xfrm>
            <a:off x="350268" y="1546304"/>
            <a:ext cx="57740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SAM-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DB6D3E-6292-7EB7-ECB1-A9AD8BE548AA}"/>
              </a:ext>
            </a:extLst>
          </p:cNvPr>
          <p:cNvSpPr txBox="1"/>
          <p:nvPr/>
        </p:nvSpPr>
        <p:spPr>
          <a:xfrm>
            <a:off x="350268" y="2686950"/>
            <a:ext cx="5084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 err="1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Rdy</a:t>
            </a:r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0668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第一级</a:t>
            </a: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SAR ADC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FD35D4-0871-FECA-8919-6884C0CBB23B}"/>
              </a:ext>
            </a:extLst>
          </p:cNvPr>
          <p:cNvSpPr txBox="1"/>
          <p:nvPr/>
        </p:nvSpPr>
        <p:spPr>
          <a:xfrm>
            <a:off x="2955812" y="882671"/>
            <a:ext cx="4564661" cy="3595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栅压自举开关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</a:t>
            </a:r>
            <a:r>
              <a:rPr lang="en-US" altLang="zh-CN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CDAC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比较器     </a:t>
            </a:r>
            <a:r>
              <a:rPr lang="en-US" altLang="zh-CN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SAR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逻辑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95A967F-50E6-6129-EF24-EECFEBE41C5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9" y="1716697"/>
            <a:ext cx="10895563" cy="5046450"/>
          </a:xfrm>
          <a:prstGeom prst="rect">
            <a:avLst/>
          </a:prstGeom>
          <a:ln>
            <a:solidFill>
              <a:srgbClr val="0070C0"/>
            </a:solidFill>
          </a:ln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8DCD2A4F-287F-4727-B042-B9726D257C79}"/>
              </a:ext>
            </a:extLst>
          </p:cNvPr>
          <p:cNvSpPr/>
          <p:nvPr/>
        </p:nvSpPr>
        <p:spPr>
          <a:xfrm>
            <a:off x="548639" y="1447799"/>
            <a:ext cx="10895563" cy="268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SAR logic</a:t>
            </a:r>
          </a:p>
        </p:txBody>
      </p:sp>
    </p:spTree>
    <p:extLst>
      <p:ext uri="{BB962C8B-B14F-4D97-AF65-F5344CB8AC3E}">
        <p14:creationId xmlns:p14="http://schemas.microsoft.com/office/powerpoint/2010/main" val="2945886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增益自举运放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D3415AC-D3EA-8781-5DDD-AFB1A01BA64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15" y="1852316"/>
            <a:ext cx="6637166" cy="49914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420D008-49D0-524B-6609-B914E51E10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2483" y="2049937"/>
            <a:ext cx="4308733" cy="60933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77092F9-1D8A-0368-1F90-21762814BB33}"/>
              </a:ext>
            </a:extLst>
          </p:cNvPr>
          <p:cNvSpPr txBox="1"/>
          <p:nvPr/>
        </p:nvSpPr>
        <p:spPr>
          <a:xfrm>
            <a:off x="7092386" y="2077606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CK1</a:t>
            </a:r>
            <a:endParaRPr lang="zh-CN" altLang="en-US" sz="12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F7AEF6C-38DE-7BFB-05CE-5882CFF2A925}"/>
              </a:ext>
            </a:extLst>
          </p:cNvPr>
          <p:cNvSpPr txBox="1"/>
          <p:nvPr/>
        </p:nvSpPr>
        <p:spPr>
          <a:xfrm>
            <a:off x="7092386" y="236858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CK2</a:t>
            </a:r>
            <a:endParaRPr lang="zh-CN" altLang="en-US" sz="1200" b="1" dirty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45E32CF-50F1-7C59-AD63-1588815B0F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0" y="2588936"/>
            <a:ext cx="2956560" cy="214884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883AA31C-C6A4-DD18-86DC-1022EBAF980A}"/>
              </a:ext>
            </a:extLst>
          </p:cNvPr>
          <p:cNvSpPr txBox="1"/>
          <p:nvPr/>
        </p:nvSpPr>
        <p:spPr>
          <a:xfrm>
            <a:off x="6884181" y="5009657"/>
            <a:ext cx="5307819" cy="1020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反馈电容：</a:t>
            </a:r>
            <a:r>
              <a:rPr lang="en-US" altLang="zh-CN" sz="1400" kern="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Mim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电容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19.6fF</a:t>
            </a: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C1=(1+1+2+4+8+16+32)×19.6fF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采样电容：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Mom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电容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19.7fF</a:t>
            </a:r>
            <a:r>
              <a:rPr lang="zh-CN" altLang="en-US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4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C2=16×19.6fF</a:t>
            </a:r>
            <a:endParaRPr lang="en-US" altLang="zh-CN" sz="1400" kern="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闭环增益</a:t>
            </a:r>
            <a:r>
              <a:rPr lang="en-US" altLang="zh-CN" sz="1400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=C1/C2=8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3091DE-FE16-FE00-27E9-38663B5116BA}"/>
              </a:ext>
            </a:extLst>
          </p:cNvPr>
          <p:cNvSpPr txBox="1"/>
          <p:nvPr/>
        </p:nvSpPr>
        <p:spPr>
          <a:xfrm>
            <a:off x="3974122" y="2286443"/>
            <a:ext cx="771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C2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901D4515-B028-0E56-315C-28F4164F6D97}"/>
              </a:ext>
            </a:extLst>
          </p:cNvPr>
          <p:cNvSpPr txBox="1"/>
          <p:nvPr/>
        </p:nvSpPr>
        <p:spPr>
          <a:xfrm>
            <a:off x="3974121" y="6443683"/>
            <a:ext cx="771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C2</a:t>
            </a:r>
            <a:endParaRPr lang="zh-CN" altLang="en-US" sz="20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4C800D8-56DE-4674-CEAE-6A0114B17503}"/>
              </a:ext>
            </a:extLst>
          </p:cNvPr>
          <p:cNvSpPr txBox="1"/>
          <p:nvPr/>
        </p:nvSpPr>
        <p:spPr>
          <a:xfrm>
            <a:off x="172380" y="1337850"/>
            <a:ext cx="11772605" cy="403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电荷重分配型采样保持电路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2181E6A-5AF0-2070-732C-AB9E79467A63}"/>
              </a:ext>
            </a:extLst>
          </p:cNvPr>
          <p:cNvSpPr txBox="1"/>
          <p:nvPr/>
        </p:nvSpPr>
        <p:spPr>
          <a:xfrm>
            <a:off x="2955812" y="882671"/>
            <a:ext cx="7498828" cy="3595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开关电容电路       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余量放大器 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共模反馈     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带隙基准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偏置电路</a:t>
            </a:r>
            <a:endParaRPr lang="en-US" altLang="zh-CN" sz="16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E141161-8C22-DE13-B993-D206FA0B3359}"/>
              </a:ext>
            </a:extLst>
          </p:cNvPr>
          <p:cNvSpPr txBox="1"/>
          <p:nvPr/>
        </p:nvSpPr>
        <p:spPr>
          <a:xfrm>
            <a:off x="6743069" y="1775350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两相非交叠时钟</a:t>
            </a:r>
          </a:p>
        </p:txBody>
      </p:sp>
    </p:spTree>
    <p:extLst>
      <p:ext uri="{BB962C8B-B14F-4D97-AF65-F5344CB8AC3E}">
        <p14:creationId xmlns:p14="http://schemas.microsoft.com/office/powerpoint/2010/main" val="25859061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增益自举运放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F7A4136-BC5E-3DB1-A44E-D57E35E1E19D}"/>
                  </a:ext>
                </a:extLst>
              </p:cNvPr>
              <p:cNvSpPr txBox="1"/>
              <p:nvPr/>
            </p:nvSpPr>
            <p:spPr>
              <a:xfrm>
                <a:off x="202163" y="1463556"/>
                <a:ext cx="11787675" cy="3458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b="1" kern="0" dirty="0">
                    <a:solidFill>
                      <a:srgbClr val="0070C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增益：</a:t>
                </a:r>
                <a:r>
                  <a:rPr lang="zh-CN" altLang="en-US" sz="16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代表</a:t>
                </a:r>
                <a:r>
                  <a:rPr lang="zh-CN" altLang="en-US" sz="1600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精度</a:t>
                </a:r>
                <a:r>
                  <a:rPr lang="zh-CN" altLang="en-US" sz="1600" kern="0" dirty="0"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，影响余量放大器电路的</a:t>
                </a:r>
                <a:r>
                  <a:rPr lang="zh-CN" altLang="en-US" sz="1600" kern="0" dirty="0">
                    <a:solidFill>
                      <a:srgbClr val="C00000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静态误差</a:t>
                </a:r>
                <a:endParaRPr lang="en-US" altLang="zh-CN" sz="1600" kern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b="1" kern="0" dirty="0">
                    <a:solidFill>
                      <a:srgbClr val="0070C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带宽：</a:t>
                </a:r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代表</a:t>
                </a:r>
                <a:r>
                  <a:rPr lang="zh-CN" altLang="en-US" sz="1600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速度</a:t>
                </a:r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，影响余量放大器电路的</a:t>
                </a:r>
                <a:r>
                  <a:rPr lang="zh-CN" altLang="en-US" sz="1600" kern="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动态误差</a:t>
                </a:r>
                <a:endParaRPr lang="en-US" altLang="zh-CN" sz="1600" kern="0" dirty="0">
                  <a:solidFill>
                    <a:srgbClr val="C00000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理想情况下，余量放大器放大倍数为</a:t>
                </a:r>
                <a:r>
                  <a:rPr lang="en-US" altLang="zh-CN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sz="1600" kern="0" baseline="3000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en-US" altLang="zh-CN" sz="16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=64 </a:t>
                </a: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倍  两位冗余</a:t>
                </a:r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位</a:t>
                </a: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加第二个</a:t>
                </a:r>
                <a:r>
                  <a:rPr lang="en-US" altLang="zh-CN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</a:t>
                </a:r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参考电压</a:t>
                </a: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只有第一个</a:t>
                </a:r>
                <a:r>
                  <a:rPr lang="en-US" altLang="zh-CN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ADC</a:t>
                </a: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一半，则只需要</a:t>
                </a:r>
                <a:r>
                  <a:rPr lang="en-US" altLang="zh-CN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8</a:t>
                </a: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倍</a:t>
                </a:r>
                <a:endParaRPr lang="en-US" altLang="zh-CN" sz="16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kern="0" dirty="0"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实际情况中，</a:t>
                </a:r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  <m:r>
                      <a:rPr lang="en-US" altLang="zh-CN" sz="16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CN" altLang="en-US" sz="16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zh-CN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den>
                        </m:f>
                      </m:e>
                    </m:d>
                    <m:r>
                      <a:rPr lang="en-US" altLang="zh-CN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e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−3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16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</m:t>
                                </m:r>
                              </m:sub>
                            </m:sSub>
                          </m:sup>
                        </m:sSup>
                      </m:e>
                    </m:d>
                    <m:d>
                      <m:dPr>
                        <m:ctrlP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in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cm</m:t>
                        </m:r>
                      </m:e>
                    </m:d>
                    <m:r>
                      <a:rPr lang="zh-CN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误差包括静态误差（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</m:oMath>
                </a14:m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）和动态误差（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sup>
                    </m:sSup>
                  </m:oMath>
                </a14:m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600" kern="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kern="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要求误差小于最小分辨率：误差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16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ε</m:t>
                    </m:r>
                    <m:r>
                      <a:rPr lang="zh-CN" alt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𝐿𝑆𝐵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假设静态误差和动态误差各占一半，</a:t>
                </a:r>
                <a:endParaRPr lang="en-US" altLang="zh-CN" sz="16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6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CN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zh-CN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𝐿𝑆𝐵</m:t>
                    </m:r>
                    <m:r>
                      <a:rPr lang="zh-CN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16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ref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</a:rPr>
                          <m:t>/2</m:t>
                        </m:r>
                      </m:num>
                      <m:den>
                        <m:sSup>
                          <m:sSupPr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600">
                        <a:latin typeface="Cambria Math" panose="02040503050406030204" pitchFamily="18" charset="0"/>
                      </a:rPr>
                      <m:t>V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</a:rPr>
                      <m:t>ref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=0.4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𝛽</m:t>
                    </m:r>
                    <m:r>
                      <a:rPr lang="zh-CN" altLang="en-US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zh-CN" altLang="en-US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128+16</m:t>
                        </m:r>
                      </m:den>
                    </m:f>
                    <m:r>
                      <a:rPr lang="zh-CN" altLang="en-US" sz="160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lang="zh-CN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r>
                      <a:rPr lang="zh-CN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6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𝟖𝟕</m:t>
                    </m:r>
                    <m:r>
                      <a:rPr lang="en-US" altLang="zh-CN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sz="1600" b="1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sz="1600" b="1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𝒅</m:t>
                    </m:r>
                  </m:oMath>
                </a14:m>
                <a:r>
                  <a:rPr lang="en-US" altLang="zh-CN" sz="1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sup>
                    </m:sSup>
                    <m:r>
                      <a:rPr lang="zh-CN" altLang="en-US" sz="1600"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1600" i="1">
                        <a:latin typeface="Cambria Math" panose="02040503050406030204" pitchFamily="18" charset="0"/>
                      </a:rPr>
                      <m:t>𝐿𝑆𝐵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CN" altLang="en-US" sz="160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zh-CN" altLang="en-US" sz="1600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zh-CN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altLang="zh-CN" sz="1600" b="0" i="0" smtClean="0"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</a:rPr>
                          <m:t>ref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/2</m:t>
                        </m:r>
                      </m:num>
                      <m:den>
                        <m:sSup>
                          <m:sSupPr>
                            <m:ctrlPr>
                              <a:rPr lang="zh-CN" alt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160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den>
                    </m:f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=5</m:t>
                    </m:r>
                    <m:r>
                      <m:rPr>
                        <m:sty m:val="p"/>
                      </m:rP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ns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为运算放大器建立时间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  <m:r>
                          <m:rPr>
                            <m:sty m:val="p"/>
                          </m:rP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d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2−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1.2</m:t>
                        </m:r>
                      </m:num>
                      <m:den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den>
                    </m:f>
                    <m:r>
                      <a:rPr lang="zh-CN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</a:t>
                </a:r>
                <a:r>
                  <a:rPr lang="en-US" altLang="zh-CN" sz="16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GBW=</a:t>
                </a:r>
                <a:r>
                  <a:rPr lang="en-US" altLang="zh-CN" sz="1600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−3</m:t>
                            </m:r>
                            <m:r>
                              <m:rPr>
                                <m:sty m:val="p"/>
                              </m:rP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d</m:t>
                            </m:r>
                            <m:r>
                              <a:rPr lang="en-US" altLang="zh-CN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zh-CN" altLang="en-US" sz="1600" i="1">
                            <a:latin typeface="Cambria Math" panose="02040503050406030204" pitchFamily="18" charset="0"/>
                          </a:rPr>
                          <m:t>𝛽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600" b="1" dirty="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1.222GHz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F7A4136-BC5E-3DB1-A44E-D57E35E1E1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163" y="1463556"/>
                <a:ext cx="11787675" cy="3458383"/>
              </a:xfrm>
              <a:prstGeom prst="rect">
                <a:avLst/>
              </a:prstGeom>
              <a:blipFill>
                <a:blip r:embed="rId4"/>
                <a:stretch>
                  <a:fillRect l="-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655BD472-7ADB-389C-075A-2D02A8CD5495}"/>
              </a:ext>
            </a:extLst>
          </p:cNvPr>
          <p:cNvSpPr txBox="1"/>
          <p:nvPr/>
        </p:nvSpPr>
        <p:spPr>
          <a:xfrm>
            <a:off x="2955812" y="882671"/>
            <a:ext cx="7498828" cy="3595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开关电容电路 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余量放大器 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共模反馈     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带隙基准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偏置电路</a:t>
            </a:r>
            <a:endParaRPr lang="en-US" altLang="zh-CN" sz="16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42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增益自举运放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216651-AFC7-4129-288B-2A4F6CD72F7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" y="1265292"/>
            <a:ext cx="8163560" cy="541998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0AEE3A5-E136-EC08-0174-270B5C41B5EC}"/>
                  </a:ext>
                </a:extLst>
              </p:cNvPr>
              <p:cNvSpPr txBox="1"/>
              <p:nvPr/>
            </p:nvSpPr>
            <p:spPr>
              <a:xfrm>
                <a:off x="8087360" y="1321236"/>
                <a:ext cx="4058920" cy="42430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C0000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折叠式共源共栅增益自举运算放大器</a:t>
                </a:r>
                <a:endParaRPr lang="en-US" altLang="zh-CN" sz="1400" b="1" dirty="0">
                  <a:solidFill>
                    <a:srgbClr val="C0000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增益：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  <m:r>
                      <a:rPr lang="zh-CN" altLang="en-US" sz="1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400" i="1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endParaRPr lang="en-US" altLang="zh-CN" sz="1400" b="1" dirty="0">
                  <a:solidFill>
                    <a:srgbClr val="0070C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结构：</a:t>
                </a:r>
                <a:r>
                  <a:rPr lang="zh-CN" altLang="en-US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以折叠式共源共栅为基础，在共栅端加</a:t>
                </a:r>
                <a:r>
                  <a:rPr lang="en-US" altLang="zh-CN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个附属放大器，两个附属放大器</a:t>
                </a:r>
                <a:r>
                  <a:rPr lang="en-US" altLang="zh-CN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AP</a:t>
                </a:r>
                <a:r>
                  <a:rPr lang="zh-CN" altLang="en-US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AN</a:t>
                </a:r>
                <a:r>
                  <a:rPr lang="zh-CN" altLang="en-US" sz="1400" kern="0" dirty="0">
                    <a:latin typeface="宋体" panose="02010600030101010101" pitchFamily="2" charset="-122"/>
                    <a:ea typeface="宋体" panose="02010600030101010101" pitchFamily="2" charset="-122"/>
                    <a:cs typeface="Times New Roman" panose="02020603050405020304" pitchFamily="18" charset="0"/>
                  </a:rPr>
                  <a:t>分别在共栅极的栅端和源端。</a:t>
                </a:r>
                <a:endParaRPr lang="en-US" altLang="zh-CN" sz="1400" kern="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b="1" dirty="0">
                    <a:solidFill>
                      <a:srgbClr val="0070C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优点：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实现高增益，大的带宽，不需要频率补偿，降低面积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C=50fF</a:t>
                </a: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要求：</a:t>
                </a:r>
                <a:endParaRPr lang="en-US" altLang="zh-CN" sz="1400" kern="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闭环的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3dB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带宽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&lt;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辅助运放</a:t>
                </a:r>
                <a:r>
                  <a:rPr lang="en-US" altLang="zh-CN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GBW&lt;</a:t>
                </a:r>
                <a:r>
                  <a:rPr lang="zh-CN" altLang="en-US" sz="1400" kern="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闭环的次极点</a:t>
                </a:r>
                <a:endParaRPr lang="en-US" altLang="zh-CN" sz="1400" kern="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Wingdings" panose="05000000000000000000" pitchFamily="2" charset="2"/>
                  <a:buChar char="n"/>
                </a:pPr>
                <a:endParaRPr lang="zh-CN" altLang="en-US" sz="1400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0AEE3A5-E136-EC08-0174-270B5C41B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7360" y="1321236"/>
                <a:ext cx="4058920" cy="4243021"/>
              </a:xfrm>
              <a:prstGeom prst="rect">
                <a:avLst/>
              </a:prstGeom>
              <a:blipFill>
                <a:blip r:embed="rId6"/>
                <a:stretch>
                  <a:fillRect l="-300" r="-4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A10536E-7728-703D-5D76-0C0FFD6C1122}"/>
              </a:ext>
            </a:extLst>
          </p:cNvPr>
          <p:cNvSpPr txBox="1"/>
          <p:nvPr/>
        </p:nvSpPr>
        <p:spPr>
          <a:xfrm>
            <a:off x="2955812" y="882671"/>
            <a:ext cx="7498828" cy="3595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开关电容电路 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余量放大器 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共模反馈     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带隙基准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偏置电路</a:t>
            </a:r>
            <a:endParaRPr lang="en-US" altLang="zh-CN" sz="16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61051C-E7DF-FBFA-7245-A799FA8729E4}"/>
              </a:ext>
            </a:extLst>
          </p:cNvPr>
          <p:cNvSpPr txBox="1"/>
          <p:nvPr/>
        </p:nvSpPr>
        <p:spPr>
          <a:xfrm>
            <a:off x="306451" y="3836785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106ACE-6307-4128-1A58-9D066442AEC6}"/>
              </a:ext>
            </a:extLst>
          </p:cNvPr>
          <p:cNvSpPr txBox="1"/>
          <p:nvPr/>
        </p:nvSpPr>
        <p:spPr>
          <a:xfrm>
            <a:off x="1765137" y="3836785"/>
            <a:ext cx="4074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M2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9662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增益自举运放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59D0142-ACA8-36C1-B77E-25B271810B19}"/>
              </a:ext>
            </a:extLst>
          </p:cNvPr>
          <p:cNvSpPr txBox="1"/>
          <p:nvPr/>
        </p:nvSpPr>
        <p:spPr>
          <a:xfrm>
            <a:off x="149290" y="5680520"/>
            <a:ext cx="10833670" cy="784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采用差分折叠共源共栅电路</a:t>
            </a:r>
            <a:endParaRPr lang="en-US" altLang="zh-CN" sz="16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由于差分电路需要共模反馈，所以两个附属放大器采用 </a:t>
            </a:r>
            <a:r>
              <a:rPr lang="en-US" altLang="zh-CN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r>
              <a:rPr lang="zh-CN" altLang="en-US" sz="1600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设定工作在合适的共模点</a:t>
            </a:r>
            <a:endParaRPr lang="en-US" altLang="zh-CN" sz="1600" kern="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0F5841-BD15-E2FB-53D0-E512A85369F6}"/>
              </a:ext>
            </a:extLst>
          </p:cNvPr>
          <p:cNvSpPr txBox="1"/>
          <p:nvPr/>
        </p:nvSpPr>
        <p:spPr>
          <a:xfrm>
            <a:off x="517936" y="3032795"/>
            <a:ext cx="439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C1717C-EF65-D3B0-CF97-50D96C95157C}"/>
              </a:ext>
            </a:extLst>
          </p:cNvPr>
          <p:cNvSpPr txBox="1"/>
          <p:nvPr/>
        </p:nvSpPr>
        <p:spPr>
          <a:xfrm>
            <a:off x="6189756" y="4526315"/>
            <a:ext cx="439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1" dirty="0">
                <a:solidFill>
                  <a:srgbClr val="CC04D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M1</a:t>
            </a:r>
            <a:endParaRPr lang="zh-CN" altLang="en-US" sz="1200" b="1" dirty="0">
              <a:solidFill>
                <a:srgbClr val="CC04D1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E2937F0-C77A-24F9-74AB-4CD031CCA926}"/>
              </a:ext>
            </a:extLst>
          </p:cNvPr>
          <p:cNvSpPr txBox="1"/>
          <p:nvPr/>
        </p:nvSpPr>
        <p:spPr>
          <a:xfrm>
            <a:off x="1590002" y="2302649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NMOS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输入对管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FC0A22A-6FB2-FDD5-CCF0-DC52DB0F0D6A}"/>
              </a:ext>
            </a:extLst>
          </p:cNvPr>
          <p:cNvSpPr txBox="1"/>
          <p:nvPr/>
        </p:nvSpPr>
        <p:spPr>
          <a:xfrm>
            <a:off x="7219057" y="4341649"/>
            <a:ext cx="1781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PMOS</a:t>
            </a:r>
            <a:r>
              <a: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输入对管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B882EB5-8A02-6298-F352-9A6F92D243E4}"/>
              </a:ext>
            </a:extLst>
          </p:cNvPr>
          <p:cNvSpPr txBox="1"/>
          <p:nvPr/>
        </p:nvSpPr>
        <p:spPr>
          <a:xfrm>
            <a:off x="2955812" y="882671"/>
            <a:ext cx="7498828" cy="3595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开关电容电路 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余量放大器      </a:t>
            </a: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共模反馈     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带隙基准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偏置电路</a:t>
            </a:r>
            <a:endParaRPr lang="en-US" altLang="zh-CN" sz="1600" b="1" kern="1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15B8BF9-F7BE-3FCB-C41D-C335AE1BEC14}"/>
              </a:ext>
            </a:extLst>
          </p:cNvPr>
          <p:cNvSpPr txBox="1"/>
          <p:nvPr/>
        </p:nvSpPr>
        <p:spPr>
          <a:xfrm>
            <a:off x="2212340" y="5355991"/>
            <a:ext cx="154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en-US" altLang="zh-CN" sz="1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en-US" b="1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4EF44FA-2DA1-B48C-D2E3-1AF2CF9FAB7C}"/>
              </a:ext>
            </a:extLst>
          </p:cNvPr>
          <p:cNvSpPr txBox="1"/>
          <p:nvPr/>
        </p:nvSpPr>
        <p:spPr>
          <a:xfrm>
            <a:off x="8298180" y="5355991"/>
            <a:ext cx="1546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en-US" altLang="zh-CN" sz="18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en-US" b="1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B8E22CE-3E02-1682-E595-E9AF00BABE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428" y="1536733"/>
            <a:ext cx="6079409" cy="37711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A93608BF-A578-3827-56F1-B6E2E291C3FA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" y="1536733"/>
            <a:ext cx="5751518" cy="3769998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186400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:a16="http://schemas.microsoft.com/office/drawing/2014/main" id="{024B349E-8FB4-2B97-1266-CAD735A7CF4F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023903" y="-5227276"/>
            <a:ext cx="91321" cy="1184054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141D7C-01C8-340B-3616-84C42A90E889}"/>
              </a:ext>
            </a:extLst>
          </p:cNvPr>
          <p:cNvSpPr txBox="1"/>
          <p:nvPr/>
        </p:nvSpPr>
        <p:spPr>
          <a:xfrm>
            <a:off x="45720" y="803628"/>
            <a:ext cx="30074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lang="en-US" altLang="zh-CN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Times New Roman" panose="02020603050405020304" pitchFamily="18" charset="0"/>
                <a:ea typeface="华光标题宋_CNKI" panose="02000500000000000000" pitchFamily="2" charset="-122"/>
                <a:cs typeface="Times New Roman" panose="02020603050405020304" pitchFamily="18" charset="0"/>
              </a:rPr>
              <a:t>增益自举运放</a:t>
            </a:r>
            <a:endParaRPr lang="en-US" altLang="zh-CN" sz="2400" dirty="0">
              <a:latin typeface="Times New Roman" panose="02020603050405020304" pitchFamily="18" charset="0"/>
              <a:ea typeface="华光标题宋_CNKI" panose="02000500000000000000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E5185AE-B940-56DA-4EC5-56707D25E81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" y="1409306"/>
            <a:ext cx="7375983" cy="429045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7B0715C-C7A1-41CD-FB3C-82B6DEA021F3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000001"/>
              </a:clrFrom>
              <a:clrTo>
                <a:srgbClr val="00000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4054" y="1938107"/>
            <a:ext cx="4233482" cy="348258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C918567-52CF-89DC-75B2-F3A1DADFFD78}"/>
              </a:ext>
            </a:extLst>
          </p:cNvPr>
          <p:cNvSpPr txBox="1"/>
          <p:nvPr/>
        </p:nvSpPr>
        <p:spPr>
          <a:xfrm>
            <a:off x="11352442" y="2542767"/>
            <a:ext cx="96147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605.3mV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02E226-402C-7E6A-56EA-276602DC32D7}"/>
              </a:ext>
            </a:extLst>
          </p:cNvPr>
          <p:cNvSpPr txBox="1"/>
          <p:nvPr/>
        </p:nvSpPr>
        <p:spPr>
          <a:xfrm>
            <a:off x="11352442" y="2837409"/>
            <a:ext cx="96147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1V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0ACF55-2832-0FAD-29BF-00EC7CD3EAC5}"/>
              </a:ext>
            </a:extLst>
          </p:cNvPr>
          <p:cNvSpPr txBox="1"/>
          <p:nvPr/>
        </p:nvSpPr>
        <p:spPr>
          <a:xfrm>
            <a:off x="11352442" y="3097136"/>
            <a:ext cx="96147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382.3mV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762C81-2F93-CF9A-68C9-7DCD01CECD39}"/>
              </a:ext>
            </a:extLst>
          </p:cNvPr>
          <p:cNvSpPr txBox="1"/>
          <p:nvPr/>
        </p:nvSpPr>
        <p:spPr>
          <a:xfrm>
            <a:off x="11330791" y="4148458"/>
            <a:ext cx="96147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820.1mV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28E235D-083E-96AB-C2B5-EC9A65C3D10C}"/>
              </a:ext>
            </a:extLst>
          </p:cNvPr>
          <p:cNvSpPr txBox="1"/>
          <p:nvPr/>
        </p:nvSpPr>
        <p:spPr>
          <a:xfrm>
            <a:off x="11330791" y="4894156"/>
            <a:ext cx="96147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614.6mV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1D5685F-D7ED-43F3-9DBA-CB1C6F5FDC1B}"/>
              </a:ext>
            </a:extLst>
          </p:cNvPr>
          <p:cNvSpPr txBox="1"/>
          <p:nvPr/>
        </p:nvSpPr>
        <p:spPr>
          <a:xfrm>
            <a:off x="11330791" y="4319394"/>
            <a:ext cx="96147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203.9mV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EAE5AF0-1029-8902-EF6C-7BF20DD1C6F0}"/>
              </a:ext>
            </a:extLst>
          </p:cNvPr>
          <p:cNvSpPr txBox="1"/>
          <p:nvPr/>
        </p:nvSpPr>
        <p:spPr>
          <a:xfrm>
            <a:off x="5659211" y="2929077"/>
            <a:ext cx="1165750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728.92mV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B22114C-F286-6D78-25AD-A61A4848F6F4}"/>
              </a:ext>
            </a:extLst>
          </p:cNvPr>
          <p:cNvSpPr txBox="1"/>
          <p:nvPr/>
        </p:nvSpPr>
        <p:spPr>
          <a:xfrm>
            <a:off x="6667702" y="1444670"/>
            <a:ext cx="616352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2uA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645419D-67E5-2098-F59D-40CDAF8A94D2}"/>
              </a:ext>
            </a:extLst>
          </p:cNvPr>
          <p:cNvSpPr txBox="1"/>
          <p:nvPr/>
        </p:nvSpPr>
        <p:spPr>
          <a:xfrm>
            <a:off x="3965142" y="3450360"/>
            <a:ext cx="616352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1400" b="1" kern="0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8pF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097B802-E4AD-7D8A-04CD-46D60C820FC4}"/>
              </a:ext>
            </a:extLst>
          </p:cNvPr>
          <p:cNvSpPr txBox="1"/>
          <p:nvPr/>
        </p:nvSpPr>
        <p:spPr>
          <a:xfrm>
            <a:off x="3089031" y="5762352"/>
            <a:ext cx="1188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带隙基准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1A6C5A1-A614-D72F-C4EE-BE178B477DF9}"/>
              </a:ext>
            </a:extLst>
          </p:cNvPr>
          <p:cNvSpPr txBox="1"/>
          <p:nvPr/>
        </p:nvSpPr>
        <p:spPr>
          <a:xfrm>
            <a:off x="9261231" y="5577686"/>
            <a:ext cx="1188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偏置电路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AD4F00E-8E4E-A9C8-A69A-DADDA2506E6F}"/>
              </a:ext>
            </a:extLst>
          </p:cNvPr>
          <p:cNvSpPr txBox="1"/>
          <p:nvPr/>
        </p:nvSpPr>
        <p:spPr>
          <a:xfrm>
            <a:off x="2955812" y="882671"/>
            <a:ext cx="7498828" cy="3595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开关电容电路 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余量放大器 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附属放大器</a:t>
            </a:r>
            <a:r>
              <a:rPr lang="zh-CN" altLang="en-US" sz="1600" b="1" kern="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zh-CN" altLang="en-US" sz="1600" b="1" kern="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共模反馈      </a:t>
            </a:r>
            <a:r>
              <a:rPr lang="zh-CN" altLang="en-US" sz="1600" b="1" kern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带隙基准     </a:t>
            </a:r>
            <a:r>
              <a:rPr lang="zh-CN" altLang="en-US" sz="1600" b="1" kern="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偏置电路</a:t>
            </a:r>
            <a:endParaRPr lang="en-US" altLang="zh-CN" sz="1600" b="1" kern="1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6881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468A7413-18B2-4EE9-A1E2-956E1E2E65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6901"/>
            <a:ext cx="12192000" cy="296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93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11927</TotalTime>
  <Words>2740</Words>
  <Application>Microsoft Office PowerPoint</Application>
  <PresentationFormat>宽屏</PresentationFormat>
  <Paragraphs>278</Paragraphs>
  <Slides>25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5" baseType="lpstr">
      <vt:lpstr>F5</vt:lpstr>
      <vt:lpstr>等线</vt:lpstr>
      <vt:lpstr>等线 Light</vt:lpstr>
      <vt:lpstr>宋体</vt:lpstr>
      <vt:lpstr>Arial</vt:lpstr>
      <vt:lpstr>Cambria Math</vt:lpstr>
      <vt:lpstr>Times New Roman</vt:lpstr>
      <vt:lpstr>Wingdings</vt:lpstr>
      <vt:lpstr>Office 主题​​</vt:lpstr>
      <vt:lpstr>Unknown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xiang qi</dc:creator>
  <cp:lastModifiedBy>Chen Xu</cp:lastModifiedBy>
  <cp:revision>1100</cp:revision>
  <dcterms:created xsi:type="dcterms:W3CDTF">2022-07-09T07:21:37Z</dcterms:created>
  <dcterms:modified xsi:type="dcterms:W3CDTF">2023-09-20T14:39:15Z</dcterms:modified>
</cp:coreProperties>
</file>