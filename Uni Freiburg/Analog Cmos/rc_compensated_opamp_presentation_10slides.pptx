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56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User-provided Analog CMOS assignment brief and project simulation data.</a:t>
            </a:r>
          </a:p>
          <a:p>
            <a:endParaRPr/>
          </a:p>
          <a:p>
            <a:r>
              <a:t>Presenter cue: Introduce the circuit and state that the figures and results will be filled from the final Cadence runs.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User-provided Analog CMOS assignment brief and project simulation data.</a:t>
            </a:r>
          </a:p>
          <a:p>
            <a:endParaRPr/>
          </a:p>
          <a:p>
            <a:r>
              <a:t>Presenter cue: Read the required limits briefly. Use the Result column after inserting your measured values.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User-provided Analog CMOS assignment brief and project simulation data.</a:t>
            </a:r>
          </a:p>
          <a:p>
            <a:endParaRPr/>
          </a:p>
          <a:p>
            <a:r>
              <a:t>Presenter cue: Use the schematic to identify the two gain stages and the feedback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User-provided Analog CMOS assignment brief and project simulation data.</a:t>
            </a:r>
          </a:p>
          <a:p>
            <a:endParaRPr/>
          </a:p>
          <a:p>
            <a:r>
              <a:t>Presenter cue: Show only the dimensions relevant to gain, matching, speed and compensation.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User-provided Analog CMOS assignment brief and project simulation data.</a:t>
            </a:r>
          </a:p>
          <a:p>
            <a:endParaRPr/>
          </a:p>
          <a:p>
            <a:r>
              <a:t>Presenter cue: Show the actual Cadence schematics or screenshots in the left frame.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User-provided Analog CMOS assignment brief and project simulation data.</a:t>
            </a:r>
          </a:p>
          <a:p>
            <a:endParaRPr/>
          </a:p>
          <a:p>
            <a:r>
              <a:t>Presenter cue: Read the three cursor values from the plot and compare them with the limits on slide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User-provided Analog CMOS assignment brief and project simulation data.</a:t>
            </a:r>
          </a:p>
          <a:p>
            <a:endParaRPr/>
          </a:p>
          <a:p>
            <a:r>
              <a:t>Presenter cue: Keep each plot representative. Explain the slope measurement window and the ICMR pass criterion.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User-provided Analog CMOS assignment brief and project simulation data.</a:t>
            </a:r>
          </a:p>
          <a:p>
            <a:endParaRPr/>
          </a:p>
          <a:p>
            <a:r>
              <a:t>Presenter cue: Mention that offset Monte Carlo is run at nominal circuit conditions, as required by the assignment.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User-provided Analog CMOS assignment brief and project simulation data.</a:t>
            </a:r>
          </a:p>
          <a:p>
            <a:endParaRPr/>
          </a:p>
          <a:p>
            <a:r>
              <a:t>Presenter cue: Use a heatmap or min/max table so it is clear that all 45 combinations were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User-provided Analog CMOS assignment brief and project simulation data.</a:t>
            </a:r>
          </a:p>
          <a:p>
            <a:endParaRPr/>
          </a:p>
          <a:p>
            <a:r>
              <a:t>Presenter cue: End with the scorecard, then mention the most important sizing change before opening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/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7BACEF2-08CC-4AD2-B8B9-556727106EE7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7867650" cy="1371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 i="0">
                <a:solidFill>
                  <a:srgbClr val="197C78"/>
                </a:solidFill>
              </a:defRPr>
            </a:pPr>
            <a:r>
              <a:rPr sz="4400" b="1" i="0" dirty="0">
                <a:solidFill>
                  <a:srgbClr val="197C78"/>
                </a:solidFill>
              </a:rPr>
              <a:t>ANALOG CMOS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15366BF-53C0-4D52-93EB-9E41AEB2E835}"/>
              </a:ext>
            </a:extLst>
          </p:cNvPr>
          <p:cNvSpPr>
            <a:spLocks noGrp="1"/>
          </p:cNvSpPr>
          <p:nvPr/>
        </p:nvSpPr>
        <p:spPr>
          <a:xfrm>
            <a:off x="685800" y="2257425"/>
            <a:ext cx="666750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900" b="1" i="0">
                <a:solidFill>
                  <a:srgbClr val="17324D"/>
                </a:solidFill>
              </a:defRPr>
            </a:pPr>
            <a:r>
              <a:rPr sz="6600" b="1" i="0" dirty="0">
                <a:solidFill>
                  <a:srgbClr val="17324D"/>
                </a:solidFill>
              </a:rPr>
              <a:t>Two-Stage OPAMP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8990E9B-AA3F-460D-B0EC-43ED304EF7F0}"/>
              </a:ext>
            </a:extLst>
          </p:cNvPr>
          <p:cNvSpPr>
            <a:spLocks noGrp="1"/>
          </p:cNvSpPr>
          <p:nvPr/>
        </p:nvSpPr>
        <p:spPr>
          <a:xfrm>
            <a:off x="828675" y="4448175"/>
            <a:ext cx="7343775" cy="1790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 i="0">
                <a:solidFill>
                  <a:srgbClr val="687887"/>
                </a:solidFill>
              </a:defRPr>
            </a:pPr>
            <a:r>
              <a:rPr lang="en-US" sz="2000" dirty="0" err="1"/>
              <a:t>Z</a:t>
            </a:r>
            <a:r>
              <a:rPr lang="en-US" altLang="zh-CN" sz="2000" dirty="0" err="1"/>
              <a:t>hanyu</a:t>
            </a:r>
            <a:r>
              <a:rPr lang="en-US" altLang="zh-CN" sz="2000" dirty="0"/>
              <a:t> Dong 6159975</a:t>
            </a:r>
          </a:p>
          <a:p>
            <a:pPr>
              <a:defRPr sz="1350" b="0" i="0">
                <a:solidFill>
                  <a:srgbClr val="687887"/>
                </a:solidFill>
              </a:defRPr>
            </a:pPr>
            <a:r>
              <a:rPr lang="en-US" altLang="zh-CN" sz="2000" dirty="0"/>
              <a:t>Sumit Kumar Patel 6992625</a:t>
            </a:r>
          </a:p>
        </p:txBody>
      </p:sp>
    </p:spTree>
    <p:extLst>
      <p:ext uri="{BB962C8B-B14F-4D97-AF65-F5344CB8AC3E}">
        <p14:creationId xmlns:p14="http://schemas.microsoft.com/office/powerpoint/2010/main" val="20534931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矩形 48">
            <a:extLst>
              <a:ext uri="{FF2B5EF4-FFF2-40B4-BE49-F238E27FC236}">
                <a16:creationId xmlns:a16="http://schemas.microsoft.com/office/drawing/2014/main" id="{65347FBA-FAEE-4CEC-970D-922195FAD90D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438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 i="0">
                <a:solidFill>
                  <a:srgbClr val="197C78"/>
                </a:solidFill>
              </a:defRPr>
            </a:pPr>
            <a:r>
              <a:rPr sz="900" b="1" i="0">
                <a:solidFill>
                  <a:srgbClr val="197C78"/>
                </a:solidFill>
              </a:rPr>
              <a:t>DESIGN TARGET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4DB6B87-716C-4486-8940-6846D38531DC}"/>
              </a:ext>
            </a:extLst>
          </p:cNvPr>
          <p:cNvSpPr>
            <a:spLocks noGrp="1"/>
          </p:cNvSpPr>
          <p:nvPr/>
        </p:nvSpPr>
        <p:spPr>
          <a:xfrm>
            <a:off x="685800" y="571500"/>
            <a:ext cx="10287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625" b="1" i="0">
                <a:solidFill>
                  <a:srgbClr val="17324D"/>
                </a:solidFill>
              </a:defRPr>
            </a:pPr>
            <a:r>
              <a:rPr sz="2625" b="1" i="0" dirty="0">
                <a:solidFill>
                  <a:srgbClr val="17324D"/>
                </a:solidFill>
              </a:rPr>
              <a:t>Specifications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ECD6A4D7-906C-4F94-A8EF-AD8052A589CA}"/>
              </a:ext>
            </a:extLst>
          </p:cNvPr>
          <p:cNvSpPr>
            <a:spLocks noGrp="1"/>
          </p:cNvSpPr>
          <p:nvPr/>
        </p:nvSpPr>
        <p:spPr>
          <a:xfrm>
            <a:off x="685800" y="1200150"/>
            <a:ext cx="10820400" cy="0"/>
          </a:xfrm>
          <a:prstGeom prst="line">
            <a:avLst/>
          </a:prstGeom>
          <a:noFill/>
          <a:ln w="9525">
            <a:solidFill>
              <a:srgbClr val="D6DEE5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EF29682-5A28-487C-B2E9-780C709D152D}"/>
              </a:ext>
            </a:extLst>
          </p:cNvPr>
          <p:cNvSpPr>
            <a:spLocks noGrp="1"/>
          </p:cNvSpPr>
          <p:nvPr/>
        </p:nvSpPr>
        <p:spPr>
          <a:xfrm>
            <a:off x="11001375" y="333375"/>
            <a:ext cx="5048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1" i="0">
                <a:solidFill>
                  <a:srgbClr val="687887"/>
                </a:solidFill>
              </a:defRPr>
            </a:pPr>
            <a:r>
              <a:rPr sz="975" b="1" i="0">
                <a:solidFill>
                  <a:srgbClr val="687887"/>
                </a:solidFill>
              </a:rPr>
              <a:t>02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D9850D65-93F0-4D75-8700-1816391F8720}"/>
              </a:ext>
            </a:extLst>
          </p:cNvPr>
          <p:cNvSpPr>
            <a:spLocks noGrp="1"/>
          </p:cNvSpPr>
          <p:nvPr/>
        </p:nvSpPr>
        <p:spPr>
          <a:xfrm>
            <a:off x="685800" y="1581150"/>
            <a:ext cx="10820400" cy="4114800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9525">
            <a:solidFill>
              <a:srgbClr val="D6DEE5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FF3692C-2954-47B6-9984-9E027C20F280}"/>
              </a:ext>
            </a:extLst>
          </p:cNvPr>
          <p:cNvSpPr>
            <a:spLocks noGrp="1"/>
          </p:cNvSpPr>
          <p:nvPr/>
        </p:nvSpPr>
        <p:spPr>
          <a:xfrm>
            <a:off x="933450" y="1809750"/>
            <a:ext cx="2476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 i="0">
                <a:solidFill>
                  <a:srgbClr val="687887"/>
                </a:solidFill>
              </a:defRPr>
            </a:pPr>
            <a:r>
              <a:rPr sz="1125" b="1" i="0">
                <a:solidFill>
                  <a:srgbClr val="687887"/>
                </a:solidFill>
              </a:rPr>
              <a:t>Parameter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347653D-FC15-4B3A-B611-1B19AE34B123}"/>
              </a:ext>
            </a:extLst>
          </p:cNvPr>
          <p:cNvSpPr>
            <a:spLocks noGrp="1"/>
          </p:cNvSpPr>
          <p:nvPr/>
        </p:nvSpPr>
        <p:spPr>
          <a:xfrm>
            <a:off x="3810000" y="1809750"/>
            <a:ext cx="2476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 i="0">
                <a:solidFill>
                  <a:srgbClr val="687887"/>
                </a:solidFill>
              </a:defRPr>
            </a:pPr>
            <a:r>
              <a:rPr sz="1125" b="1" i="0">
                <a:solidFill>
                  <a:srgbClr val="687887"/>
                </a:solidFill>
              </a:rPr>
              <a:t>Symbol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5958480-D668-4328-A525-7733B3373936}"/>
              </a:ext>
            </a:extLst>
          </p:cNvPr>
          <p:cNvSpPr>
            <a:spLocks noGrp="1"/>
          </p:cNvSpPr>
          <p:nvPr/>
        </p:nvSpPr>
        <p:spPr>
          <a:xfrm>
            <a:off x="5429250" y="1809750"/>
            <a:ext cx="2476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 i="0">
                <a:solidFill>
                  <a:srgbClr val="687887"/>
                </a:solidFill>
              </a:defRPr>
            </a:pPr>
            <a:r>
              <a:rPr sz="1125" b="1" i="0">
                <a:solidFill>
                  <a:srgbClr val="687887"/>
                </a:solidFill>
              </a:rPr>
              <a:t>Specification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89259EA-F2C3-46A6-BB72-35D918750070}"/>
              </a:ext>
            </a:extLst>
          </p:cNvPr>
          <p:cNvSpPr>
            <a:spLocks noGrp="1"/>
          </p:cNvSpPr>
          <p:nvPr/>
        </p:nvSpPr>
        <p:spPr>
          <a:xfrm>
            <a:off x="9048750" y="1809750"/>
            <a:ext cx="1714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 i="0">
                <a:solidFill>
                  <a:srgbClr val="687887"/>
                </a:solidFill>
              </a:defRPr>
            </a:pPr>
            <a:r>
              <a:rPr sz="1125" b="1" i="0">
                <a:solidFill>
                  <a:srgbClr val="687887"/>
                </a:solidFill>
              </a:rPr>
              <a:t>Result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D895352-D18E-4B5D-ABDE-1313EE3DFBE2}"/>
              </a:ext>
            </a:extLst>
          </p:cNvPr>
          <p:cNvSpPr>
            <a:spLocks noGrp="1"/>
          </p:cNvSpPr>
          <p:nvPr/>
        </p:nvSpPr>
        <p:spPr>
          <a:xfrm>
            <a:off x="838200" y="2124075"/>
            <a:ext cx="10477500" cy="361950"/>
          </a:xfrm>
          <a:prstGeom prst="rect">
            <a:avLst/>
          </a:prstGeom>
          <a:solidFill>
            <a:srgbClr val="F8FAFC"/>
          </a:solidFill>
          <a:ln w="9525">
            <a:solidFill>
              <a:srgbClr val="F8FAFC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8932295-5C12-478A-A637-44E0FE4B0837}"/>
              </a:ext>
            </a:extLst>
          </p:cNvPr>
          <p:cNvSpPr>
            <a:spLocks noGrp="1"/>
          </p:cNvSpPr>
          <p:nvPr/>
        </p:nvSpPr>
        <p:spPr>
          <a:xfrm>
            <a:off x="933450" y="2152650"/>
            <a:ext cx="2714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 i="0">
                <a:solidFill>
                  <a:srgbClr val="1E2935"/>
                </a:solidFill>
              </a:defRPr>
            </a:pPr>
            <a:r>
              <a:rPr sz="1125" b="0" i="0">
                <a:solidFill>
                  <a:srgbClr val="1E2935"/>
                </a:solidFill>
              </a:rPr>
              <a:t>Load capacitance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14153DE-8F47-482B-B878-99A95945F9C6}"/>
              </a:ext>
            </a:extLst>
          </p:cNvPr>
          <p:cNvSpPr>
            <a:spLocks noGrp="1"/>
          </p:cNvSpPr>
          <p:nvPr/>
        </p:nvSpPr>
        <p:spPr>
          <a:xfrm>
            <a:off x="3810000" y="2152650"/>
            <a:ext cx="123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 i="0">
                <a:solidFill>
                  <a:srgbClr val="197C78"/>
                </a:solidFill>
              </a:defRPr>
            </a:pPr>
            <a:r>
              <a:rPr sz="1125" b="1" i="0">
                <a:solidFill>
                  <a:srgbClr val="197C78"/>
                </a:solidFill>
              </a:rPr>
              <a:t>CL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1993A7B-883D-401E-8A16-2054A4A19EA0}"/>
              </a:ext>
            </a:extLst>
          </p:cNvPr>
          <p:cNvSpPr>
            <a:spLocks noGrp="1"/>
          </p:cNvSpPr>
          <p:nvPr/>
        </p:nvSpPr>
        <p:spPr>
          <a:xfrm>
            <a:off x="5429250" y="215265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 i="0">
                <a:solidFill>
                  <a:srgbClr val="1E2935"/>
                </a:solidFill>
              </a:defRPr>
            </a:pPr>
            <a:r>
              <a:rPr sz="1125" b="0" i="0">
                <a:solidFill>
                  <a:srgbClr val="1E2935"/>
                </a:solidFill>
              </a:rPr>
              <a:t>3 pF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B102E9C-6E51-467F-A953-128D0BDB3C41}"/>
              </a:ext>
            </a:extLst>
          </p:cNvPr>
          <p:cNvSpPr>
            <a:spLocks noGrp="1"/>
          </p:cNvSpPr>
          <p:nvPr/>
        </p:nvSpPr>
        <p:spPr>
          <a:xfrm>
            <a:off x="9048750" y="21526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 i="0">
                <a:solidFill>
                  <a:srgbClr val="C65B43"/>
                </a:solidFill>
              </a:defRPr>
            </a:pPr>
            <a:r>
              <a:rPr sz="1125" b="1" i="0">
                <a:solidFill>
                  <a:srgbClr val="C65B43"/>
                </a:solidFill>
              </a:rPr>
              <a:t>[__]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E600320-807C-470A-9EB0-04B398F848B4}"/>
              </a:ext>
            </a:extLst>
          </p:cNvPr>
          <p:cNvSpPr>
            <a:spLocks noGrp="1"/>
          </p:cNvSpPr>
          <p:nvPr/>
        </p:nvSpPr>
        <p:spPr>
          <a:xfrm>
            <a:off x="933450" y="2562225"/>
            <a:ext cx="2714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 i="0">
                <a:solidFill>
                  <a:srgbClr val="1E2935"/>
                </a:solidFill>
              </a:defRPr>
            </a:pPr>
            <a:r>
              <a:rPr sz="1125" b="0" i="0">
                <a:solidFill>
                  <a:srgbClr val="1E2935"/>
                </a:solidFill>
              </a:rPr>
              <a:t>DC gain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B397607-1A84-4667-9133-ABEC11D0C6F4}"/>
              </a:ext>
            </a:extLst>
          </p:cNvPr>
          <p:cNvSpPr>
            <a:spLocks noGrp="1"/>
          </p:cNvSpPr>
          <p:nvPr/>
        </p:nvSpPr>
        <p:spPr>
          <a:xfrm>
            <a:off x="3810000" y="2562225"/>
            <a:ext cx="123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 i="0">
                <a:solidFill>
                  <a:srgbClr val="197C78"/>
                </a:solidFill>
              </a:defRPr>
            </a:pPr>
            <a:r>
              <a:rPr sz="1125" b="1" i="0">
                <a:solidFill>
                  <a:srgbClr val="197C78"/>
                </a:solidFill>
              </a:rPr>
              <a:t>ADC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2597578-D1DD-4AFB-AC6B-3554E0495C92}"/>
              </a:ext>
            </a:extLst>
          </p:cNvPr>
          <p:cNvSpPr>
            <a:spLocks noGrp="1"/>
          </p:cNvSpPr>
          <p:nvPr/>
        </p:nvSpPr>
        <p:spPr>
          <a:xfrm>
            <a:off x="5429250" y="2562225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 i="0">
                <a:solidFill>
                  <a:srgbClr val="1E2935"/>
                </a:solidFill>
              </a:defRPr>
            </a:pPr>
            <a:r>
              <a:rPr sz="1125" b="0" i="0">
                <a:solidFill>
                  <a:srgbClr val="1E2935"/>
                </a:solidFill>
              </a:rPr>
              <a:t>&gt; 75 dB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CA53675-CD66-4AAC-8FE9-6D1DB1831791}"/>
              </a:ext>
            </a:extLst>
          </p:cNvPr>
          <p:cNvSpPr>
            <a:spLocks noGrp="1"/>
          </p:cNvSpPr>
          <p:nvPr/>
        </p:nvSpPr>
        <p:spPr>
          <a:xfrm>
            <a:off x="9048750" y="2562225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 i="0">
                <a:solidFill>
                  <a:srgbClr val="C65B43"/>
                </a:solidFill>
              </a:defRPr>
            </a:pPr>
            <a:r>
              <a:rPr sz="1125" b="1" i="0">
                <a:solidFill>
                  <a:srgbClr val="C65B43"/>
                </a:solidFill>
              </a:rPr>
              <a:t>[__] dB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BD9E9C8-39E3-4588-9DF2-25AF046BF685}"/>
              </a:ext>
            </a:extLst>
          </p:cNvPr>
          <p:cNvSpPr>
            <a:spLocks noGrp="1"/>
          </p:cNvSpPr>
          <p:nvPr/>
        </p:nvSpPr>
        <p:spPr>
          <a:xfrm>
            <a:off x="838200" y="2943225"/>
            <a:ext cx="10477500" cy="361950"/>
          </a:xfrm>
          <a:prstGeom prst="rect">
            <a:avLst/>
          </a:prstGeom>
          <a:solidFill>
            <a:srgbClr val="F8FAFC"/>
          </a:solidFill>
          <a:ln w="9525">
            <a:solidFill>
              <a:srgbClr val="F8FAFC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FDCDE08-0C52-4376-BC7D-1DD7D2108715}"/>
              </a:ext>
            </a:extLst>
          </p:cNvPr>
          <p:cNvSpPr>
            <a:spLocks noGrp="1"/>
          </p:cNvSpPr>
          <p:nvPr/>
        </p:nvSpPr>
        <p:spPr>
          <a:xfrm>
            <a:off x="933450" y="2971800"/>
            <a:ext cx="2714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 i="0">
                <a:solidFill>
                  <a:srgbClr val="1E2935"/>
                </a:solidFill>
              </a:defRPr>
            </a:pPr>
            <a:r>
              <a:rPr sz="1125" b="0" i="0">
                <a:solidFill>
                  <a:srgbClr val="1E2935"/>
                </a:solidFill>
              </a:rPr>
              <a:t>Unity-gain frequency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AF2313E-05D1-4A6C-8356-D31E279D406B}"/>
              </a:ext>
            </a:extLst>
          </p:cNvPr>
          <p:cNvSpPr>
            <a:spLocks noGrp="1"/>
          </p:cNvSpPr>
          <p:nvPr/>
        </p:nvSpPr>
        <p:spPr>
          <a:xfrm>
            <a:off x="3810000" y="2971800"/>
            <a:ext cx="123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 i="0">
                <a:solidFill>
                  <a:srgbClr val="197C78"/>
                </a:solidFill>
              </a:defRPr>
            </a:pPr>
            <a:r>
              <a:rPr sz="1125" b="1" i="0">
                <a:solidFill>
                  <a:srgbClr val="197C78"/>
                </a:solidFill>
              </a:rPr>
              <a:t>ωu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D774E9C-5405-46BB-99A6-8A1B2881CEFD}"/>
              </a:ext>
            </a:extLst>
          </p:cNvPr>
          <p:cNvSpPr>
            <a:spLocks noGrp="1"/>
          </p:cNvSpPr>
          <p:nvPr/>
        </p:nvSpPr>
        <p:spPr>
          <a:xfrm>
            <a:off x="5429250" y="297180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 i="0">
                <a:solidFill>
                  <a:srgbClr val="1E2935"/>
                </a:solidFill>
              </a:defRPr>
            </a:pPr>
            <a:r>
              <a:rPr sz="1125" b="0" i="0">
                <a:solidFill>
                  <a:srgbClr val="1E2935"/>
                </a:solidFill>
              </a:rPr>
              <a:t>&gt; 2π · 15 MHz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2D9DD789-C392-4A6A-93A7-2BCBA7B9C1B0}"/>
              </a:ext>
            </a:extLst>
          </p:cNvPr>
          <p:cNvSpPr>
            <a:spLocks noGrp="1"/>
          </p:cNvSpPr>
          <p:nvPr/>
        </p:nvSpPr>
        <p:spPr>
          <a:xfrm>
            <a:off x="9048750" y="297180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 i="0">
                <a:solidFill>
                  <a:srgbClr val="C65B43"/>
                </a:solidFill>
              </a:defRPr>
            </a:pPr>
            <a:r>
              <a:rPr sz="1125" b="1" i="0">
                <a:solidFill>
                  <a:srgbClr val="C65B43"/>
                </a:solidFill>
              </a:rPr>
              <a:t>[__] MHz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3FC27F6A-9F18-4C89-A368-9F7276F8AE54}"/>
              </a:ext>
            </a:extLst>
          </p:cNvPr>
          <p:cNvSpPr>
            <a:spLocks noGrp="1"/>
          </p:cNvSpPr>
          <p:nvPr/>
        </p:nvSpPr>
        <p:spPr>
          <a:xfrm>
            <a:off x="933450" y="3381375"/>
            <a:ext cx="2714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 i="0">
                <a:solidFill>
                  <a:srgbClr val="1E2935"/>
                </a:solidFill>
              </a:defRPr>
            </a:pPr>
            <a:r>
              <a:rPr sz="1125" b="0" i="0">
                <a:solidFill>
                  <a:srgbClr val="1E2935"/>
                </a:solidFill>
              </a:rPr>
              <a:t>Phase margin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3DCA311-CD36-4C49-9A8E-444491D1C1F4}"/>
              </a:ext>
            </a:extLst>
          </p:cNvPr>
          <p:cNvSpPr>
            <a:spLocks noGrp="1"/>
          </p:cNvSpPr>
          <p:nvPr/>
        </p:nvSpPr>
        <p:spPr>
          <a:xfrm>
            <a:off x="3810000" y="3381375"/>
            <a:ext cx="123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 i="0">
                <a:solidFill>
                  <a:srgbClr val="197C78"/>
                </a:solidFill>
              </a:defRPr>
            </a:pPr>
            <a:r>
              <a:rPr sz="1125" b="1" i="0">
                <a:solidFill>
                  <a:srgbClr val="197C78"/>
                </a:solidFill>
              </a:rPr>
              <a:t>PM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717F59D0-BC66-49EF-8F50-4184C1394F72}"/>
              </a:ext>
            </a:extLst>
          </p:cNvPr>
          <p:cNvSpPr>
            <a:spLocks noGrp="1"/>
          </p:cNvSpPr>
          <p:nvPr/>
        </p:nvSpPr>
        <p:spPr>
          <a:xfrm>
            <a:off x="5429250" y="3381375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 i="0">
                <a:solidFill>
                  <a:srgbClr val="1E2935"/>
                </a:solidFill>
              </a:defRPr>
            </a:pPr>
            <a:r>
              <a:rPr sz="1125" b="0" i="0">
                <a:solidFill>
                  <a:srgbClr val="1E2935"/>
                </a:solidFill>
              </a:rPr>
              <a:t>≥ 60°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ACE0CC12-D835-47F6-B62A-0A7C3E2A2600}"/>
              </a:ext>
            </a:extLst>
          </p:cNvPr>
          <p:cNvSpPr>
            <a:spLocks noGrp="1"/>
          </p:cNvSpPr>
          <p:nvPr/>
        </p:nvSpPr>
        <p:spPr>
          <a:xfrm>
            <a:off x="9048750" y="3381375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 i="0">
                <a:solidFill>
                  <a:srgbClr val="C65B43"/>
                </a:solidFill>
              </a:defRPr>
            </a:pPr>
            <a:r>
              <a:rPr sz="1125" b="1" i="0">
                <a:solidFill>
                  <a:srgbClr val="C65B43"/>
                </a:solidFill>
              </a:rPr>
              <a:t>[__]°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48DF6A14-BDB5-485F-A273-39E467537046}"/>
              </a:ext>
            </a:extLst>
          </p:cNvPr>
          <p:cNvSpPr>
            <a:spLocks noGrp="1"/>
          </p:cNvSpPr>
          <p:nvPr/>
        </p:nvSpPr>
        <p:spPr>
          <a:xfrm>
            <a:off x="838200" y="3762375"/>
            <a:ext cx="10477500" cy="361950"/>
          </a:xfrm>
          <a:prstGeom prst="rect">
            <a:avLst/>
          </a:prstGeom>
          <a:solidFill>
            <a:srgbClr val="F8FAFC"/>
          </a:solidFill>
          <a:ln w="9525">
            <a:solidFill>
              <a:srgbClr val="F8FAFC"/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966FB9A7-E9D0-4173-B56A-02C7B69EBE65}"/>
              </a:ext>
            </a:extLst>
          </p:cNvPr>
          <p:cNvSpPr>
            <a:spLocks noGrp="1"/>
          </p:cNvSpPr>
          <p:nvPr/>
        </p:nvSpPr>
        <p:spPr>
          <a:xfrm>
            <a:off x="933450" y="3790950"/>
            <a:ext cx="2714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 i="0">
                <a:solidFill>
                  <a:srgbClr val="1E2935"/>
                </a:solidFill>
              </a:defRPr>
            </a:pPr>
            <a:r>
              <a:rPr sz="1125" b="0" i="0">
                <a:solidFill>
                  <a:srgbClr val="1E2935"/>
                </a:solidFill>
              </a:rPr>
              <a:t>Slew rate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63D3D25D-45F8-498E-8B73-B8D155C8BDAC}"/>
              </a:ext>
            </a:extLst>
          </p:cNvPr>
          <p:cNvSpPr>
            <a:spLocks noGrp="1"/>
          </p:cNvSpPr>
          <p:nvPr/>
        </p:nvSpPr>
        <p:spPr>
          <a:xfrm>
            <a:off x="3810000" y="3790950"/>
            <a:ext cx="123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 i="0">
                <a:solidFill>
                  <a:srgbClr val="197C78"/>
                </a:solidFill>
              </a:defRPr>
            </a:pPr>
            <a:r>
              <a:rPr sz="1125" b="1" i="0">
                <a:solidFill>
                  <a:srgbClr val="197C78"/>
                </a:solidFill>
              </a:rPr>
              <a:t>SR+ / SR−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2EF1F6B6-6369-454D-9BCF-54DA54F0A4CF}"/>
              </a:ext>
            </a:extLst>
          </p:cNvPr>
          <p:cNvSpPr>
            <a:spLocks noGrp="1"/>
          </p:cNvSpPr>
          <p:nvPr/>
        </p:nvSpPr>
        <p:spPr>
          <a:xfrm>
            <a:off x="5429250" y="379095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 i="0">
                <a:solidFill>
                  <a:srgbClr val="1E2935"/>
                </a:solidFill>
              </a:defRPr>
            </a:pPr>
            <a:r>
              <a:rPr sz="1125" b="0" i="0">
                <a:solidFill>
                  <a:srgbClr val="1E2935"/>
                </a:solidFill>
              </a:rPr>
              <a:t>&gt; 15 V/µs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302D980B-ABDD-481C-8A30-D22C987114CA}"/>
              </a:ext>
            </a:extLst>
          </p:cNvPr>
          <p:cNvSpPr>
            <a:spLocks noGrp="1"/>
          </p:cNvSpPr>
          <p:nvPr/>
        </p:nvSpPr>
        <p:spPr>
          <a:xfrm>
            <a:off x="9048750" y="37909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 i="0">
                <a:solidFill>
                  <a:srgbClr val="C65B43"/>
                </a:solidFill>
              </a:defRPr>
            </a:pPr>
            <a:r>
              <a:rPr sz="1125" b="1" i="0">
                <a:solidFill>
                  <a:srgbClr val="C65B43"/>
                </a:solidFill>
              </a:rPr>
              <a:t>[__] / [__] V/µs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E6152805-DB25-4FB3-8BE1-4E66E4E15910}"/>
              </a:ext>
            </a:extLst>
          </p:cNvPr>
          <p:cNvSpPr>
            <a:spLocks noGrp="1"/>
          </p:cNvSpPr>
          <p:nvPr/>
        </p:nvSpPr>
        <p:spPr>
          <a:xfrm>
            <a:off x="933450" y="4200525"/>
            <a:ext cx="2714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 i="0">
                <a:solidFill>
                  <a:srgbClr val="1E2935"/>
                </a:solidFill>
              </a:defRPr>
            </a:pPr>
            <a:r>
              <a:rPr sz="1125" b="0" i="0">
                <a:solidFill>
                  <a:srgbClr val="1E2935"/>
                </a:solidFill>
              </a:rPr>
              <a:t>Input common-mode range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A5F1B1BF-29A7-4E5E-B388-0B3B834BC440}"/>
              </a:ext>
            </a:extLst>
          </p:cNvPr>
          <p:cNvSpPr>
            <a:spLocks noGrp="1"/>
          </p:cNvSpPr>
          <p:nvPr/>
        </p:nvSpPr>
        <p:spPr>
          <a:xfrm>
            <a:off x="3810000" y="4200525"/>
            <a:ext cx="123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 i="0">
                <a:solidFill>
                  <a:srgbClr val="197C78"/>
                </a:solidFill>
              </a:defRPr>
            </a:pPr>
            <a:r>
              <a:rPr sz="1125" b="1" i="0">
                <a:solidFill>
                  <a:srgbClr val="197C78"/>
                </a:solidFill>
              </a:rPr>
              <a:t>ICMR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878A5FF5-902F-4FE2-8B47-EBEA38262B96}"/>
              </a:ext>
            </a:extLst>
          </p:cNvPr>
          <p:cNvSpPr>
            <a:spLocks noGrp="1"/>
          </p:cNvSpPr>
          <p:nvPr/>
        </p:nvSpPr>
        <p:spPr>
          <a:xfrm>
            <a:off x="5429250" y="4200525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 i="0">
                <a:solidFill>
                  <a:srgbClr val="1E2935"/>
                </a:solidFill>
              </a:defRPr>
            </a:pPr>
            <a:r>
              <a:rPr sz="1125" b="0" i="0">
                <a:solidFill>
                  <a:srgbClr val="1E2935"/>
                </a:solidFill>
              </a:rPr>
              <a:t>1 V … 2.3 V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509164CD-D15F-4340-B67C-40D25DD45812}"/>
              </a:ext>
            </a:extLst>
          </p:cNvPr>
          <p:cNvSpPr>
            <a:spLocks noGrp="1"/>
          </p:cNvSpPr>
          <p:nvPr/>
        </p:nvSpPr>
        <p:spPr>
          <a:xfrm>
            <a:off x="9048750" y="4200525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 i="0">
                <a:solidFill>
                  <a:srgbClr val="C65B43"/>
                </a:solidFill>
              </a:defRPr>
            </a:pPr>
            <a:r>
              <a:rPr sz="1125" b="1" i="0">
                <a:solidFill>
                  <a:srgbClr val="C65B43"/>
                </a:solidFill>
              </a:rPr>
              <a:t>[__] … [__] V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3536808B-EE3B-4B81-ABF1-A2B3060A428C}"/>
              </a:ext>
            </a:extLst>
          </p:cNvPr>
          <p:cNvSpPr>
            <a:spLocks noGrp="1"/>
          </p:cNvSpPr>
          <p:nvPr/>
        </p:nvSpPr>
        <p:spPr>
          <a:xfrm>
            <a:off x="838200" y="4581525"/>
            <a:ext cx="10477500" cy="361950"/>
          </a:xfrm>
          <a:prstGeom prst="rect">
            <a:avLst/>
          </a:prstGeom>
          <a:solidFill>
            <a:srgbClr val="F8FAFC"/>
          </a:solidFill>
          <a:ln w="9525">
            <a:solidFill>
              <a:srgbClr val="F8FAFC"/>
            </a:solidFill>
            <a:prstDash val="solid"/>
          </a:ln>
        </p:spPr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5E6D7CB2-4A39-4F22-B03D-8146B3D84A2F}"/>
              </a:ext>
            </a:extLst>
          </p:cNvPr>
          <p:cNvSpPr>
            <a:spLocks noGrp="1"/>
          </p:cNvSpPr>
          <p:nvPr/>
        </p:nvSpPr>
        <p:spPr>
          <a:xfrm>
            <a:off x="933450" y="4610100"/>
            <a:ext cx="2714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 i="0">
                <a:solidFill>
                  <a:srgbClr val="1E2935"/>
                </a:solidFill>
              </a:defRPr>
            </a:pPr>
            <a:r>
              <a:rPr sz="1125" b="0" i="0">
                <a:solidFill>
                  <a:srgbClr val="1E2935"/>
                </a:solidFill>
              </a:rPr>
              <a:t>Input offset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7BA73F40-DE58-4E1B-BAE6-9B3F492C0ADA}"/>
              </a:ext>
            </a:extLst>
          </p:cNvPr>
          <p:cNvSpPr>
            <a:spLocks noGrp="1"/>
          </p:cNvSpPr>
          <p:nvPr/>
        </p:nvSpPr>
        <p:spPr>
          <a:xfrm>
            <a:off x="3810000" y="4610100"/>
            <a:ext cx="123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 i="0">
                <a:solidFill>
                  <a:srgbClr val="197C78"/>
                </a:solidFill>
              </a:defRPr>
            </a:pPr>
            <a:r>
              <a:rPr sz="1125" b="1" i="0">
                <a:solidFill>
                  <a:srgbClr val="197C78"/>
                </a:solidFill>
              </a:rPr>
              <a:t>Vos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B6CAAD80-EE9A-43D3-B4A6-97730D718ACB}"/>
              </a:ext>
            </a:extLst>
          </p:cNvPr>
          <p:cNvSpPr>
            <a:spLocks noGrp="1"/>
          </p:cNvSpPr>
          <p:nvPr/>
        </p:nvSpPr>
        <p:spPr>
          <a:xfrm>
            <a:off x="5429250" y="461010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 i="0">
                <a:solidFill>
                  <a:srgbClr val="1E2935"/>
                </a:solidFill>
              </a:defRPr>
            </a:pPr>
            <a:r>
              <a:rPr sz="1125" b="0" i="0">
                <a:solidFill>
                  <a:srgbClr val="1E2935"/>
                </a:solidFill>
              </a:rPr>
              <a:t>|Vos| ≤ 200 µV; σ ≤ 1.33 mV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F8FDCCCC-5C7B-48F7-8CAB-0DC50642D103}"/>
              </a:ext>
            </a:extLst>
          </p:cNvPr>
          <p:cNvSpPr>
            <a:spLocks noGrp="1"/>
          </p:cNvSpPr>
          <p:nvPr/>
        </p:nvSpPr>
        <p:spPr>
          <a:xfrm>
            <a:off x="9048750" y="461010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 i="0">
                <a:solidFill>
                  <a:srgbClr val="C65B43"/>
                </a:solidFill>
              </a:defRPr>
            </a:pPr>
            <a:r>
              <a:rPr sz="1125" b="1" i="0">
                <a:solidFill>
                  <a:srgbClr val="C65B43"/>
                </a:solidFill>
              </a:rPr>
              <a:t>[__] / [__]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7852D50A-705D-4726-9EF6-7449EF936227}"/>
              </a:ext>
            </a:extLst>
          </p:cNvPr>
          <p:cNvSpPr>
            <a:spLocks noGrp="1"/>
          </p:cNvSpPr>
          <p:nvPr/>
        </p:nvSpPr>
        <p:spPr>
          <a:xfrm>
            <a:off x="933450" y="5019675"/>
            <a:ext cx="2714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 i="0">
                <a:solidFill>
                  <a:srgbClr val="1E2935"/>
                </a:solidFill>
              </a:defRPr>
            </a:pPr>
            <a:r>
              <a:rPr sz="1125" b="0" i="0">
                <a:solidFill>
                  <a:srgbClr val="1E2935"/>
                </a:solidFill>
              </a:rPr>
              <a:t>Supply / reference current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8F9AE6F7-41D9-4BE0-A08D-DF62243C65A3}"/>
              </a:ext>
            </a:extLst>
          </p:cNvPr>
          <p:cNvSpPr>
            <a:spLocks noGrp="1"/>
          </p:cNvSpPr>
          <p:nvPr/>
        </p:nvSpPr>
        <p:spPr>
          <a:xfrm>
            <a:off x="3810000" y="5019675"/>
            <a:ext cx="123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 i="0">
                <a:solidFill>
                  <a:srgbClr val="197C78"/>
                </a:solidFill>
              </a:defRPr>
            </a:pPr>
            <a:r>
              <a:rPr sz="1125" b="1" i="0">
                <a:solidFill>
                  <a:srgbClr val="197C78"/>
                </a:solidFill>
              </a:rPr>
              <a:t>VDD / Iref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56EAE3C7-8762-4F0F-B074-E40F6B342B41}"/>
              </a:ext>
            </a:extLst>
          </p:cNvPr>
          <p:cNvSpPr>
            <a:spLocks noGrp="1"/>
          </p:cNvSpPr>
          <p:nvPr/>
        </p:nvSpPr>
        <p:spPr>
          <a:xfrm>
            <a:off x="5429250" y="5019675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 i="0">
                <a:solidFill>
                  <a:srgbClr val="1E2935"/>
                </a:solidFill>
              </a:defRPr>
            </a:pPr>
            <a:r>
              <a:rPr sz="1125" b="0" i="0">
                <a:solidFill>
                  <a:srgbClr val="1E2935"/>
                </a:solidFill>
              </a:rPr>
              <a:t>3.3 V / 10 µA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C5076819-671C-4114-BF9B-8EE2B81B48D3}"/>
              </a:ext>
            </a:extLst>
          </p:cNvPr>
          <p:cNvSpPr>
            <a:spLocks noGrp="1"/>
          </p:cNvSpPr>
          <p:nvPr/>
        </p:nvSpPr>
        <p:spPr>
          <a:xfrm>
            <a:off x="9048750" y="5019675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 i="0">
                <a:solidFill>
                  <a:srgbClr val="C65B43"/>
                </a:solidFill>
              </a:defRPr>
            </a:pPr>
            <a:r>
              <a:rPr sz="1125" b="1" i="0" dirty="0">
                <a:solidFill>
                  <a:srgbClr val="C65B43"/>
                </a:solidFill>
              </a:rPr>
              <a:t>[__] / [__]</a:t>
            </a:r>
          </a:p>
        </p:txBody>
      </p:sp>
      <p:sp>
        <p:nvSpPr>
          <p:cNvPr id="46" name="直接连接符 45">
            <a:extLst>
              <a:ext uri="{FF2B5EF4-FFF2-40B4-BE49-F238E27FC236}">
                <a16:creationId xmlns:a16="http://schemas.microsoft.com/office/drawing/2014/main" id="{431C0B02-0E52-460E-B74A-DAE6DB256EA3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820400" cy="0"/>
          </a:xfrm>
          <a:prstGeom prst="line">
            <a:avLst/>
          </a:prstGeom>
          <a:noFill/>
          <a:ln w="9525">
            <a:solidFill>
              <a:srgbClr val="D6DEE5"/>
            </a:solidFill>
            <a:prstDash val="solid"/>
          </a:ln>
        </p:spPr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7CA85443-C29B-418C-A5BD-DFEC1324B0DC}"/>
              </a:ext>
            </a:extLst>
          </p:cNvPr>
          <p:cNvSpPr>
            <a:spLocks noGrp="1"/>
          </p:cNvSpPr>
          <p:nvPr/>
        </p:nvSpPr>
        <p:spPr>
          <a:xfrm>
            <a:off x="685800" y="6505575"/>
            <a:ext cx="6667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50" b="0" i="0">
                <a:solidFill>
                  <a:srgbClr val="687887"/>
                </a:solidFill>
              </a:defRPr>
            </a:pPr>
            <a:r>
              <a:rPr sz="750" b="0" i="0" dirty="0">
                <a:solidFill>
                  <a:srgbClr val="687887"/>
                </a:solidFill>
              </a:rPr>
              <a:t>Analog CMOS · RC-compensated two-stage OPAMP</a:t>
            </a:r>
          </a:p>
        </p:txBody>
      </p:sp>
    </p:spTree>
    <p:extLst>
      <p:ext uri="{BB962C8B-B14F-4D97-AF65-F5344CB8AC3E}">
        <p14:creationId xmlns:p14="http://schemas.microsoft.com/office/powerpoint/2010/main" val="17684897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>
            <a:extLst>
              <a:ext uri="{FF2B5EF4-FFF2-40B4-BE49-F238E27FC236}">
                <a16:creationId xmlns:a16="http://schemas.microsoft.com/office/drawing/2014/main" id="{89C6C6A7-5C6B-4D7D-86B0-CC7BB7C4CE55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438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 i="0">
                <a:solidFill>
                  <a:srgbClr val="197C78"/>
                </a:solidFill>
              </a:defRPr>
            </a:pPr>
            <a:r>
              <a:rPr sz="900" b="1" i="0">
                <a:solidFill>
                  <a:srgbClr val="197C78"/>
                </a:solidFill>
              </a:rPr>
              <a:t>TOPOLOGY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D03C392-3564-447A-9CC1-738600801B61}"/>
              </a:ext>
            </a:extLst>
          </p:cNvPr>
          <p:cNvSpPr>
            <a:spLocks noGrp="1"/>
          </p:cNvSpPr>
          <p:nvPr/>
        </p:nvSpPr>
        <p:spPr>
          <a:xfrm>
            <a:off x="685800" y="571500"/>
            <a:ext cx="10287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625" b="1" i="0">
                <a:solidFill>
                  <a:srgbClr val="17324D"/>
                </a:solidFill>
              </a:defRPr>
            </a:pPr>
            <a:r>
              <a:rPr sz="2625" b="1" i="0">
                <a:solidFill>
                  <a:srgbClr val="17324D"/>
                </a:solidFill>
              </a:rPr>
              <a:t>Circuit schematic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4FDBFD4A-28F9-4D19-B1A0-51CA8AFE337E}"/>
              </a:ext>
            </a:extLst>
          </p:cNvPr>
          <p:cNvSpPr>
            <a:spLocks noGrp="1"/>
          </p:cNvSpPr>
          <p:nvPr/>
        </p:nvSpPr>
        <p:spPr>
          <a:xfrm>
            <a:off x="685800" y="1200150"/>
            <a:ext cx="10820400" cy="0"/>
          </a:xfrm>
          <a:prstGeom prst="line">
            <a:avLst/>
          </a:prstGeom>
          <a:noFill/>
          <a:ln w="9525">
            <a:solidFill>
              <a:srgbClr val="D6DEE5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A8B2C11-254B-4D65-A854-8E3D88A88C40}"/>
              </a:ext>
            </a:extLst>
          </p:cNvPr>
          <p:cNvSpPr>
            <a:spLocks noGrp="1"/>
          </p:cNvSpPr>
          <p:nvPr/>
        </p:nvSpPr>
        <p:spPr>
          <a:xfrm>
            <a:off x="11001375" y="333375"/>
            <a:ext cx="5048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1" i="0">
                <a:solidFill>
                  <a:srgbClr val="687887"/>
                </a:solidFill>
              </a:defRPr>
            </a:pPr>
            <a:r>
              <a:rPr sz="975" b="1" i="0">
                <a:solidFill>
                  <a:srgbClr val="687887"/>
                </a:solidFill>
              </a:rPr>
              <a:t>03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84BD8276-1297-4664-BA9D-489CC007D24F}"/>
              </a:ext>
            </a:extLst>
          </p:cNvPr>
          <p:cNvSpPr>
            <a:spLocks noGrp="1"/>
          </p:cNvSpPr>
          <p:nvPr/>
        </p:nvSpPr>
        <p:spPr>
          <a:xfrm>
            <a:off x="685800" y="1600200"/>
            <a:ext cx="7239000" cy="4000500"/>
          </a:xfrm>
          <a:prstGeom prst="roundRect">
            <a:avLst>
              <a:gd name="adj" fmla="val 1429"/>
            </a:avLst>
          </a:prstGeom>
          <a:solidFill>
            <a:srgbClr val="EAF2F8"/>
          </a:solidFill>
          <a:ln w="9525">
            <a:solidFill>
              <a:srgbClr val="79A7C7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4F1115A-B8F7-4662-B18E-850921A9D4AA}"/>
              </a:ext>
            </a:extLst>
          </p:cNvPr>
          <p:cNvSpPr>
            <a:spLocks noGrp="1"/>
          </p:cNvSpPr>
          <p:nvPr/>
        </p:nvSpPr>
        <p:spPr>
          <a:xfrm>
            <a:off x="876300" y="3390900"/>
            <a:ext cx="685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1" i="0">
                <a:solidFill>
                  <a:srgbClr val="17324D"/>
                </a:solidFill>
              </a:defRPr>
            </a:pPr>
            <a:r>
              <a:rPr sz="1500" b="1" i="0">
                <a:solidFill>
                  <a:srgbClr val="17324D"/>
                </a:solidFill>
              </a:rPr>
              <a:t>Insert final transistor-level schematic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D23F94B-44CB-4D21-92C4-470CC8FBCF76}"/>
              </a:ext>
            </a:extLst>
          </p:cNvPr>
          <p:cNvSpPr>
            <a:spLocks noGrp="1"/>
          </p:cNvSpPr>
          <p:nvPr/>
        </p:nvSpPr>
        <p:spPr>
          <a:xfrm>
            <a:off x="914400" y="3733800"/>
            <a:ext cx="67818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0" i="0">
                <a:solidFill>
                  <a:srgbClr val="687887"/>
                </a:solidFill>
              </a:defRPr>
            </a:pPr>
            <a:r>
              <a:rPr sz="975" b="0" i="0">
                <a:solidFill>
                  <a:srgbClr val="687887"/>
                </a:solidFill>
              </a:rPr>
              <a:t>Show node names, bias current, CC and RC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E273BB3C-77F6-4BE4-BBDD-3412DF93152A}"/>
              </a:ext>
            </a:extLst>
          </p:cNvPr>
          <p:cNvSpPr>
            <a:spLocks noGrp="1"/>
          </p:cNvSpPr>
          <p:nvPr/>
        </p:nvSpPr>
        <p:spPr>
          <a:xfrm>
            <a:off x="8305800" y="1600200"/>
            <a:ext cx="3200400" cy="4000500"/>
          </a:xfrm>
          <a:prstGeom prst="roundRect">
            <a:avLst>
              <a:gd name="adj" fmla="val 1786"/>
            </a:avLst>
          </a:prstGeom>
          <a:solidFill>
            <a:srgbClr val="FFFFFF"/>
          </a:solidFill>
          <a:ln w="9525">
            <a:solidFill>
              <a:srgbClr val="D6DEE5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9BD9C3A-2371-4586-9EDA-1783024431E5}"/>
              </a:ext>
            </a:extLst>
          </p:cNvPr>
          <p:cNvSpPr>
            <a:spLocks noGrp="1"/>
          </p:cNvSpPr>
          <p:nvPr/>
        </p:nvSpPr>
        <p:spPr>
          <a:xfrm>
            <a:off x="8572500" y="1914525"/>
            <a:ext cx="266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 i="0">
                <a:solidFill>
                  <a:srgbClr val="17324D"/>
                </a:solidFill>
              </a:defRPr>
            </a:pPr>
            <a:r>
              <a:rPr sz="1800" b="1" i="0">
                <a:solidFill>
                  <a:srgbClr val="17324D"/>
                </a:solidFill>
              </a:rPr>
              <a:t>Main blocks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B67C983-D952-48EA-BAAD-994B9BC76306}"/>
              </a:ext>
            </a:extLst>
          </p:cNvPr>
          <p:cNvSpPr>
            <a:spLocks noGrp="1"/>
          </p:cNvSpPr>
          <p:nvPr/>
        </p:nvSpPr>
        <p:spPr>
          <a:xfrm>
            <a:off x="8572500" y="2495550"/>
            <a:ext cx="1714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 i="0">
                <a:solidFill>
                  <a:srgbClr val="197C78"/>
                </a:solidFill>
              </a:defRPr>
            </a:pPr>
            <a:r>
              <a:rPr sz="1425" b="1" i="0">
                <a:solidFill>
                  <a:srgbClr val="197C78"/>
                </a:solidFill>
              </a:rPr>
              <a:t>•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0485FF1-C6D5-4220-BB76-4157D11678FA}"/>
              </a:ext>
            </a:extLst>
          </p:cNvPr>
          <p:cNvSpPr>
            <a:spLocks noGrp="1"/>
          </p:cNvSpPr>
          <p:nvPr/>
        </p:nvSpPr>
        <p:spPr>
          <a:xfrm>
            <a:off x="8801100" y="2495550"/>
            <a:ext cx="22479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 i="0">
                <a:solidFill>
                  <a:srgbClr val="1E2935"/>
                </a:solidFill>
              </a:defRPr>
            </a:pPr>
            <a:r>
              <a:rPr sz="1275" b="0" i="0">
                <a:solidFill>
                  <a:srgbClr val="1E2935"/>
                </a:solidFill>
              </a:rPr>
              <a:t>Differential input stage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FC72953-D435-4AE5-803D-2FB6625C6B02}"/>
              </a:ext>
            </a:extLst>
          </p:cNvPr>
          <p:cNvSpPr>
            <a:spLocks noGrp="1"/>
          </p:cNvSpPr>
          <p:nvPr/>
        </p:nvSpPr>
        <p:spPr>
          <a:xfrm>
            <a:off x="8572500" y="2905125"/>
            <a:ext cx="1714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 i="0">
                <a:solidFill>
                  <a:srgbClr val="197C78"/>
                </a:solidFill>
              </a:defRPr>
            </a:pPr>
            <a:r>
              <a:rPr sz="1425" b="1" i="0">
                <a:solidFill>
                  <a:srgbClr val="197C78"/>
                </a:solidFill>
              </a:rPr>
              <a:t>•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FC94A0E-AB00-4695-BF49-533B025C885F}"/>
              </a:ext>
            </a:extLst>
          </p:cNvPr>
          <p:cNvSpPr>
            <a:spLocks noGrp="1"/>
          </p:cNvSpPr>
          <p:nvPr/>
        </p:nvSpPr>
        <p:spPr>
          <a:xfrm>
            <a:off x="8801100" y="2905125"/>
            <a:ext cx="22479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 i="0">
                <a:solidFill>
                  <a:srgbClr val="1E2935"/>
                </a:solidFill>
              </a:defRPr>
            </a:pPr>
            <a:r>
              <a:rPr sz="1275" b="0" i="0">
                <a:solidFill>
                  <a:srgbClr val="1E2935"/>
                </a:solidFill>
              </a:rPr>
              <a:t>Active load / current mirror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7F6984E-3EF2-4F6C-BA41-54E1EEFD1759}"/>
              </a:ext>
            </a:extLst>
          </p:cNvPr>
          <p:cNvSpPr>
            <a:spLocks noGrp="1"/>
          </p:cNvSpPr>
          <p:nvPr/>
        </p:nvSpPr>
        <p:spPr>
          <a:xfrm>
            <a:off x="8572500" y="3314700"/>
            <a:ext cx="1714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 i="0">
                <a:solidFill>
                  <a:srgbClr val="197C78"/>
                </a:solidFill>
              </a:defRPr>
            </a:pPr>
            <a:r>
              <a:rPr sz="1425" b="1" i="0">
                <a:solidFill>
                  <a:srgbClr val="197C78"/>
                </a:solidFill>
              </a:rPr>
              <a:t>•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8538B9C-94BC-43AE-A30C-137EE76D31D5}"/>
              </a:ext>
            </a:extLst>
          </p:cNvPr>
          <p:cNvSpPr>
            <a:spLocks noGrp="1"/>
          </p:cNvSpPr>
          <p:nvPr/>
        </p:nvSpPr>
        <p:spPr>
          <a:xfrm>
            <a:off x="8801100" y="3314700"/>
            <a:ext cx="22479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 i="0">
                <a:solidFill>
                  <a:srgbClr val="1E2935"/>
                </a:solidFill>
              </a:defRPr>
            </a:pPr>
            <a:r>
              <a:rPr sz="1275" b="0" i="0">
                <a:solidFill>
                  <a:srgbClr val="1E2935"/>
                </a:solidFill>
              </a:rPr>
              <a:t>Second gain stage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DE63594-ACB1-4D10-889D-E30B232308AA}"/>
              </a:ext>
            </a:extLst>
          </p:cNvPr>
          <p:cNvSpPr>
            <a:spLocks noGrp="1"/>
          </p:cNvSpPr>
          <p:nvPr/>
        </p:nvSpPr>
        <p:spPr>
          <a:xfrm>
            <a:off x="8572500" y="3724275"/>
            <a:ext cx="1714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 i="0">
                <a:solidFill>
                  <a:srgbClr val="197C78"/>
                </a:solidFill>
              </a:defRPr>
            </a:pPr>
            <a:r>
              <a:rPr sz="1425" b="1" i="0">
                <a:solidFill>
                  <a:srgbClr val="197C78"/>
                </a:solidFill>
              </a:rPr>
              <a:t>•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8798834-8F84-4CB2-93F6-0E4ED3FF0329}"/>
              </a:ext>
            </a:extLst>
          </p:cNvPr>
          <p:cNvSpPr>
            <a:spLocks noGrp="1"/>
          </p:cNvSpPr>
          <p:nvPr/>
        </p:nvSpPr>
        <p:spPr>
          <a:xfrm>
            <a:off x="8801100" y="3724275"/>
            <a:ext cx="22479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 i="0">
                <a:solidFill>
                  <a:srgbClr val="1E2935"/>
                </a:solidFill>
              </a:defRPr>
            </a:pPr>
            <a:r>
              <a:rPr sz="1275" b="0" i="0">
                <a:solidFill>
                  <a:srgbClr val="1E2935"/>
                </a:solidFill>
              </a:rPr>
              <a:t>Miller capacitor CC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BF7BF19-6E4E-42BF-9A53-B087A989077B}"/>
              </a:ext>
            </a:extLst>
          </p:cNvPr>
          <p:cNvSpPr>
            <a:spLocks noGrp="1"/>
          </p:cNvSpPr>
          <p:nvPr/>
        </p:nvSpPr>
        <p:spPr>
          <a:xfrm>
            <a:off x="8572500" y="4133850"/>
            <a:ext cx="1714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 i="0">
                <a:solidFill>
                  <a:srgbClr val="197C78"/>
                </a:solidFill>
              </a:defRPr>
            </a:pPr>
            <a:r>
              <a:rPr sz="1425" b="1" i="0">
                <a:solidFill>
                  <a:srgbClr val="197C78"/>
                </a:solidFill>
              </a:rPr>
              <a:t>•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7F2608D-E0C0-4E7D-B8B3-E131A3195C9E}"/>
              </a:ext>
            </a:extLst>
          </p:cNvPr>
          <p:cNvSpPr>
            <a:spLocks noGrp="1"/>
          </p:cNvSpPr>
          <p:nvPr/>
        </p:nvSpPr>
        <p:spPr>
          <a:xfrm>
            <a:off x="8801100" y="4133850"/>
            <a:ext cx="22479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 i="0">
                <a:solidFill>
                  <a:srgbClr val="1E2935"/>
                </a:solidFill>
              </a:defRPr>
            </a:pPr>
            <a:r>
              <a:rPr sz="1275" b="0" i="0">
                <a:solidFill>
                  <a:srgbClr val="1E2935"/>
                </a:solidFill>
              </a:rPr>
              <a:t>Series resistor RC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AACB910-9753-4D09-A2C2-777701722014}"/>
              </a:ext>
            </a:extLst>
          </p:cNvPr>
          <p:cNvSpPr>
            <a:spLocks noGrp="1"/>
          </p:cNvSpPr>
          <p:nvPr/>
        </p:nvSpPr>
        <p:spPr>
          <a:xfrm>
            <a:off x="8572500" y="4543425"/>
            <a:ext cx="1714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 i="0">
                <a:solidFill>
                  <a:srgbClr val="197C78"/>
                </a:solidFill>
              </a:defRPr>
            </a:pPr>
            <a:r>
              <a:rPr sz="1425" b="1" i="0">
                <a:solidFill>
                  <a:srgbClr val="197C78"/>
                </a:solidFill>
              </a:rPr>
              <a:t>•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B16890E-603E-47EB-93F2-9EFB7EA6531A}"/>
              </a:ext>
            </a:extLst>
          </p:cNvPr>
          <p:cNvSpPr>
            <a:spLocks noGrp="1"/>
          </p:cNvSpPr>
          <p:nvPr/>
        </p:nvSpPr>
        <p:spPr>
          <a:xfrm>
            <a:off x="8801100" y="4543425"/>
            <a:ext cx="22479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 i="0">
                <a:solidFill>
                  <a:srgbClr val="1E2935"/>
                </a:solidFill>
              </a:defRPr>
            </a:pPr>
            <a:r>
              <a:rPr sz="1275" b="0" i="0">
                <a:solidFill>
                  <a:srgbClr val="1E2935"/>
                </a:solidFill>
              </a:rPr>
              <a:t>Bias and reference current</a:t>
            </a:r>
          </a:p>
        </p:txBody>
      </p:sp>
      <p:sp>
        <p:nvSpPr>
          <p:cNvPr id="22" name="直接连接符 21">
            <a:extLst>
              <a:ext uri="{FF2B5EF4-FFF2-40B4-BE49-F238E27FC236}">
                <a16:creationId xmlns:a16="http://schemas.microsoft.com/office/drawing/2014/main" id="{986265E8-C96F-4808-A30C-D87D63006CEC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820400" cy="0"/>
          </a:xfrm>
          <a:prstGeom prst="line">
            <a:avLst/>
          </a:prstGeom>
          <a:noFill/>
          <a:ln w="9525">
            <a:solidFill>
              <a:srgbClr val="D6DEE5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85C4952-6662-442F-A008-E14093036BE3}"/>
              </a:ext>
            </a:extLst>
          </p:cNvPr>
          <p:cNvSpPr>
            <a:spLocks noGrp="1"/>
          </p:cNvSpPr>
          <p:nvPr/>
        </p:nvSpPr>
        <p:spPr>
          <a:xfrm>
            <a:off x="685800" y="6505575"/>
            <a:ext cx="6667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50" b="0" i="0">
                <a:solidFill>
                  <a:srgbClr val="687887"/>
                </a:solidFill>
              </a:defRPr>
            </a:pPr>
            <a:r>
              <a:rPr sz="750" b="0" i="0">
                <a:solidFill>
                  <a:srgbClr val="687887"/>
                </a:solidFill>
              </a:rPr>
              <a:t>Analog CMOS · RC-compensated two-stage OPAMP</a:t>
            </a:r>
          </a:p>
        </p:txBody>
      </p:sp>
    </p:spTree>
    <p:extLst>
      <p:ext uri="{BB962C8B-B14F-4D97-AF65-F5344CB8AC3E}">
        <p14:creationId xmlns:p14="http://schemas.microsoft.com/office/powerpoint/2010/main" val="16028427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CAE0285F-4B41-49EA-B667-21302B3F2A3A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438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 i="0">
                <a:solidFill>
                  <a:srgbClr val="197C78"/>
                </a:solidFill>
              </a:defRPr>
            </a:pPr>
            <a:r>
              <a:rPr sz="900" b="1" i="0">
                <a:solidFill>
                  <a:srgbClr val="197C78"/>
                </a:solidFill>
              </a:rPr>
              <a:t>IMPLEMENTATION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73EF44C-389F-457E-BE15-866047594F64}"/>
              </a:ext>
            </a:extLst>
          </p:cNvPr>
          <p:cNvSpPr>
            <a:spLocks noGrp="1"/>
          </p:cNvSpPr>
          <p:nvPr/>
        </p:nvSpPr>
        <p:spPr>
          <a:xfrm>
            <a:off x="685800" y="571500"/>
            <a:ext cx="10287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625" b="1" i="0">
                <a:solidFill>
                  <a:srgbClr val="17324D"/>
                </a:solidFill>
              </a:defRPr>
            </a:pPr>
            <a:r>
              <a:rPr sz="2625" b="1" i="0">
                <a:solidFill>
                  <a:srgbClr val="17324D"/>
                </a:solidFill>
              </a:rPr>
              <a:t>Device dimensions and compensation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4EBE61B0-84A2-42A5-88A4-C3E73D3932E0}"/>
              </a:ext>
            </a:extLst>
          </p:cNvPr>
          <p:cNvSpPr>
            <a:spLocks noGrp="1"/>
          </p:cNvSpPr>
          <p:nvPr/>
        </p:nvSpPr>
        <p:spPr>
          <a:xfrm>
            <a:off x="685800" y="1200150"/>
            <a:ext cx="10820400" cy="0"/>
          </a:xfrm>
          <a:prstGeom prst="line">
            <a:avLst/>
          </a:prstGeom>
          <a:noFill/>
          <a:ln w="9525">
            <a:solidFill>
              <a:srgbClr val="D6DEE5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A62CDA2-CA83-4322-96FA-7B86FBDA4B09}"/>
              </a:ext>
            </a:extLst>
          </p:cNvPr>
          <p:cNvSpPr>
            <a:spLocks noGrp="1"/>
          </p:cNvSpPr>
          <p:nvPr/>
        </p:nvSpPr>
        <p:spPr>
          <a:xfrm>
            <a:off x="11001375" y="333375"/>
            <a:ext cx="5048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1" i="0">
                <a:solidFill>
                  <a:srgbClr val="687887"/>
                </a:solidFill>
              </a:defRPr>
            </a:pPr>
            <a:r>
              <a:rPr sz="975" b="1" i="0">
                <a:solidFill>
                  <a:srgbClr val="687887"/>
                </a:solidFill>
              </a:rPr>
              <a:t>04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3CD871F2-FE80-4569-BF16-09D8F1AB46C8}"/>
              </a:ext>
            </a:extLst>
          </p:cNvPr>
          <p:cNvSpPr>
            <a:spLocks noGrp="1"/>
          </p:cNvSpPr>
          <p:nvPr/>
        </p:nvSpPr>
        <p:spPr>
          <a:xfrm>
            <a:off x="685800" y="1600200"/>
            <a:ext cx="5238750" cy="4000500"/>
          </a:xfrm>
          <a:prstGeom prst="roundRect">
            <a:avLst>
              <a:gd name="adj" fmla="val 1429"/>
            </a:avLst>
          </a:prstGeom>
          <a:solidFill>
            <a:srgbClr val="EAF2F8"/>
          </a:solidFill>
          <a:ln w="9525">
            <a:solidFill>
              <a:srgbClr val="79A7C7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2FCF564-F41F-443C-A1DA-72DF5C12AF79}"/>
              </a:ext>
            </a:extLst>
          </p:cNvPr>
          <p:cNvSpPr>
            <a:spLocks noGrp="1"/>
          </p:cNvSpPr>
          <p:nvPr/>
        </p:nvSpPr>
        <p:spPr>
          <a:xfrm>
            <a:off x="876300" y="3390900"/>
            <a:ext cx="4857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1" i="0">
                <a:solidFill>
                  <a:srgbClr val="17324D"/>
                </a:solidFill>
              </a:defRPr>
            </a:pPr>
            <a:r>
              <a:rPr sz="1500" b="1" i="0">
                <a:solidFill>
                  <a:srgbClr val="17324D"/>
                </a:solidFill>
              </a:rPr>
              <a:t>Insert W/L and passive values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FEFEE74-01E1-439F-A154-0C6F44415837}"/>
              </a:ext>
            </a:extLst>
          </p:cNvPr>
          <p:cNvSpPr>
            <a:spLocks noGrp="1"/>
          </p:cNvSpPr>
          <p:nvPr/>
        </p:nvSpPr>
        <p:spPr>
          <a:xfrm>
            <a:off x="914400" y="3733800"/>
            <a:ext cx="47815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0" i="0">
                <a:solidFill>
                  <a:srgbClr val="687887"/>
                </a:solidFill>
              </a:defRPr>
            </a:pPr>
            <a:r>
              <a:rPr sz="975" b="0" i="0">
                <a:solidFill>
                  <a:srgbClr val="687887"/>
                </a:solidFill>
              </a:rPr>
              <a:t>Table from the final schematic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315B1F71-8D3B-4C49-84B8-4A7AD654AF26}"/>
              </a:ext>
            </a:extLst>
          </p:cNvPr>
          <p:cNvSpPr>
            <a:spLocks noGrp="1"/>
          </p:cNvSpPr>
          <p:nvPr/>
        </p:nvSpPr>
        <p:spPr>
          <a:xfrm>
            <a:off x="6343650" y="1600200"/>
            <a:ext cx="5162550" cy="400050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9525">
            <a:solidFill>
              <a:srgbClr val="D6DEE5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EEAF37D-2C04-4BFD-9D13-1D3239EB66AD}"/>
              </a:ext>
            </a:extLst>
          </p:cNvPr>
          <p:cNvSpPr>
            <a:spLocks noGrp="1"/>
          </p:cNvSpPr>
          <p:nvPr/>
        </p:nvSpPr>
        <p:spPr>
          <a:xfrm>
            <a:off x="6648450" y="1914525"/>
            <a:ext cx="2857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 i="0">
                <a:solidFill>
                  <a:srgbClr val="17324D"/>
                </a:solidFill>
              </a:defRPr>
            </a:pPr>
            <a:r>
              <a:rPr sz="1800" b="1" i="0">
                <a:solidFill>
                  <a:srgbClr val="17324D"/>
                </a:solidFill>
              </a:rPr>
              <a:t>RC calculation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BDE875D-23B9-42EB-96D1-22BB1CA64924}"/>
              </a:ext>
            </a:extLst>
          </p:cNvPr>
          <p:cNvSpPr>
            <a:spLocks noGrp="1"/>
          </p:cNvSpPr>
          <p:nvPr/>
        </p:nvSpPr>
        <p:spPr>
          <a:xfrm>
            <a:off x="6648450" y="2457450"/>
            <a:ext cx="409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 i="0">
                <a:solidFill>
                  <a:srgbClr val="197C78"/>
                </a:solidFill>
              </a:defRPr>
            </a:pPr>
            <a:r>
              <a:rPr sz="1275" b="1" i="0">
                <a:solidFill>
                  <a:srgbClr val="197C78"/>
                </a:solidFill>
              </a:rPr>
              <a:t>Pole-zero cancellation condition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9ED7D14-7AA9-4302-B038-4DB0A2260226}"/>
              </a:ext>
            </a:extLst>
          </p:cNvPr>
          <p:cNvSpPr>
            <a:spLocks noGrp="1"/>
          </p:cNvSpPr>
          <p:nvPr/>
        </p:nvSpPr>
        <p:spPr>
          <a:xfrm>
            <a:off x="6724650" y="2914650"/>
            <a:ext cx="4286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100" b="1" i="0">
                <a:solidFill>
                  <a:srgbClr val="C65B43"/>
                </a:solidFill>
              </a:defRPr>
            </a:pPr>
            <a:r>
              <a:rPr sz="2100" b="1" i="0">
                <a:solidFill>
                  <a:srgbClr val="C65B43"/>
                </a:solidFill>
              </a:rPr>
              <a:t>RZ ≈ 1 / gm,2</a:t>
            </a:r>
          </a:p>
        </p:txBody>
      </p:sp>
      <p:sp>
        <p:nvSpPr>
          <p:cNvPr id="12" name="直接连接符 11">
            <a:extLst>
              <a:ext uri="{FF2B5EF4-FFF2-40B4-BE49-F238E27FC236}">
                <a16:creationId xmlns:a16="http://schemas.microsoft.com/office/drawing/2014/main" id="{39369166-1250-477C-939C-E331B5AADFE8}"/>
              </a:ext>
            </a:extLst>
          </p:cNvPr>
          <p:cNvSpPr>
            <a:spLocks noGrp="1"/>
          </p:cNvSpPr>
          <p:nvPr/>
        </p:nvSpPr>
        <p:spPr>
          <a:xfrm>
            <a:off x="6648450" y="3581400"/>
            <a:ext cx="4476750" cy="0"/>
          </a:xfrm>
          <a:prstGeom prst="line">
            <a:avLst/>
          </a:prstGeom>
          <a:noFill/>
          <a:ln w="9525">
            <a:solidFill>
              <a:srgbClr val="D6DEE5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D6A6131-9159-44B7-93FD-F2DEEB3E2E7B}"/>
              </a:ext>
            </a:extLst>
          </p:cNvPr>
          <p:cNvSpPr>
            <a:spLocks noGrp="1"/>
          </p:cNvSpPr>
          <p:nvPr/>
        </p:nvSpPr>
        <p:spPr>
          <a:xfrm>
            <a:off x="6648450" y="3810000"/>
            <a:ext cx="1714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 i="0">
                <a:solidFill>
                  <a:srgbClr val="197C78"/>
                </a:solidFill>
              </a:defRPr>
            </a:pPr>
            <a:r>
              <a:rPr sz="1350" b="1" i="0">
                <a:solidFill>
                  <a:srgbClr val="197C78"/>
                </a:solidFill>
              </a:rPr>
              <a:t>•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7DC6D85-6E07-4613-9328-782B85E631DE}"/>
              </a:ext>
            </a:extLst>
          </p:cNvPr>
          <p:cNvSpPr>
            <a:spLocks noGrp="1"/>
          </p:cNvSpPr>
          <p:nvPr/>
        </p:nvSpPr>
        <p:spPr>
          <a:xfrm>
            <a:off x="6877050" y="3810000"/>
            <a:ext cx="41529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 i="0">
                <a:solidFill>
                  <a:srgbClr val="1E2935"/>
                </a:solidFill>
              </a:defRPr>
            </a:pPr>
            <a:r>
              <a:rPr sz="1200" b="0" i="0">
                <a:solidFill>
                  <a:srgbClr val="1E2935"/>
                </a:solidFill>
              </a:rPr>
              <a:t>Calculated RC = [__] Ω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B89FB50-F5E3-49A1-89E5-C46AA3D81D50}"/>
              </a:ext>
            </a:extLst>
          </p:cNvPr>
          <p:cNvSpPr>
            <a:spLocks noGrp="1"/>
          </p:cNvSpPr>
          <p:nvPr/>
        </p:nvSpPr>
        <p:spPr>
          <a:xfrm>
            <a:off x="6648450" y="4219575"/>
            <a:ext cx="1714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 i="0">
                <a:solidFill>
                  <a:srgbClr val="197C78"/>
                </a:solidFill>
              </a:defRPr>
            </a:pPr>
            <a:r>
              <a:rPr sz="1350" b="1" i="0">
                <a:solidFill>
                  <a:srgbClr val="197C78"/>
                </a:solidFill>
              </a:rPr>
              <a:t>•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0089C69-B709-4DF1-BDC6-18F85EA6E036}"/>
              </a:ext>
            </a:extLst>
          </p:cNvPr>
          <p:cNvSpPr>
            <a:spLocks noGrp="1"/>
          </p:cNvSpPr>
          <p:nvPr/>
        </p:nvSpPr>
        <p:spPr>
          <a:xfrm>
            <a:off x="6877050" y="4219575"/>
            <a:ext cx="41529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 i="0">
                <a:solidFill>
                  <a:srgbClr val="1E2935"/>
                </a:solidFill>
              </a:defRPr>
            </a:pPr>
            <a:r>
              <a:rPr sz="1200" b="0" i="0">
                <a:solidFill>
                  <a:srgbClr val="1E2935"/>
                </a:solidFill>
              </a:rPr>
              <a:t>Implemented device: rp1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0255D38-FE0D-427D-8B86-EDF0D77252C7}"/>
              </a:ext>
            </a:extLst>
          </p:cNvPr>
          <p:cNvSpPr>
            <a:spLocks noGrp="1"/>
          </p:cNvSpPr>
          <p:nvPr/>
        </p:nvSpPr>
        <p:spPr>
          <a:xfrm>
            <a:off x="6648450" y="4629150"/>
            <a:ext cx="1714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 i="0">
                <a:solidFill>
                  <a:srgbClr val="197C78"/>
                </a:solidFill>
              </a:defRPr>
            </a:pPr>
            <a:r>
              <a:rPr sz="1350" b="1" i="0">
                <a:solidFill>
                  <a:srgbClr val="197C78"/>
                </a:solidFill>
              </a:rPr>
              <a:t>•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130CC31-5D55-4AA0-8F55-28CFC1B9D7B5}"/>
              </a:ext>
            </a:extLst>
          </p:cNvPr>
          <p:cNvSpPr>
            <a:spLocks noGrp="1"/>
          </p:cNvSpPr>
          <p:nvPr/>
        </p:nvSpPr>
        <p:spPr>
          <a:xfrm>
            <a:off x="6877050" y="4629150"/>
            <a:ext cx="41529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 i="0">
                <a:solidFill>
                  <a:srgbClr val="1E2935"/>
                </a:solidFill>
              </a:defRPr>
            </a:pPr>
            <a:r>
              <a:rPr sz="1200" b="0" i="0">
                <a:solidFill>
                  <a:srgbClr val="1E2935"/>
                </a:solidFill>
              </a:rPr>
              <a:t>CC = [__] pF; bottom plate connected to stage-2 output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245D913-1F42-48DD-BFC8-91B95E9E9024}"/>
              </a:ext>
            </a:extLst>
          </p:cNvPr>
          <p:cNvSpPr>
            <a:spLocks noGrp="1"/>
          </p:cNvSpPr>
          <p:nvPr/>
        </p:nvSpPr>
        <p:spPr>
          <a:xfrm>
            <a:off x="6648450" y="5038725"/>
            <a:ext cx="1714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 i="0">
                <a:solidFill>
                  <a:srgbClr val="197C78"/>
                </a:solidFill>
              </a:defRPr>
            </a:pPr>
            <a:r>
              <a:rPr sz="1350" b="1" i="0">
                <a:solidFill>
                  <a:srgbClr val="197C78"/>
                </a:solidFill>
              </a:rPr>
              <a:t>•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AEC103D-7070-4194-8E08-876067946EB4}"/>
              </a:ext>
            </a:extLst>
          </p:cNvPr>
          <p:cNvSpPr>
            <a:spLocks noGrp="1"/>
          </p:cNvSpPr>
          <p:nvPr/>
        </p:nvSpPr>
        <p:spPr>
          <a:xfrm>
            <a:off x="6877050" y="5038725"/>
            <a:ext cx="41529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 i="0">
                <a:solidFill>
                  <a:srgbClr val="1E2935"/>
                </a:solidFill>
              </a:defRPr>
            </a:pPr>
            <a:r>
              <a:rPr sz="1200" b="0" i="0">
                <a:solidFill>
                  <a:srgbClr val="1E2935"/>
                </a:solidFill>
              </a:rPr>
              <a:t>Explain any sizing change made after the first run</a:t>
            </a:r>
          </a:p>
        </p:txBody>
      </p:sp>
      <p:sp>
        <p:nvSpPr>
          <p:cNvPr id="21" name="直接连接符 20">
            <a:extLst>
              <a:ext uri="{FF2B5EF4-FFF2-40B4-BE49-F238E27FC236}">
                <a16:creationId xmlns:a16="http://schemas.microsoft.com/office/drawing/2014/main" id="{CF1C106A-4D59-4F8D-9A58-050202C1FE27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820400" cy="0"/>
          </a:xfrm>
          <a:prstGeom prst="line">
            <a:avLst/>
          </a:prstGeom>
          <a:noFill/>
          <a:ln w="9525">
            <a:solidFill>
              <a:srgbClr val="D6DEE5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427DDCA-09EF-4B7F-9DFB-174AA53BA37F}"/>
              </a:ext>
            </a:extLst>
          </p:cNvPr>
          <p:cNvSpPr>
            <a:spLocks noGrp="1"/>
          </p:cNvSpPr>
          <p:nvPr/>
        </p:nvSpPr>
        <p:spPr>
          <a:xfrm>
            <a:off x="685800" y="6505575"/>
            <a:ext cx="6667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50" b="0" i="0">
                <a:solidFill>
                  <a:srgbClr val="687887"/>
                </a:solidFill>
              </a:defRPr>
            </a:pPr>
            <a:r>
              <a:rPr sz="750" b="0" i="0">
                <a:solidFill>
                  <a:srgbClr val="687887"/>
                </a:solidFill>
              </a:rPr>
              <a:t>Analog CMOS · RC-compensated two-stage OPAMP</a:t>
            </a:r>
          </a:p>
        </p:txBody>
      </p:sp>
    </p:spTree>
    <p:extLst>
      <p:ext uri="{BB962C8B-B14F-4D97-AF65-F5344CB8AC3E}">
        <p14:creationId xmlns:p14="http://schemas.microsoft.com/office/powerpoint/2010/main" val="12055986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a16:creationId xmlns:a16="http://schemas.microsoft.com/office/drawing/2014/main" id="{DB9B273E-4D51-4E3E-9C26-532BBAC3ACE3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438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 i="0">
                <a:solidFill>
                  <a:srgbClr val="197C78"/>
                </a:solidFill>
              </a:defRPr>
            </a:pPr>
            <a:r>
              <a:rPr sz="900" b="1" i="0">
                <a:solidFill>
                  <a:srgbClr val="197C78"/>
                </a:solidFill>
              </a:rPr>
              <a:t>CADENCE SETUP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947B7E9-D390-4CB8-805B-794D29BAFEBD}"/>
              </a:ext>
            </a:extLst>
          </p:cNvPr>
          <p:cNvSpPr>
            <a:spLocks noGrp="1"/>
          </p:cNvSpPr>
          <p:nvPr/>
        </p:nvSpPr>
        <p:spPr>
          <a:xfrm>
            <a:off x="685800" y="571500"/>
            <a:ext cx="10287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625" b="1" i="0">
                <a:solidFill>
                  <a:srgbClr val="17324D"/>
                </a:solidFill>
              </a:defRPr>
            </a:pPr>
            <a:r>
              <a:rPr sz="2625" b="1" i="0">
                <a:solidFill>
                  <a:srgbClr val="17324D"/>
                </a:solidFill>
              </a:rPr>
              <a:t>Simulation testbenches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1FA43837-C9EB-4876-B1EC-1D51522C2C36}"/>
              </a:ext>
            </a:extLst>
          </p:cNvPr>
          <p:cNvSpPr>
            <a:spLocks noGrp="1"/>
          </p:cNvSpPr>
          <p:nvPr/>
        </p:nvSpPr>
        <p:spPr>
          <a:xfrm>
            <a:off x="685800" y="1200150"/>
            <a:ext cx="10820400" cy="0"/>
          </a:xfrm>
          <a:prstGeom prst="line">
            <a:avLst/>
          </a:prstGeom>
          <a:noFill/>
          <a:ln w="9525">
            <a:solidFill>
              <a:srgbClr val="D6DEE5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75FE827-8C62-44F4-8926-F74C686089EC}"/>
              </a:ext>
            </a:extLst>
          </p:cNvPr>
          <p:cNvSpPr>
            <a:spLocks noGrp="1"/>
          </p:cNvSpPr>
          <p:nvPr/>
        </p:nvSpPr>
        <p:spPr>
          <a:xfrm>
            <a:off x="11001375" y="333375"/>
            <a:ext cx="5048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1" i="0">
                <a:solidFill>
                  <a:srgbClr val="687887"/>
                </a:solidFill>
              </a:defRPr>
            </a:pPr>
            <a:r>
              <a:rPr sz="975" b="1" i="0" dirty="0">
                <a:solidFill>
                  <a:srgbClr val="687887"/>
                </a:solidFill>
              </a:rPr>
              <a:t>05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DF98DF23-0F1E-44AC-B4D0-C400F258FFE7}"/>
              </a:ext>
            </a:extLst>
          </p:cNvPr>
          <p:cNvSpPr>
            <a:spLocks noGrp="1"/>
          </p:cNvSpPr>
          <p:nvPr/>
        </p:nvSpPr>
        <p:spPr>
          <a:xfrm>
            <a:off x="685800" y="1600200"/>
            <a:ext cx="4953000" cy="4000500"/>
          </a:xfrm>
          <a:prstGeom prst="roundRect">
            <a:avLst>
              <a:gd name="adj" fmla="val 1429"/>
            </a:avLst>
          </a:prstGeom>
          <a:solidFill>
            <a:srgbClr val="EAF2F8"/>
          </a:solidFill>
          <a:ln w="9525">
            <a:solidFill>
              <a:srgbClr val="79A7C7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771A55B-5961-4AF4-A2AE-5BCE454CBD7C}"/>
              </a:ext>
            </a:extLst>
          </p:cNvPr>
          <p:cNvSpPr>
            <a:spLocks noGrp="1"/>
          </p:cNvSpPr>
          <p:nvPr/>
        </p:nvSpPr>
        <p:spPr>
          <a:xfrm>
            <a:off x="876300" y="3390900"/>
            <a:ext cx="457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1" i="0">
                <a:solidFill>
                  <a:srgbClr val="17324D"/>
                </a:solidFill>
              </a:defRPr>
            </a:pPr>
            <a:r>
              <a:rPr sz="1500" b="1" i="0">
                <a:solidFill>
                  <a:srgbClr val="17324D"/>
                </a:solidFill>
              </a:rPr>
              <a:t>Insert testbench overview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FF4E0CB-9A53-4DCE-9448-15BE86D21E08}"/>
              </a:ext>
            </a:extLst>
          </p:cNvPr>
          <p:cNvSpPr>
            <a:spLocks noGrp="1"/>
          </p:cNvSpPr>
          <p:nvPr/>
        </p:nvSpPr>
        <p:spPr>
          <a:xfrm>
            <a:off x="914400" y="3733800"/>
            <a:ext cx="44958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0" i="0">
                <a:solidFill>
                  <a:srgbClr val="687887"/>
                </a:solidFill>
              </a:defRPr>
            </a:pPr>
            <a:r>
              <a:rPr sz="975" b="0" i="0">
                <a:solidFill>
                  <a:srgbClr val="687887"/>
                </a:solidFill>
              </a:rPr>
              <a:t>Show the amplifier symbol and the four configurations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3FE0F183-65CE-4729-8906-499EF1322061}"/>
              </a:ext>
            </a:extLst>
          </p:cNvPr>
          <p:cNvSpPr>
            <a:spLocks noGrp="1"/>
          </p:cNvSpPr>
          <p:nvPr/>
        </p:nvSpPr>
        <p:spPr>
          <a:xfrm>
            <a:off x="6057900" y="1600200"/>
            <a:ext cx="5448300" cy="400050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9525">
            <a:solidFill>
              <a:srgbClr val="D6DEE5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48A21E0-B6DC-4C59-B32A-FEBB4975114D}"/>
              </a:ext>
            </a:extLst>
          </p:cNvPr>
          <p:cNvSpPr>
            <a:spLocks noGrp="1"/>
          </p:cNvSpPr>
          <p:nvPr/>
        </p:nvSpPr>
        <p:spPr>
          <a:xfrm>
            <a:off x="6362700" y="1914525"/>
            <a:ext cx="3429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 i="0">
                <a:solidFill>
                  <a:srgbClr val="17324D"/>
                </a:solidFill>
              </a:defRPr>
            </a:pPr>
            <a:r>
              <a:rPr sz="1800" b="1" i="0">
                <a:solidFill>
                  <a:srgbClr val="17324D"/>
                </a:solidFill>
              </a:rPr>
              <a:t>Simulation setups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49F9BEA-2690-41FD-BC37-41432A8C0D84}"/>
              </a:ext>
            </a:extLst>
          </p:cNvPr>
          <p:cNvSpPr>
            <a:spLocks noGrp="1"/>
          </p:cNvSpPr>
          <p:nvPr/>
        </p:nvSpPr>
        <p:spPr>
          <a:xfrm>
            <a:off x="6381750" y="2514600"/>
            <a:ext cx="1333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 i="0">
                <a:solidFill>
                  <a:srgbClr val="197C78"/>
                </a:solidFill>
              </a:defRPr>
            </a:pPr>
            <a:r>
              <a:rPr sz="1350" b="1" i="0">
                <a:solidFill>
                  <a:srgbClr val="197C78"/>
                </a:solidFill>
              </a:rPr>
              <a:t>DC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30FF29E-A5BC-4B23-9EB8-9B2EF00FBAC2}"/>
              </a:ext>
            </a:extLst>
          </p:cNvPr>
          <p:cNvSpPr>
            <a:spLocks noGrp="1"/>
          </p:cNvSpPr>
          <p:nvPr/>
        </p:nvSpPr>
        <p:spPr>
          <a:xfrm>
            <a:off x="8001000" y="2514600"/>
            <a:ext cx="304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 i="0">
                <a:solidFill>
                  <a:srgbClr val="1E2935"/>
                </a:solidFill>
              </a:defRPr>
            </a:pPr>
            <a:r>
              <a:rPr sz="1200" b="0" i="0">
                <a:solidFill>
                  <a:srgbClr val="1E2935"/>
                </a:solidFill>
              </a:rPr>
              <a:t>Operating point / output bias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905DAD6-B69D-45FC-933F-317C56BD6A0E}"/>
              </a:ext>
            </a:extLst>
          </p:cNvPr>
          <p:cNvSpPr>
            <a:spLocks noGrp="1"/>
          </p:cNvSpPr>
          <p:nvPr/>
        </p:nvSpPr>
        <p:spPr>
          <a:xfrm>
            <a:off x="6381750" y="3133725"/>
            <a:ext cx="1333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 i="0">
                <a:solidFill>
                  <a:srgbClr val="197C78"/>
                </a:solidFill>
              </a:defRPr>
            </a:pPr>
            <a:r>
              <a:rPr sz="1350" b="1" i="0">
                <a:solidFill>
                  <a:srgbClr val="197C78"/>
                </a:solidFill>
              </a:rPr>
              <a:t>AC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7FFCFE2-DCE6-47A8-B796-B175EC5516C4}"/>
              </a:ext>
            </a:extLst>
          </p:cNvPr>
          <p:cNvSpPr>
            <a:spLocks noGrp="1"/>
          </p:cNvSpPr>
          <p:nvPr/>
        </p:nvSpPr>
        <p:spPr>
          <a:xfrm>
            <a:off x="8001000" y="3133725"/>
            <a:ext cx="304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 i="0">
                <a:solidFill>
                  <a:srgbClr val="1E2935"/>
                </a:solidFill>
              </a:defRPr>
            </a:pPr>
            <a:r>
              <a:rPr sz="1200" b="0" i="0">
                <a:solidFill>
                  <a:srgbClr val="1E2935"/>
                </a:solidFill>
              </a:rPr>
              <a:t>Open-loop gain, UGBW, phase margin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51C964D-22F7-4E29-BC6B-242EDDC4C0B7}"/>
              </a:ext>
            </a:extLst>
          </p:cNvPr>
          <p:cNvSpPr>
            <a:spLocks noGrp="1"/>
          </p:cNvSpPr>
          <p:nvPr/>
        </p:nvSpPr>
        <p:spPr>
          <a:xfrm>
            <a:off x="6381750" y="3752850"/>
            <a:ext cx="1333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 i="0">
                <a:solidFill>
                  <a:srgbClr val="197C78"/>
                </a:solidFill>
              </a:defRPr>
            </a:pPr>
            <a:r>
              <a:rPr sz="1350" b="1" i="0">
                <a:solidFill>
                  <a:srgbClr val="197C78"/>
                </a:solidFill>
              </a:rPr>
              <a:t>Transient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E0C8DEE-D17E-40AC-8EB7-0AC5E19218A3}"/>
              </a:ext>
            </a:extLst>
          </p:cNvPr>
          <p:cNvSpPr>
            <a:spLocks noGrp="1"/>
          </p:cNvSpPr>
          <p:nvPr/>
        </p:nvSpPr>
        <p:spPr>
          <a:xfrm>
            <a:off x="8001000" y="3752850"/>
            <a:ext cx="304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 i="0">
                <a:solidFill>
                  <a:srgbClr val="1E2935"/>
                </a:solidFill>
              </a:defRPr>
            </a:pPr>
            <a:r>
              <a:rPr sz="1200" b="0" i="0">
                <a:solidFill>
                  <a:srgbClr val="1E2935"/>
                </a:solidFill>
              </a:rPr>
              <a:t>Unity-gain buffer, SR+ and SR−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A9BE75D-1EFF-48B3-8A1B-99CD7C3F53BF}"/>
              </a:ext>
            </a:extLst>
          </p:cNvPr>
          <p:cNvSpPr>
            <a:spLocks noGrp="1"/>
          </p:cNvSpPr>
          <p:nvPr/>
        </p:nvSpPr>
        <p:spPr>
          <a:xfrm>
            <a:off x="6381750" y="4371975"/>
            <a:ext cx="1333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 i="0">
                <a:solidFill>
                  <a:srgbClr val="197C78"/>
                </a:solidFill>
              </a:defRPr>
            </a:pPr>
            <a:r>
              <a:rPr sz="1350" b="1" i="0">
                <a:solidFill>
                  <a:srgbClr val="197C78"/>
                </a:solidFill>
              </a:rPr>
              <a:t>MC / Corner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F796096-9B85-4063-9882-5E903F6A267C}"/>
              </a:ext>
            </a:extLst>
          </p:cNvPr>
          <p:cNvSpPr>
            <a:spLocks noGrp="1"/>
          </p:cNvSpPr>
          <p:nvPr/>
        </p:nvSpPr>
        <p:spPr>
          <a:xfrm>
            <a:off x="8001000" y="4371975"/>
            <a:ext cx="304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 i="0">
                <a:solidFill>
                  <a:srgbClr val="1E2935"/>
                </a:solidFill>
              </a:defRPr>
            </a:pPr>
            <a:r>
              <a:rPr sz="1200" b="0" i="0">
                <a:solidFill>
                  <a:srgbClr val="1E2935"/>
                </a:solidFill>
              </a:rPr>
              <a:t>Offset, PVT and model combinations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2C770AF-316B-4D61-9DDD-9ED9260202A5}"/>
              </a:ext>
            </a:extLst>
          </p:cNvPr>
          <p:cNvSpPr>
            <a:spLocks noGrp="1"/>
          </p:cNvSpPr>
          <p:nvPr/>
        </p:nvSpPr>
        <p:spPr>
          <a:xfrm>
            <a:off x="6362700" y="4953000"/>
            <a:ext cx="457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 i="0">
                <a:solidFill>
                  <a:srgbClr val="C65B43"/>
                </a:solidFill>
              </a:defRPr>
            </a:pPr>
            <a:r>
              <a:rPr sz="1125" b="1" i="0">
                <a:solidFill>
                  <a:srgbClr val="C65B43"/>
                </a:solidFill>
              </a:rPr>
              <a:t>AC source amplitude = 1; VCM = 1 V or VDD − 1 V</a:t>
            </a:r>
          </a:p>
        </p:txBody>
      </p:sp>
      <p:sp>
        <p:nvSpPr>
          <p:cNvPr id="19" name="直接连接符 18">
            <a:extLst>
              <a:ext uri="{FF2B5EF4-FFF2-40B4-BE49-F238E27FC236}">
                <a16:creationId xmlns:a16="http://schemas.microsoft.com/office/drawing/2014/main" id="{041B31BD-B92F-4131-B039-9CE9D32D2CBA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820400" cy="0"/>
          </a:xfrm>
          <a:prstGeom prst="line">
            <a:avLst/>
          </a:prstGeom>
          <a:noFill/>
          <a:ln w="9525">
            <a:solidFill>
              <a:srgbClr val="D6DEE5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4066B13-A633-4E53-923D-EBA6179CE19F}"/>
              </a:ext>
            </a:extLst>
          </p:cNvPr>
          <p:cNvSpPr>
            <a:spLocks noGrp="1"/>
          </p:cNvSpPr>
          <p:nvPr/>
        </p:nvSpPr>
        <p:spPr>
          <a:xfrm>
            <a:off x="685800" y="6505575"/>
            <a:ext cx="6667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50" b="0" i="0">
                <a:solidFill>
                  <a:srgbClr val="687887"/>
                </a:solidFill>
              </a:defRPr>
            </a:pPr>
            <a:r>
              <a:rPr sz="750" b="0" i="0">
                <a:solidFill>
                  <a:srgbClr val="687887"/>
                </a:solidFill>
              </a:rPr>
              <a:t>Analog CMOS · RC-compensated two-stage OPAMP</a:t>
            </a:r>
          </a:p>
        </p:txBody>
      </p:sp>
    </p:spTree>
    <p:extLst>
      <p:ext uri="{BB962C8B-B14F-4D97-AF65-F5344CB8AC3E}">
        <p14:creationId xmlns:p14="http://schemas.microsoft.com/office/powerpoint/2010/main" val="4606484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1DD05241-129E-422F-9022-A06E9A4926BD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438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 i="0">
                <a:solidFill>
                  <a:srgbClr val="197C78"/>
                </a:solidFill>
              </a:defRPr>
            </a:pPr>
            <a:r>
              <a:rPr sz="900" b="1" i="0">
                <a:solidFill>
                  <a:srgbClr val="197C78"/>
                </a:solidFill>
              </a:rPr>
              <a:t>RESULTS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9BF2DCA-84BA-424A-9D00-1D7496AA1196}"/>
              </a:ext>
            </a:extLst>
          </p:cNvPr>
          <p:cNvSpPr>
            <a:spLocks noGrp="1"/>
          </p:cNvSpPr>
          <p:nvPr/>
        </p:nvSpPr>
        <p:spPr>
          <a:xfrm>
            <a:off x="685800" y="571500"/>
            <a:ext cx="10287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625" b="1" i="0">
                <a:solidFill>
                  <a:srgbClr val="17324D"/>
                </a:solidFill>
              </a:defRPr>
            </a:pPr>
            <a:r>
              <a:rPr sz="2625" b="1" i="0">
                <a:solidFill>
                  <a:srgbClr val="17324D"/>
                </a:solidFill>
              </a:rPr>
              <a:t>Nominal AC simulation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949DE9BD-5890-4E3B-88FE-0B0E8A567C5B}"/>
              </a:ext>
            </a:extLst>
          </p:cNvPr>
          <p:cNvSpPr>
            <a:spLocks noGrp="1"/>
          </p:cNvSpPr>
          <p:nvPr/>
        </p:nvSpPr>
        <p:spPr>
          <a:xfrm>
            <a:off x="685800" y="1200150"/>
            <a:ext cx="10820400" cy="0"/>
          </a:xfrm>
          <a:prstGeom prst="line">
            <a:avLst/>
          </a:prstGeom>
          <a:noFill/>
          <a:ln w="9525">
            <a:solidFill>
              <a:srgbClr val="D6DEE5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F1B2793-DF06-4672-BE70-4EDFFE44FF58}"/>
              </a:ext>
            </a:extLst>
          </p:cNvPr>
          <p:cNvSpPr>
            <a:spLocks noGrp="1"/>
          </p:cNvSpPr>
          <p:nvPr/>
        </p:nvSpPr>
        <p:spPr>
          <a:xfrm>
            <a:off x="11001375" y="333375"/>
            <a:ext cx="5048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1" i="0">
                <a:solidFill>
                  <a:srgbClr val="687887"/>
                </a:solidFill>
              </a:defRPr>
            </a:pPr>
            <a:r>
              <a:rPr sz="975" b="1" i="0">
                <a:solidFill>
                  <a:srgbClr val="687887"/>
                </a:solidFill>
              </a:rPr>
              <a:t>06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3F2368B7-0F97-44AE-AF60-1A545C6C1C86}"/>
              </a:ext>
            </a:extLst>
          </p:cNvPr>
          <p:cNvSpPr>
            <a:spLocks noGrp="1"/>
          </p:cNvSpPr>
          <p:nvPr/>
        </p:nvSpPr>
        <p:spPr>
          <a:xfrm>
            <a:off x="685800" y="1600200"/>
            <a:ext cx="7239000" cy="4000500"/>
          </a:xfrm>
          <a:prstGeom prst="roundRect">
            <a:avLst>
              <a:gd name="adj" fmla="val 1429"/>
            </a:avLst>
          </a:prstGeom>
          <a:solidFill>
            <a:srgbClr val="EAF2F8"/>
          </a:solidFill>
          <a:ln w="9525">
            <a:solidFill>
              <a:srgbClr val="79A7C7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80DFB7A-3D5E-4DD4-B793-41D09080BFE8}"/>
              </a:ext>
            </a:extLst>
          </p:cNvPr>
          <p:cNvSpPr>
            <a:spLocks noGrp="1"/>
          </p:cNvSpPr>
          <p:nvPr/>
        </p:nvSpPr>
        <p:spPr>
          <a:xfrm>
            <a:off x="876300" y="3390900"/>
            <a:ext cx="685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1" i="0">
                <a:solidFill>
                  <a:srgbClr val="17324D"/>
                </a:solidFill>
              </a:defRPr>
            </a:pPr>
            <a:r>
              <a:rPr sz="1500" b="1" i="0">
                <a:solidFill>
                  <a:srgbClr val="17324D"/>
                </a:solidFill>
              </a:rPr>
              <a:t>Insert Bode plot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D0EFAD7-F3D5-4D74-9958-55765590DBBF}"/>
              </a:ext>
            </a:extLst>
          </p:cNvPr>
          <p:cNvSpPr>
            <a:spLocks noGrp="1"/>
          </p:cNvSpPr>
          <p:nvPr/>
        </p:nvSpPr>
        <p:spPr>
          <a:xfrm>
            <a:off x="914400" y="3733800"/>
            <a:ext cx="67818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0" i="0">
                <a:solidFill>
                  <a:srgbClr val="687887"/>
                </a:solidFill>
              </a:defRPr>
            </a:pPr>
            <a:r>
              <a:rPr sz="975" b="0" i="0">
                <a:solidFill>
                  <a:srgbClr val="687887"/>
                </a:solidFill>
              </a:rPr>
              <a:t>Annotate ADC, UGBW and PM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C3A93535-288A-4B21-A1F9-9FBF78098D30}"/>
              </a:ext>
            </a:extLst>
          </p:cNvPr>
          <p:cNvSpPr>
            <a:spLocks noGrp="1"/>
          </p:cNvSpPr>
          <p:nvPr/>
        </p:nvSpPr>
        <p:spPr>
          <a:xfrm>
            <a:off x="8305800" y="1600200"/>
            <a:ext cx="3200400" cy="4000500"/>
          </a:xfrm>
          <a:prstGeom prst="roundRect">
            <a:avLst>
              <a:gd name="adj" fmla="val 1786"/>
            </a:avLst>
          </a:prstGeom>
          <a:solidFill>
            <a:srgbClr val="FFFFFF"/>
          </a:solidFill>
          <a:ln w="9525">
            <a:solidFill>
              <a:srgbClr val="D6DEE5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DC2E28C-09E7-4E23-BA2A-878ADA7588C1}"/>
              </a:ext>
            </a:extLst>
          </p:cNvPr>
          <p:cNvSpPr>
            <a:spLocks noGrp="1"/>
          </p:cNvSpPr>
          <p:nvPr/>
        </p:nvSpPr>
        <p:spPr>
          <a:xfrm>
            <a:off x="8572500" y="1914525"/>
            <a:ext cx="266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 i="0">
                <a:solidFill>
                  <a:srgbClr val="17324D"/>
                </a:solidFill>
              </a:defRPr>
            </a:pPr>
            <a:r>
              <a:rPr sz="1800" b="1" i="0">
                <a:solidFill>
                  <a:srgbClr val="17324D"/>
                </a:solidFill>
              </a:rPr>
              <a:t>Measured values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2427BA4-B2B5-41DD-8A45-65F34FE86019}"/>
              </a:ext>
            </a:extLst>
          </p:cNvPr>
          <p:cNvSpPr>
            <a:spLocks noGrp="1"/>
          </p:cNvSpPr>
          <p:nvPr/>
        </p:nvSpPr>
        <p:spPr>
          <a:xfrm>
            <a:off x="8572500" y="2590800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 i="0">
                <a:solidFill>
                  <a:srgbClr val="687887"/>
                </a:solidFill>
              </a:defRPr>
            </a:pPr>
            <a:r>
              <a:rPr sz="1275" b="0" i="0">
                <a:solidFill>
                  <a:srgbClr val="687887"/>
                </a:solidFill>
              </a:rPr>
              <a:t>DC gain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729EFF3-61C1-4B7B-8028-6707B707590A}"/>
              </a:ext>
            </a:extLst>
          </p:cNvPr>
          <p:cNvSpPr>
            <a:spLocks noGrp="1"/>
          </p:cNvSpPr>
          <p:nvPr/>
        </p:nvSpPr>
        <p:spPr>
          <a:xfrm>
            <a:off x="10287000" y="2590800"/>
            <a:ext cx="95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275" b="1" i="0">
                <a:solidFill>
                  <a:srgbClr val="C65B43"/>
                </a:solidFill>
              </a:defRPr>
            </a:pPr>
            <a:r>
              <a:rPr sz="1275" b="1" i="0">
                <a:solidFill>
                  <a:srgbClr val="C65B43"/>
                </a:solidFill>
              </a:rPr>
              <a:t>[__] dB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4EDDB19-155B-4FA0-9B83-766BECF65E92}"/>
              </a:ext>
            </a:extLst>
          </p:cNvPr>
          <p:cNvSpPr>
            <a:spLocks noGrp="1"/>
          </p:cNvSpPr>
          <p:nvPr/>
        </p:nvSpPr>
        <p:spPr>
          <a:xfrm>
            <a:off x="8572500" y="3162300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 i="0">
                <a:solidFill>
                  <a:srgbClr val="687887"/>
                </a:solidFill>
              </a:defRPr>
            </a:pPr>
            <a:r>
              <a:rPr sz="1275" b="0" i="0">
                <a:solidFill>
                  <a:srgbClr val="687887"/>
                </a:solidFill>
              </a:rPr>
              <a:t>UGBW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6F6A6E6-BDB6-4BFF-BA0E-C10052C05050}"/>
              </a:ext>
            </a:extLst>
          </p:cNvPr>
          <p:cNvSpPr>
            <a:spLocks noGrp="1"/>
          </p:cNvSpPr>
          <p:nvPr/>
        </p:nvSpPr>
        <p:spPr>
          <a:xfrm>
            <a:off x="10287000" y="3162300"/>
            <a:ext cx="95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275" b="1" i="0">
                <a:solidFill>
                  <a:srgbClr val="C65B43"/>
                </a:solidFill>
              </a:defRPr>
            </a:pPr>
            <a:r>
              <a:rPr sz="1275" b="1" i="0">
                <a:solidFill>
                  <a:srgbClr val="C65B43"/>
                </a:solidFill>
              </a:rPr>
              <a:t>[__] MHz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E915416-F2FA-49C6-835D-F129FB70128B}"/>
              </a:ext>
            </a:extLst>
          </p:cNvPr>
          <p:cNvSpPr>
            <a:spLocks noGrp="1"/>
          </p:cNvSpPr>
          <p:nvPr/>
        </p:nvSpPr>
        <p:spPr>
          <a:xfrm>
            <a:off x="8572500" y="3733800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 i="0">
                <a:solidFill>
                  <a:srgbClr val="687887"/>
                </a:solidFill>
              </a:defRPr>
            </a:pPr>
            <a:r>
              <a:rPr sz="1275" b="0" i="0">
                <a:solidFill>
                  <a:srgbClr val="687887"/>
                </a:solidFill>
              </a:rPr>
              <a:t>Phase margin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1379F60-F81D-48FF-89E9-3649D463FE37}"/>
              </a:ext>
            </a:extLst>
          </p:cNvPr>
          <p:cNvSpPr>
            <a:spLocks noGrp="1"/>
          </p:cNvSpPr>
          <p:nvPr/>
        </p:nvSpPr>
        <p:spPr>
          <a:xfrm>
            <a:off x="10287000" y="3733800"/>
            <a:ext cx="95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275" b="1" i="0">
                <a:solidFill>
                  <a:srgbClr val="C65B43"/>
                </a:solidFill>
              </a:defRPr>
            </a:pPr>
            <a:r>
              <a:rPr sz="1275" b="1" i="0">
                <a:solidFill>
                  <a:srgbClr val="C65B43"/>
                </a:solidFill>
              </a:rPr>
              <a:t>[__]°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10D87A8-0F29-4FBC-9791-148B8D6CC44F}"/>
              </a:ext>
            </a:extLst>
          </p:cNvPr>
          <p:cNvSpPr>
            <a:spLocks noGrp="1"/>
          </p:cNvSpPr>
          <p:nvPr/>
        </p:nvSpPr>
        <p:spPr>
          <a:xfrm>
            <a:off x="8572500" y="4305300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 i="0">
                <a:solidFill>
                  <a:srgbClr val="687887"/>
                </a:solidFill>
              </a:defRPr>
            </a:pPr>
            <a:r>
              <a:rPr sz="1275" b="0" i="0">
                <a:solidFill>
                  <a:srgbClr val="687887"/>
                </a:solidFill>
              </a:rPr>
              <a:t>Load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69A8BFE-B739-4AAD-9C9E-539CFC2AC0B6}"/>
              </a:ext>
            </a:extLst>
          </p:cNvPr>
          <p:cNvSpPr>
            <a:spLocks noGrp="1"/>
          </p:cNvSpPr>
          <p:nvPr/>
        </p:nvSpPr>
        <p:spPr>
          <a:xfrm>
            <a:off x="10287000" y="4305300"/>
            <a:ext cx="95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275" b="1" i="0">
                <a:solidFill>
                  <a:srgbClr val="C65B43"/>
                </a:solidFill>
              </a:defRPr>
            </a:pPr>
            <a:r>
              <a:rPr sz="1275" b="1" i="0">
                <a:solidFill>
                  <a:srgbClr val="C65B43"/>
                </a:solidFill>
              </a:rPr>
              <a:t>3 pF</a:t>
            </a:r>
          </a:p>
        </p:txBody>
      </p:sp>
      <p:sp>
        <p:nvSpPr>
          <p:cNvPr id="18" name="直接连接符 17">
            <a:extLst>
              <a:ext uri="{FF2B5EF4-FFF2-40B4-BE49-F238E27FC236}">
                <a16:creationId xmlns:a16="http://schemas.microsoft.com/office/drawing/2014/main" id="{9F601B36-3B5B-4DF2-8D6D-2F591D82E4B8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820400" cy="0"/>
          </a:xfrm>
          <a:prstGeom prst="line">
            <a:avLst/>
          </a:prstGeom>
          <a:noFill/>
          <a:ln w="9525">
            <a:solidFill>
              <a:srgbClr val="D6DEE5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70E87A7-8ACA-4DD0-A48B-9636ACF71A32}"/>
              </a:ext>
            </a:extLst>
          </p:cNvPr>
          <p:cNvSpPr>
            <a:spLocks noGrp="1"/>
          </p:cNvSpPr>
          <p:nvPr/>
        </p:nvSpPr>
        <p:spPr>
          <a:xfrm>
            <a:off x="685800" y="6505575"/>
            <a:ext cx="6667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50" b="0" i="0">
                <a:solidFill>
                  <a:srgbClr val="687887"/>
                </a:solidFill>
              </a:defRPr>
            </a:pPr>
            <a:r>
              <a:rPr sz="750" b="0" i="0">
                <a:solidFill>
                  <a:srgbClr val="687887"/>
                </a:solidFill>
              </a:rPr>
              <a:t>Analog CMOS · RC-compensated two-stage OPAMP</a:t>
            </a:r>
          </a:p>
        </p:txBody>
      </p:sp>
    </p:spTree>
    <p:extLst>
      <p:ext uri="{BB962C8B-B14F-4D97-AF65-F5344CB8AC3E}">
        <p14:creationId xmlns:p14="http://schemas.microsoft.com/office/powerpoint/2010/main" val="20585884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8CE10295-CADD-4936-A7D2-AEAAA95142E0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438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 i="0">
                <a:solidFill>
                  <a:srgbClr val="197C78"/>
                </a:solidFill>
              </a:defRPr>
            </a:pPr>
            <a:r>
              <a:rPr sz="900" b="1" i="0">
                <a:solidFill>
                  <a:srgbClr val="197C78"/>
                </a:solidFill>
              </a:rPr>
              <a:t>RESULTS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30F60CD-BD21-403B-8583-89F436002FC1}"/>
              </a:ext>
            </a:extLst>
          </p:cNvPr>
          <p:cNvSpPr>
            <a:spLocks noGrp="1"/>
          </p:cNvSpPr>
          <p:nvPr/>
        </p:nvSpPr>
        <p:spPr>
          <a:xfrm>
            <a:off x="685800" y="571500"/>
            <a:ext cx="10287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625" b="1" i="0">
                <a:solidFill>
                  <a:srgbClr val="17324D"/>
                </a:solidFill>
              </a:defRPr>
            </a:pPr>
            <a:r>
              <a:rPr sz="2625" b="1" i="0">
                <a:solidFill>
                  <a:srgbClr val="17324D"/>
                </a:solidFill>
              </a:rPr>
              <a:t>Transient response and ICMR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3F52D4A7-40C5-42A8-A711-542CE8492E2D}"/>
              </a:ext>
            </a:extLst>
          </p:cNvPr>
          <p:cNvSpPr>
            <a:spLocks noGrp="1"/>
          </p:cNvSpPr>
          <p:nvPr/>
        </p:nvSpPr>
        <p:spPr>
          <a:xfrm>
            <a:off x="685800" y="1200150"/>
            <a:ext cx="10820400" cy="0"/>
          </a:xfrm>
          <a:prstGeom prst="line">
            <a:avLst/>
          </a:prstGeom>
          <a:noFill/>
          <a:ln w="9525">
            <a:solidFill>
              <a:srgbClr val="D6DEE5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4E40E0A-A9F1-45E1-8F0D-0429FC9B80E5}"/>
              </a:ext>
            </a:extLst>
          </p:cNvPr>
          <p:cNvSpPr>
            <a:spLocks noGrp="1"/>
          </p:cNvSpPr>
          <p:nvPr/>
        </p:nvSpPr>
        <p:spPr>
          <a:xfrm>
            <a:off x="11001375" y="333375"/>
            <a:ext cx="5048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1" i="0">
                <a:solidFill>
                  <a:srgbClr val="687887"/>
                </a:solidFill>
              </a:defRPr>
            </a:pPr>
            <a:r>
              <a:rPr sz="975" b="1" i="0">
                <a:solidFill>
                  <a:srgbClr val="687887"/>
                </a:solidFill>
              </a:rPr>
              <a:t>07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B65DE945-CC37-4054-A125-21839336B70F}"/>
              </a:ext>
            </a:extLst>
          </p:cNvPr>
          <p:cNvSpPr>
            <a:spLocks noGrp="1"/>
          </p:cNvSpPr>
          <p:nvPr/>
        </p:nvSpPr>
        <p:spPr>
          <a:xfrm>
            <a:off x="685800" y="1600200"/>
            <a:ext cx="5143500" cy="4000500"/>
          </a:xfrm>
          <a:prstGeom prst="roundRect">
            <a:avLst>
              <a:gd name="adj" fmla="val 1429"/>
            </a:avLst>
          </a:prstGeom>
          <a:solidFill>
            <a:srgbClr val="EAF2F8"/>
          </a:solidFill>
          <a:ln w="9525">
            <a:solidFill>
              <a:srgbClr val="79A7C7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6BD82AC-948A-4147-9CC8-E16E2D2F49AD}"/>
              </a:ext>
            </a:extLst>
          </p:cNvPr>
          <p:cNvSpPr>
            <a:spLocks noGrp="1"/>
          </p:cNvSpPr>
          <p:nvPr/>
        </p:nvSpPr>
        <p:spPr>
          <a:xfrm>
            <a:off x="876300" y="3390900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1" i="0">
                <a:solidFill>
                  <a:srgbClr val="17324D"/>
                </a:solidFill>
              </a:defRPr>
            </a:pPr>
            <a:r>
              <a:rPr sz="1500" b="1" i="0">
                <a:solidFill>
                  <a:srgbClr val="17324D"/>
                </a:solidFill>
              </a:rPr>
              <a:t>Insert SR waveform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0B2D5A1-5C90-4A36-958E-36060B94E639}"/>
              </a:ext>
            </a:extLst>
          </p:cNvPr>
          <p:cNvSpPr>
            <a:spLocks noGrp="1"/>
          </p:cNvSpPr>
          <p:nvPr/>
        </p:nvSpPr>
        <p:spPr>
          <a:xfrm>
            <a:off x="914400" y="3733800"/>
            <a:ext cx="46863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0" i="0">
                <a:solidFill>
                  <a:srgbClr val="687887"/>
                </a:solidFill>
              </a:defRPr>
            </a:pPr>
            <a:r>
              <a:rPr sz="975" b="0" i="0">
                <a:solidFill>
                  <a:srgbClr val="687887"/>
                </a:solidFill>
              </a:rPr>
              <a:t>Mark positive and negative slew-rate fits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F2D8EFBF-5C12-4988-A4E9-8B9E65569877}"/>
              </a:ext>
            </a:extLst>
          </p:cNvPr>
          <p:cNvSpPr>
            <a:spLocks noGrp="1"/>
          </p:cNvSpPr>
          <p:nvPr/>
        </p:nvSpPr>
        <p:spPr>
          <a:xfrm>
            <a:off x="6343650" y="1600200"/>
            <a:ext cx="5162550" cy="4000500"/>
          </a:xfrm>
          <a:prstGeom prst="roundRect">
            <a:avLst>
              <a:gd name="adj" fmla="val 1429"/>
            </a:avLst>
          </a:prstGeom>
          <a:solidFill>
            <a:srgbClr val="EAF2F8"/>
          </a:solidFill>
          <a:ln w="9525">
            <a:solidFill>
              <a:srgbClr val="79A7C7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F407D59-61A3-4FF7-A257-BA050E933DD5}"/>
              </a:ext>
            </a:extLst>
          </p:cNvPr>
          <p:cNvSpPr>
            <a:spLocks noGrp="1"/>
          </p:cNvSpPr>
          <p:nvPr/>
        </p:nvSpPr>
        <p:spPr>
          <a:xfrm>
            <a:off x="6534150" y="3390900"/>
            <a:ext cx="4781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1" i="0">
                <a:solidFill>
                  <a:srgbClr val="17324D"/>
                </a:solidFill>
              </a:defRPr>
            </a:pPr>
            <a:r>
              <a:rPr sz="1500" b="1" i="0">
                <a:solidFill>
                  <a:srgbClr val="17324D"/>
                </a:solidFill>
              </a:rPr>
              <a:t>Insert ICMR sweep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5AE1C16-E9CB-4941-B679-83B1E4CB89EE}"/>
              </a:ext>
            </a:extLst>
          </p:cNvPr>
          <p:cNvSpPr>
            <a:spLocks noGrp="1"/>
          </p:cNvSpPr>
          <p:nvPr/>
        </p:nvSpPr>
        <p:spPr>
          <a:xfrm>
            <a:off x="6572250" y="3733800"/>
            <a:ext cx="4705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0" i="0">
                <a:solidFill>
                  <a:srgbClr val="687887"/>
                </a:solidFill>
              </a:defRPr>
            </a:pPr>
            <a:r>
              <a:rPr sz="975" b="0" i="0">
                <a:solidFill>
                  <a:srgbClr val="687887"/>
                </a:solidFill>
              </a:rPr>
              <a:t>Show usable range from 1 V to VDD − 1 V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EC835B7-E624-48D5-BF35-88F3EC23A93D}"/>
              </a:ext>
            </a:extLst>
          </p:cNvPr>
          <p:cNvSpPr>
            <a:spLocks noGrp="1"/>
          </p:cNvSpPr>
          <p:nvPr/>
        </p:nvSpPr>
        <p:spPr>
          <a:xfrm>
            <a:off x="933450" y="5219700"/>
            <a:ext cx="4667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1" i="0">
                <a:solidFill>
                  <a:srgbClr val="C65B43"/>
                </a:solidFill>
              </a:defRPr>
            </a:pPr>
            <a:r>
              <a:rPr sz="1200" b="1" i="0">
                <a:solidFill>
                  <a:srgbClr val="C65B43"/>
                </a:solidFill>
              </a:rPr>
              <a:t>SR+ = [__] V/µs    SR− = [__] V/µs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2113E6B-0347-49EC-93C4-DD279BB640B3}"/>
              </a:ext>
            </a:extLst>
          </p:cNvPr>
          <p:cNvSpPr>
            <a:spLocks noGrp="1"/>
          </p:cNvSpPr>
          <p:nvPr/>
        </p:nvSpPr>
        <p:spPr>
          <a:xfrm>
            <a:off x="6629400" y="5219700"/>
            <a:ext cx="45910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1" i="0">
                <a:solidFill>
                  <a:srgbClr val="C65B43"/>
                </a:solidFill>
              </a:defRPr>
            </a:pPr>
            <a:r>
              <a:rPr sz="1200" b="1" i="0">
                <a:solidFill>
                  <a:srgbClr val="C65B43"/>
                </a:solidFill>
              </a:rPr>
              <a:t>ICMR = [__] … [__] V</a:t>
            </a:r>
          </a:p>
        </p:txBody>
      </p:sp>
      <p:sp>
        <p:nvSpPr>
          <p:cNvPr id="13" name="直接连接符 12">
            <a:extLst>
              <a:ext uri="{FF2B5EF4-FFF2-40B4-BE49-F238E27FC236}">
                <a16:creationId xmlns:a16="http://schemas.microsoft.com/office/drawing/2014/main" id="{B9C7BDA4-F891-437C-ACB9-BC72195825F7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820400" cy="0"/>
          </a:xfrm>
          <a:prstGeom prst="line">
            <a:avLst/>
          </a:prstGeom>
          <a:noFill/>
          <a:ln w="9525">
            <a:solidFill>
              <a:srgbClr val="D6DEE5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16E3894-6ACE-4F0C-B7C7-7A4B4C3B01DB}"/>
              </a:ext>
            </a:extLst>
          </p:cNvPr>
          <p:cNvSpPr>
            <a:spLocks noGrp="1"/>
          </p:cNvSpPr>
          <p:nvPr/>
        </p:nvSpPr>
        <p:spPr>
          <a:xfrm>
            <a:off x="685800" y="6505575"/>
            <a:ext cx="6667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50" b="0" i="0">
                <a:solidFill>
                  <a:srgbClr val="687887"/>
                </a:solidFill>
              </a:defRPr>
            </a:pPr>
            <a:r>
              <a:rPr sz="750" b="0" i="0">
                <a:solidFill>
                  <a:srgbClr val="687887"/>
                </a:solidFill>
              </a:rPr>
              <a:t>Analog CMOS · RC-compensated two-stage OPAMP</a:t>
            </a:r>
          </a:p>
        </p:txBody>
      </p:sp>
    </p:spTree>
    <p:extLst>
      <p:ext uri="{BB962C8B-B14F-4D97-AF65-F5344CB8AC3E}">
        <p14:creationId xmlns:p14="http://schemas.microsoft.com/office/powerpoint/2010/main" val="5189995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>
            <a:extLst>
              <a:ext uri="{FF2B5EF4-FFF2-40B4-BE49-F238E27FC236}">
                <a16:creationId xmlns:a16="http://schemas.microsoft.com/office/drawing/2014/main" id="{AF355D1B-82F7-4CE0-A9FF-4F030E415EE9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438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 i="0">
                <a:solidFill>
                  <a:srgbClr val="197C78"/>
                </a:solidFill>
              </a:defRPr>
            </a:pPr>
            <a:r>
              <a:rPr sz="900" b="1" i="0">
                <a:solidFill>
                  <a:srgbClr val="197C78"/>
                </a:solidFill>
              </a:rPr>
              <a:t>ROBUSTNESS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DC323E1-3ED7-4754-A5C5-930BF92A57D5}"/>
              </a:ext>
            </a:extLst>
          </p:cNvPr>
          <p:cNvSpPr>
            <a:spLocks noGrp="1"/>
          </p:cNvSpPr>
          <p:nvPr/>
        </p:nvSpPr>
        <p:spPr>
          <a:xfrm>
            <a:off x="685800" y="571500"/>
            <a:ext cx="10287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625" b="1" i="0">
                <a:solidFill>
                  <a:srgbClr val="17324D"/>
                </a:solidFill>
              </a:defRPr>
            </a:pPr>
            <a:r>
              <a:rPr sz="2625" b="1" i="0">
                <a:solidFill>
                  <a:srgbClr val="17324D"/>
                </a:solidFill>
              </a:rPr>
              <a:t>Monte Carlo simulation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94BF7DA6-2938-400F-8FCB-1FD0C235341B}"/>
              </a:ext>
            </a:extLst>
          </p:cNvPr>
          <p:cNvSpPr>
            <a:spLocks noGrp="1"/>
          </p:cNvSpPr>
          <p:nvPr/>
        </p:nvSpPr>
        <p:spPr>
          <a:xfrm>
            <a:off x="685800" y="1200150"/>
            <a:ext cx="10820400" cy="0"/>
          </a:xfrm>
          <a:prstGeom prst="line">
            <a:avLst/>
          </a:prstGeom>
          <a:noFill/>
          <a:ln w="9525">
            <a:solidFill>
              <a:srgbClr val="D6DEE5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88329F6-6381-480A-8BBF-200B33BCD729}"/>
              </a:ext>
            </a:extLst>
          </p:cNvPr>
          <p:cNvSpPr>
            <a:spLocks noGrp="1"/>
          </p:cNvSpPr>
          <p:nvPr/>
        </p:nvSpPr>
        <p:spPr>
          <a:xfrm>
            <a:off x="11001375" y="333375"/>
            <a:ext cx="5048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1" i="0">
                <a:solidFill>
                  <a:srgbClr val="687887"/>
                </a:solidFill>
              </a:defRPr>
            </a:pPr>
            <a:r>
              <a:rPr sz="975" b="1" i="0">
                <a:solidFill>
                  <a:srgbClr val="687887"/>
                </a:solidFill>
              </a:rPr>
              <a:t>08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582AA5E5-DF38-442F-98DF-AA696A8C2FDC}"/>
              </a:ext>
            </a:extLst>
          </p:cNvPr>
          <p:cNvSpPr>
            <a:spLocks noGrp="1"/>
          </p:cNvSpPr>
          <p:nvPr/>
        </p:nvSpPr>
        <p:spPr>
          <a:xfrm>
            <a:off x="685800" y="1600200"/>
            <a:ext cx="6477000" cy="4000500"/>
          </a:xfrm>
          <a:prstGeom prst="roundRect">
            <a:avLst>
              <a:gd name="adj" fmla="val 1429"/>
            </a:avLst>
          </a:prstGeom>
          <a:solidFill>
            <a:srgbClr val="EAF2F8"/>
          </a:solidFill>
          <a:ln w="9525">
            <a:solidFill>
              <a:srgbClr val="79A7C7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A584D79-29A8-4B50-AFD4-B41EAA6FE010}"/>
              </a:ext>
            </a:extLst>
          </p:cNvPr>
          <p:cNvSpPr>
            <a:spLocks noGrp="1"/>
          </p:cNvSpPr>
          <p:nvPr/>
        </p:nvSpPr>
        <p:spPr>
          <a:xfrm>
            <a:off x="876300" y="3390900"/>
            <a:ext cx="609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1" i="0">
                <a:solidFill>
                  <a:srgbClr val="17324D"/>
                </a:solidFill>
              </a:defRPr>
            </a:pPr>
            <a:r>
              <a:rPr sz="1500" b="1" i="0">
                <a:solidFill>
                  <a:srgbClr val="17324D"/>
                </a:solidFill>
              </a:rPr>
              <a:t>Insert Vos histogram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2F6E0D8-1E1E-49EC-8F27-B686E21E0825}"/>
              </a:ext>
            </a:extLst>
          </p:cNvPr>
          <p:cNvSpPr>
            <a:spLocks noGrp="1"/>
          </p:cNvSpPr>
          <p:nvPr/>
        </p:nvSpPr>
        <p:spPr>
          <a:xfrm>
            <a:off x="914400" y="3733800"/>
            <a:ext cx="60198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0" i="0">
                <a:solidFill>
                  <a:srgbClr val="687887"/>
                </a:solidFill>
              </a:defRPr>
            </a:pPr>
            <a:r>
              <a:rPr sz="975" b="0" i="0">
                <a:solidFill>
                  <a:srgbClr val="687887"/>
                </a:solidFill>
              </a:rPr>
              <a:t>Nominal: 3.3 V, 27 °C, VCM = VDD/2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03E6D056-BB8D-40EC-AB2F-C7330208A5CD}"/>
              </a:ext>
            </a:extLst>
          </p:cNvPr>
          <p:cNvSpPr>
            <a:spLocks noGrp="1"/>
          </p:cNvSpPr>
          <p:nvPr/>
        </p:nvSpPr>
        <p:spPr>
          <a:xfrm>
            <a:off x="7620000" y="1600200"/>
            <a:ext cx="3886200" cy="4000500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9525">
            <a:solidFill>
              <a:srgbClr val="D6DEE5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13DFB34-1FA2-4722-A739-B0998F56CCD1}"/>
              </a:ext>
            </a:extLst>
          </p:cNvPr>
          <p:cNvSpPr>
            <a:spLocks noGrp="1"/>
          </p:cNvSpPr>
          <p:nvPr/>
        </p:nvSpPr>
        <p:spPr>
          <a:xfrm>
            <a:off x="7924800" y="1914525"/>
            <a:ext cx="2857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 i="0">
                <a:solidFill>
                  <a:srgbClr val="17324D"/>
                </a:solidFill>
              </a:defRPr>
            </a:pPr>
            <a:r>
              <a:rPr sz="1800" b="1" i="0">
                <a:solidFill>
                  <a:srgbClr val="17324D"/>
                </a:solidFill>
              </a:rPr>
              <a:t>Offset summary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56BA755-8D07-4AD7-9D8E-B9B8367ADFF8}"/>
              </a:ext>
            </a:extLst>
          </p:cNvPr>
          <p:cNvSpPr>
            <a:spLocks noGrp="1"/>
          </p:cNvSpPr>
          <p:nvPr/>
        </p:nvSpPr>
        <p:spPr>
          <a:xfrm>
            <a:off x="7924800" y="2571750"/>
            <a:ext cx="1714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 i="0">
                <a:solidFill>
                  <a:srgbClr val="687887"/>
                </a:solidFill>
              </a:defRPr>
            </a:pPr>
            <a:r>
              <a:rPr sz="1200" b="0" i="0">
                <a:solidFill>
                  <a:srgbClr val="687887"/>
                </a:solidFill>
              </a:rPr>
              <a:t>Samples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A5AA876-311D-49DE-90E6-0E33C7277D64}"/>
              </a:ext>
            </a:extLst>
          </p:cNvPr>
          <p:cNvSpPr>
            <a:spLocks noGrp="1"/>
          </p:cNvSpPr>
          <p:nvPr/>
        </p:nvSpPr>
        <p:spPr>
          <a:xfrm>
            <a:off x="9848850" y="2571750"/>
            <a:ext cx="1333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200" b="1" i="0">
                <a:solidFill>
                  <a:srgbClr val="C65B43"/>
                </a:solidFill>
              </a:defRPr>
            </a:pPr>
            <a:r>
              <a:rPr sz="1200" b="1" i="0">
                <a:solidFill>
                  <a:srgbClr val="C65B43"/>
                </a:solidFill>
              </a:rPr>
              <a:t>[__]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9276463-D5C8-4E0E-8094-5FB679040AE4}"/>
              </a:ext>
            </a:extLst>
          </p:cNvPr>
          <p:cNvSpPr>
            <a:spLocks noGrp="1"/>
          </p:cNvSpPr>
          <p:nvPr/>
        </p:nvSpPr>
        <p:spPr>
          <a:xfrm>
            <a:off x="7924800" y="3067050"/>
            <a:ext cx="1714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 i="0">
                <a:solidFill>
                  <a:srgbClr val="687887"/>
                </a:solidFill>
              </a:defRPr>
            </a:pPr>
            <a:r>
              <a:rPr sz="1200" b="0" i="0">
                <a:solidFill>
                  <a:srgbClr val="687887"/>
                </a:solidFill>
              </a:rPr>
              <a:t>Mean Vos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5830977-63B5-4F63-AB89-C9EB24EF976E}"/>
              </a:ext>
            </a:extLst>
          </p:cNvPr>
          <p:cNvSpPr>
            <a:spLocks noGrp="1"/>
          </p:cNvSpPr>
          <p:nvPr/>
        </p:nvSpPr>
        <p:spPr>
          <a:xfrm>
            <a:off x="9848850" y="3067050"/>
            <a:ext cx="1333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200" b="1" i="0">
                <a:solidFill>
                  <a:srgbClr val="C65B43"/>
                </a:solidFill>
              </a:defRPr>
            </a:pPr>
            <a:r>
              <a:rPr sz="1200" b="1" i="0">
                <a:solidFill>
                  <a:srgbClr val="C65B43"/>
                </a:solidFill>
              </a:rPr>
              <a:t>[__] µV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46422FE-C635-4234-9B65-DE03268B3C9E}"/>
              </a:ext>
            </a:extLst>
          </p:cNvPr>
          <p:cNvSpPr>
            <a:spLocks noGrp="1"/>
          </p:cNvSpPr>
          <p:nvPr/>
        </p:nvSpPr>
        <p:spPr>
          <a:xfrm>
            <a:off x="7924800" y="3562350"/>
            <a:ext cx="1714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 i="0">
                <a:solidFill>
                  <a:srgbClr val="687887"/>
                </a:solidFill>
              </a:defRPr>
            </a:pPr>
            <a:r>
              <a:rPr sz="1200" b="0" i="0">
                <a:solidFill>
                  <a:srgbClr val="687887"/>
                </a:solidFill>
              </a:rPr>
              <a:t>σVos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4EFFC58-491C-41BE-B025-2369E00C7D65}"/>
              </a:ext>
            </a:extLst>
          </p:cNvPr>
          <p:cNvSpPr>
            <a:spLocks noGrp="1"/>
          </p:cNvSpPr>
          <p:nvPr/>
        </p:nvSpPr>
        <p:spPr>
          <a:xfrm>
            <a:off x="9848850" y="3562350"/>
            <a:ext cx="1333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200" b="1" i="0">
                <a:solidFill>
                  <a:srgbClr val="C65B43"/>
                </a:solidFill>
              </a:defRPr>
            </a:pPr>
            <a:r>
              <a:rPr sz="1200" b="1" i="0">
                <a:solidFill>
                  <a:srgbClr val="C65B43"/>
                </a:solidFill>
              </a:rPr>
              <a:t>[__] mV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4831E06-645F-49C4-A9A2-EF64A8827359}"/>
              </a:ext>
            </a:extLst>
          </p:cNvPr>
          <p:cNvSpPr>
            <a:spLocks noGrp="1"/>
          </p:cNvSpPr>
          <p:nvPr/>
        </p:nvSpPr>
        <p:spPr>
          <a:xfrm>
            <a:off x="7924800" y="4057650"/>
            <a:ext cx="1714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 i="0">
                <a:solidFill>
                  <a:srgbClr val="687887"/>
                </a:solidFill>
              </a:defRPr>
            </a:pPr>
            <a:r>
              <a:rPr sz="1200" b="0" i="0">
                <a:solidFill>
                  <a:srgbClr val="687887"/>
                </a:solidFill>
              </a:rPr>
              <a:t>−3σ / +3σ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6E2EA07-08AB-43EC-9614-420F90AAF339}"/>
              </a:ext>
            </a:extLst>
          </p:cNvPr>
          <p:cNvSpPr>
            <a:spLocks noGrp="1"/>
          </p:cNvSpPr>
          <p:nvPr/>
        </p:nvSpPr>
        <p:spPr>
          <a:xfrm>
            <a:off x="9848850" y="4057650"/>
            <a:ext cx="1333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200" b="1" i="0">
                <a:solidFill>
                  <a:srgbClr val="C65B43"/>
                </a:solidFill>
              </a:defRPr>
            </a:pPr>
            <a:r>
              <a:rPr sz="1200" b="1" i="0">
                <a:solidFill>
                  <a:srgbClr val="C65B43"/>
                </a:solidFill>
              </a:rPr>
              <a:t>[__] / [__] mV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DF10919-0810-4218-BEB3-E267AA2A8859}"/>
              </a:ext>
            </a:extLst>
          </p:cNvPr>
          <p:cNvSpPr>
            <a:spLocks noGrp="1"/>
          </p:cNvSpPr>
          <p:nvPr/>
        </p:nvSpPr>
        <p:spPr>
          <a:xfrm>
            <a:off x="7924800" y="4552950"/>
            <a:ext cx="1714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 i="0">
                <a:solidFill>
                  <a:srgbClr val="687887"/>
                </a:solidFill>
              </a:defRPr>
            </a:pPr>
            <a:r>
              <a:rPr sz="1200" b="0" i="0">
                <a:solidFill>
                  <a:srgbClr val="687887"/>
                </a:solidFill>
              </a:rPr>
              <a:t>Spec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EB63B92-099D-4B11-A198-C89CD9676A96}"/>
              </a:ext>
            </a:extLst>
          </p:cNvPr>
          <p:cNvSpPr>
            <a:spLocks noGrp="1"/>
          </p:cNvSpPr>
          <p:nvPr/>
        </p:nvSpPr>
        <p:spPr>
          <a:xfrm>
            <a:off x="9848850" y="4552950"/>
            <a:ext cx="1333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200" b="1" i="0">
                <a:solidFill>
                  <a:srgbClr val="197C78"/>
                </a:solidFill>
              </a:defRPr>
            </a:pPr>
            <a:r>
              <a:rPr sz="1200" b="1" i="0">
                <a:solidFill>
                  <a:srgbClr val="197C78"/>
                </a:solidFill>
              </a:rPr>
              <a:t>σ ≤ 1.33 mV</a:t>
            </a:r>
          </a:p>
        </p:txBody>
      </p:sp>
      <p:sp>
        <p:nvSpPr>
          <p:cNvPr id="20" name="直接连接符 19">
            <a:extLst>
              <a:ext uri="{FF2B5EF4-FFF2-40B4-BE49-F238E27FC236}">
                <a16:creationId xmlns:a16="http://schemas.microsoft.com/office/drawing/2014/main" id="{F6BF402E-B98B-4D7C-B661-B414CBB3AB75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820400" cy="0"/>
          </a:xfrm>
          <a:prstGeom prst="line">
            <a:avLst/>
          </a:prstGeom>
          <a:noFill/>
          <a:ln w="9525">
            <a:solidFill>
              <a:srgbClr val="D6DEE5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F68206F-3109-45A3-8F43-6A4C94A2BC83}"/>
              </a:ext>
            </a:extLst>
          </p:cNvPr>
          <p:cNvSpPr>
            <a:spLocks noGrp="1"/>
          </p:cNvSpPr>
          <p:nvPr/>
        </p:nvSpPr>
        <p:spPr>
          <a:xfrm>
            <a:off x="685800" y="6505575"/>
            <a:ext cx="6667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50" b="0" i="0">
                <a:solidFill>
                  <a:srgbClr val="687887"/>
                </a:solidFill>
              </a:defRPr>
            </a:pPr>
            <a:r>
              <a:rPr sz="750" b="0" i="0">
                <a:solidFill>
                  <a:srgbClr val="687887"/>
                </a:solidFill>
              </a:rPr>
              <a:t>Analog CMOS · RC-compensated two-stage OPAMP</a:t>
            </a:r>
          </a:p>
        </p:txBody>
      </p:sp>
    </p:spTree>
    <p:extLst>
      <p:ext uri="{BB962C8B-B14F-4D97-AF65-F5344CB8AC3E}">
        <p14:creationId xmlns:p14="http://schemas.microsoft.com/office/powerpoint/2010/main" val="15249273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>
            <a:extLst>
              <a:ext uri="{FF2B5EF4-FFF2-40B4-BE49-F238E27FC236}">
                <a16:creationId xmlns:a16="http://schemas.microsoft.com/office/drawing/2014/main" id="{C3102A02-EC73-4270-9A6C-840594AF5F71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438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 i="0">
                <a:solidFill>
                  <a:srgbClr val="197C78"/>
                </a:solidFill>
              </a:defRPr>
            </a:pPr>
            <a:r>
              <a:rPr sz="900" b="1" i="0">
                <a:solidFill>
                  <a:srgbClr val="197C78"/>
                </a:solidFill>
              </a:rPr>
              <a:t>ROBUSTNESS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2EF122B-C725-4121-A2F8-C0F6763F7806}"/>
              </a:ext>
            </a:extLst>
          </p:cNvPr>
          <p:cNvSpPr>
            <a:spLocks noGrp="1"/>
          </p:cNvSpPr>
          <p:nvPr/>
        </p:nvSpPr>
        <p:spPr>
          <a:xfrm>
            <a:off x="685800" y="571500"/>
            <a:ext cx="10287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625" b="1" i="0">
                <a:solidFill>
                  <a:srgbClr val="17324D"/>
                </a:solidFill>
              </a:defRPr>
            </a:pPr>
            <a:r>
              <a:rPr sz="2625" b="1" i="0">
                <a:solidFill>
                  <a:srgbClr val="17324D"/>
                </a:solidFill>
              </a:rPr>
              <a:t>Corner simulation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9FFC742F-470B-4841-9F13-A7B40AB27718}"/>
              </a:ext>
            </a:extLst>
          </p:cNvPr>
          <p:cNvSpPr>
            <a:spLocks noGrp="1"/>
          </p:cNvSpPr>
          <p:nvPr/>
        </p:nvSpPr>
        <p:spPr>
          <a:xfrm>
            <a:off x="685800" y="1200150"/>
            <a:ext cx="10820400" cy="0"/>
          </a:xfrm>
          <a:prstGeom prst="line">
            <a:avLst/>
          </a:prstGeom>
          <a:noFill/>
          <a:ln w="9525">
            <a:solidFill>
              <a:srgbClr val="D6DEE5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A391333-23DE-4CE5-A358-F49A07A34DDD}"/>
              </a:ext>
            </a:extLst>
          </p:cNvPr>
          <p:cNvSpPr>
            <a:spLocks noGrp="1"/>
          </p:cNvSpPr>
          <p:nvPr/>
        </p:nvSpPr>
        <p:spPr>
          <a:xfrm>
            <a:off x="11001375" y="333375"/>
            <a:ext cx="5048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1" i="0">
                <a:solidFill>
                  <a:srgbClr val="687887"/>
                </a:solidFill>
              </a:defRPr>
            </a:pPr>
            <a:r>
              <a:rPr sz="975" b="1" i="0">
                <a:solidFill>
                  <a:srgbClr val="687887"/>
                </a:solidFill>
              </a:rPr>
              <a:t>09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9AC6CF1E-5567-4233-9B72-5D7DFAABE896}"/>
              </a:ext>
            </a:extLst>
          </p:cNvPr>
          <p:cNvSpPr>
            <a:spLocks noGrp="1"/>
          </p:cNvSpPr>
          <p:nvPr/>
        </p:nvSpPr>
        <p:spPr>
          <a:xfrm>
            <a:off x="685800" y="1600200"/>
            <a:ext cx="6572250" cy="4000500"/>
          </a:xfrm>
          <a:prstGeom prst="roundRect">
            <a:avLst>
              <a:gd name="adj" fmla="val 1429"/>
            </a:avLst>
          </a:prstGeom>
          <a:solidFill>
            <a:srgbClr val="EAF2F8"/>
          </a:solidFill>
          <a:ln w="9525">
            <a:solidFill>
              <a:srgbClr val="79A7C7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047D4C3-AEFA-4D57-A8B4-B1173302FC0E}"/>
              </a:ext>
            </a:extLst>
          </p:cNvPr>
          <p:cNvSpPr>
            <a:spLocks noGrp="1"/>
          </p:cNvSpPr>
          <p:nvPr/>
        </p:nvSpPr>
        <p:spPr>
          <a:xfrm>
            <a:off x="876300" y="3390900"/>
            <a:ext cx="619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1" i="0">
                <a:solidFill>
                  <a:srgbClr val="17324D"/>
                </a:solidFill>
              </a:defRPr>
            </a:pPr>
            <a:r>
              <a:rPr sz="1500" b="1" i="0">
                <a:solidFill>
                  <a:srgbClr val="17324D"/>
                </a:solidFill>
              </a:rPr>
              <a:t>Insert corner summary / heatmap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358BD3A-5026-447D-B6FE-7842540AE430}"/>
              </a:ext>
            </a:extLst>
          </p:cNvPr>
          <p:cNvSpPr>
            <a:spLocks noGrp="1"/>
          </p:cNvSpPr>
          <p:nvPr/>
        </p:nvSpPr>
        <p:spPr>
          <a:xfrm>
            <a:off x="914400" y="3733800"/>
            <a:ext cx="61150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0" i="0">
                <a:solidFill>
                  <a:srgbClr val="687887"/>
                </a:solidFill>
              </a:defRPr>
            </a:pPr>
            <a:r>
              <a:rPr sz="975" b="0" i="0">
                <a:solidFill>
                  <a:srgbClr val="687887"/>
                </a:solidFill>
              </a:rPr>
              <a:t>45 combinations: 5 transistor × 3 resistor × 3 capacitor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45348086-4C7D-4447-85FA-1BC7CFF28B02}"/>
              </a:ext>
            </a:extLst>
          </p:cNvPr>
          <p:cNvSpPr>
            <a:spLocks noGrp="1"/>
          </p:cNvSpPr>
          <p:nvPr/>
        </p:nvSpPr>
        <p:spPr>
          <a:xfrm>
            <a:off x="7715250" y="1600200"/>
            <a:ext cx="3790950" cy="4000500"/>
          </a:xfrm>
          <a:prstGeom prst="roundRect">
            <a:avLst>
              <a:gd name="adj" fmla="val 1508"/>
            </a:avLst>
          </a:prstGeom>
          <a:solidFill>
            <a:srgbClr val="FFFFFF"/>
          </a:solidFill>
          <a:ln w="9525">
            <a:solidFill>
              <a:srgbClr val="D6DEE5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F229637-60DE-4E33-BB24-BA1D53D85DEE}"/>
              </a:ext>
            </a:extLst>
          </p:cNvPr>
          <p:cNvSpPr>
            <a:spLocks noGrp="1"/>
          </p:cNvSpPr>
          <p:nvPr/>
        </p:nvSpPr>
        <p:spPr>
          <a:xfrm>
            <a:off x="8020050" y="1914525"/>
            <a:ext cx="2857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 i="0">
                <a:solidFill>
                  <a:srgbClr val="17324D"/>
                </a:solidFill>
              </a:defRPr>
            </a:pPr>
            <a:r>
              <a:rPr sz="1800" b="1" i="0">
                <a:solidFill>
                  <a:srgbClr val="17324D"/>
                </a:solidFill>
              </a:rPr>
              <a:t>Required conditions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C212679-9503-471A-90F4-4CEF678F4B1E}"/>
              </a:ext>
            </a:extLst>
          </p:cNvPr>
          <p:cNvSpPr>
            <a:spLocks noGrp="1"/>
          </p:cNvSpPr>
          <p:nvPr/>
        </p:nvSpPr>
        <p:spPr>
          <a:xfrm>
            <a:off x="8020050" y="2514600"/>
            <a:ext cx="1714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 i="0">
                <a:solidFill>
                  <a:srgbClr val="197C78"/>
                </a:solidFill>
              </a:defRPr>
            </a:pPr>
            <a:r>
              <a:rPr sz="1350" b="1" i="0">
                <a:solidFill>
                  <a:srgbClr val="197C78"/>
                </a:solidFill>
              </a:rPr>
              <a:t>•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E6A761F-D6B4-4A7E-A7AA-03EC3E104590}"/>
              </a:ext>
            </a:extLst>
          </p:cNvPr>
          <p:cNvSpPr>
            <a:spLocks noGrp="1"/>
          </p:cNvSpPr>
          <p:nvPr/>
        </p:nvSpPr>
        <p:spPr>
          <a:xfrm>
            <a:off x="8248650" y="2514600"/>
            <a:ext cx="28194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 i="0">
                <a:solidFill>
                  <a:srgbClr val="1E2935"/>
                </a:solidFill>
              </a:defRPr>
            </a:pPr>
            <a:r>
              <a:rPr sz="1200" b="0" i="0">
                <a:solidFill>
                  <a:srgbClr val="1E2935"/>
                </a:solidFill>
              </a:rPr>
              <a:t>T = −40 °C and 80 °C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352A3A9-6849-47A3-9F95-25522A83E8E5}"/>
              </a:ext>
            </a:extLst>
          </p:cNvPr>
          <p:cNvSpPr>
            <a:spLocks noGrp="1"/>
          </p:cNvSpPr>
          <p:nvPr/>
        </p:nvSpPr>
        <p:spPr>
          <a:xfrm>
            <a:off x="8020050" y="2943225"/>
            <a:ext cx="1714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 i="0">
                <a:solidFill>
                  <a:srgbClr val="197C78"/>
                </a:solidFill>
              </a:defRPr>
            </a:pPr>
            <a:r>
              <a:rPr sz="1350" b="1" i="0">
                <a:solidFill>
                  <a:srgbClr val="197C78"/>
                </a:solidFill>
              </a:rPr>
              <a:t>•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B64EAD4-0E6D-438F-A8EE-15544524A0D1}"/>
              </a:ext>
            </a:extLst>
          </p:cNvPr>
          <p:cNvSpPr>
            <a:spLocks noGrp="1"/>
          </p:cNvSpPr>
          <p:nvPr/>
        </p:nvSpPr>
        <p:spPr>
          <a:xfrm>
            <a:off x="8248650" y="2943225"/>
            <a:ext cx="28194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 i="0">
                <a:solidFill>
                  <a:srgbClr val="1E2935"/>
                </a:solidFill>
              </a:defRPr>
            </a:pPr>
            <a:r>
              <a:rPr sz="1200" b="0" i="0">
                <a:solidFill>
                  <a:srgbClr val="1E2935"/>
                </a:solidFill>
              </a:rPr>
              <a:t>VDD = 3.3 V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7C67EF5-8256-4ECC-850F-DC8320A3B254}"/>
              </a:ext>
            </a:extLst>
          </p:cNvPr>
          <p:cNvSpPr>
            <a:spLocks noGrp="1"/>
          </p:cNvSpPr>
          <p:nvPr/>
        </p:nvSpPr>
        <p:spPr>
          <a:xfrm>
            <a:off x="8020050" y="3371850"/>
            <a:ext cx="1714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 i="0">
                <a:solidFill>
                  <a:srgbClr val="197C78"/>
                </a:solidFill>
              </a:defRPr>
            </a:pPr>
            <a:r>
              <a:rPr sz="1350" b="1" i="0">
                <a:solidFill>
                  <a:srgbClr val="197C78"/>
                </a:solidFill>
              </a:rPr>
              <a:t>•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D9B6337-2457-4A1D-9040-FF38E447235F}"/>
              </a:ext>
            </a:extLst>
          </p:cNvPr>
          <p:cNvSpPr>
            <a:spLocks noGrp="1"/>
          </p:cNvSpPr>
          <p:nvPr/>
        </p:nvSpPr>
        <p:spPr>
          <a:xfrm>
            <a:off x="8248650" y="3371850"/>
            <a:ext cx="28194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 i="0">
                <a:solidFill>
                  <a:srgbClr val="1E2935"/>
                </a:solidFill>
              </a:defRPr>
            </a:pPr>
            <a:r>
              <a:rPr sz="1200" b="0" i="0">
                <a:solidFill>
                  <a:srgbClr val="1E2935"/>
                </a:solidFill>
              </a:rPr>
              <a:t>VCM = 1 V and VDD − 1 V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B9F54C6-D2FC-426B-872B-FBF278DBB9DF}"/>
              </a:ext>
            </a:extLst>
          </p:cNvPr>
          <p:cNvSpPr>
            <a:spLocks noGrp="1"/>
          </p:cNvSpPr>
          <p:nvPr/>
        </p:nvSpPr>
        <p:spPr>
          <a:xfrm>
            <a:off x="8020050" y="3800475"/>
            <a:ext cx="1714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 i="0">
                <a:solidFill>
                  <a:srgbClr val="197C78"/>
                </a:solidFill>
              </a:defRPr>
            </a:pPr>
            <a:r>
              <a:rPr sz="1350" b="1" i="0">
                <a:solidFill>
                  <a:srgbClr val="197C78"/>
                </a:solidFill>
              </a:rPr>
              <a:t>•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C6DA7F6-46E2-4C7F-AB44-36A4C92A4CEE}"/>
              </a:ext>
            </a:extLst>
          </p:cNvPr>
          <p:cNvSpPr>
            <a:spLocks noGrp="1"/>
          </p:cNvSpPr>
          <p:nvPr/>
        </p:nvSpPr>
        <p:spPr>
          <a:xfrm>
            <a:off x="8248650" y="3800475"/>
            <a:ext cx="28194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 i="0">
                <a:solidFill>
                  <a:srgbClr val="1E2935"/>
                </a:solidFill>
              </a:defRPr>
            </a:pPr>
            <a:r>
              <a:rPr sz="1200" b="0" i="0">
                <a:solidFill>
                  <a:srgbClr val="1E2935"/>
                </a:solidFill>
              </a:rPr>
              <a:t>Report min / max for ADC, UGBW, PM and SR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A0A5A50-9438-4421-8150-3FEDBF2B10F8}"/>
              </a:ext>
            </a:extLst>
          </p:cNvPr>
          <p:cNvSpPr>
            <a:spLocks noGrp="1"/>
          </p:cNvSpPr>
          <p:nvPr/>
        </p:nvSpPr>
        <p:spPr>
          <a:xfrm>
            <a:off x="8020050" y="4229100"/>
            <a:ext cx="1714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 i="0">
                <a:solidFill>
                  <a:srgbClr val="197C78"/>
                </a:solidFill>
              </a:defRPr>
            </a:pPr>
            <a:r>
              <a:rPr sz="1350" b="1" i="0">
                <a:solidFill>
                  <a:srgbClr val="197C78"/>
                </a:solidFill>
              </a:rPr>
              <a:t>•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720BCF3-97D8-41CD-B277-6D3E49BA76A1}"/>
              </a:ext>
            </a:extLst>
          </p:cNvPr>
          <p:cNvSpPr>
            <a:spLocks noGrp="1"/>
          </p:cNvSpPr>
          <p:nvPr/>
        </p:nvSpPr>
        <p:spPr>
          <a:xfrm>
            <a:off x="8248650" y="4229100"/>
            <a:ext cx="28194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 i="0">
                <a:solidFill>
                  <a:srgbClr val="1E2935"/>
                </a:solidFill>
              </a:defRPr>
            </a:pPr>
            <a:r>
              <a:rPr sz="1200" b="0" i="0">
                <a:solidFill>
                  <a:srgbClr val="1E2935"/>
                </a:solidFill>
              </a:rPr>
              <a:t>Worst case: [corner name]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C793373-F1E4-4C6C-AD0B-B4B7B2D169EF}"/>
              </a:ext>
            </a:extLst>
          </p:cNvPr>
          <p:cNvSpPr>
            <a:spLocks noGrp="1"/>
          </p:cNvSpPr>
          <p:nvPr/>
        </p:nvSpPr>
        <p:spPr>
          <a:xfrm>
            <a:off x="8020050" y="4657725"/>
            <a:ext cx="1714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 i="0">
                <a:solidFill>
                  <a:srgbClr val="197C78"/>
                </a:solidFill>
              </a:defRPr>
            </a:pPr>
            <a:r>
              <a:rPr sz="1350" b="1" i="0">
                <a:solidFill>
                  <a:srgbClr val="197C78"/>
                </a:solidFill>
              </a:rPr>
              <a:t>•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F802844-A380-4994-9BDF-D07F0480E65E}"/>
              </a:ext>
            </a:extLst>
          </p:cNvPr>
          <p:cNvSpPr>
            <a:spLocks noGrp="1"/>
          </p:cNvSpPr>
          <p:nvPr/>
        </p:nvSpPr>
        <p:spPr>
          <a:xfrm>
            <a:off x="8248650" y="4657725"/>
            <a:ext cx="28194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 i="0">
                <a:solidFill>
                  <a:srgbClr val="1E2935"/>
                </a:solidFill>
              </a:defRPr>
            </a:pPr>
            <a:r>
              <a:rPr sz="1200" b="0" i="0">
                <a:solidFill>
                  <a:srgbClr val="1E2935"/>
                </a:solidFill>
              </a:rPr>
              <a:t>Limiting metric: [metric]</a:t>
            </a:r>
          </a:p>
        </p:txBody>
      </p:sp>
      <p:sp>
        <p:nvSpPr>
          <p:cNvPr id="22" name="直接连接符 21">
            <a:extLst>
              <a:ext uri="{FF2B5EF4-FFF2-40B4-BE49-F238E27FC236}">
                <a16:creationId xmlns:a16="http://schemas.microsoft.com/office/drawing/2014/main" id="{61B9E53A-6E11-4C3C-85B8-836BCDCB3FDE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820400" cy="0"/>
          </a:xfrm>
          <a:prstGeom prst="line">
            <a:avLst/>
          </a:prstGeom>
          <a:noFill/>
          <a:ln w="9525">
            <a:solidFill>
              <a:srgbClr val="D6DEE5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DB7CD45-3877-4C86-8E8A-6E6D0DF6E6E7}"/>
              </a:ext>
            </a:extLst>
          </p:cNvPr>
          <p:cNvSpPr>
            <a:spLocks noGrp="1"/>
          </p:cNvSpPr>
          <p:nvPr/>
        </p:nvSpPr>
        <p:spPr>
          <a:xfrm>
            <a:off x="685800" y="6505575"/>
            <a:ext cx="6667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50" b="0" i="0">
                <a:solidFill>
                  <a:srgbClr val="687887"/>
                </a:solidFill>
              </a:defRPr>
            </a:pPr>
            <a:r>
              <a:rPr sz="750" b="0" i="0">
                <a:solidFill>
                  <a:srgbClr val="687887"/>
                </a:solidFill>
              </a:rPr>
              <a:t>Analog CMOS · RC-compensated two-stage OPAMP</a:t>
            </a:r>
          </a:p>
        </p:txBody>
      </p:sp>
    </p:spTree>
    <p:extLst>
      <p:ext uri="{BB962C8B-B14F-4D97-AF65-F5344CB8AC3E}">
        <p14:creationId xmlns:p14="http://schemas.microsoft.com/office/powerpoint/2010/main" val="16336999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>
            <a:extLst>
              <a:ext uri="{FF2B5EF4-FFF2-40B4-BE49-F238E27FC236}">
                <a16:creationId xmlns:a16="http://schemas.microsoft.com/office/drawing/2014/main" id="{01CEA108-3B6F-4446-AFF3-ABBA87F2B34D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438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 i="0">
                <a:solidFill>
                  <a:srgbClr val="197C78"/>
                </a:solidFill>
              </a:defRPr>
            </a:pPr>
            <a:r>
              <a:rPr sz="900" b="1" i="0">
                <a:solidFill>
                  <a:srgbClr val="197C78"/>
                </a:solidFill>
              </a:rPr>
              <a:t>CONCLUSION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2A65DE3-89F5-4207-A0DF-5746C8C112C5}"/>
              </a:ext>
            </a:extLst>
          </p:cNvPr>
          <p:cNvSpPr>
            <a:spLocks noGrp="1"/>
          </p:cNvSpPr>
          <p:nvPr/>
        </p:nvSpPr>
        <p:spPr>
          <a:xfrm>
            <a:off x="685800" y="571500"/>
            <a:ext cx="10287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625" b="1" i="0">
                <a:solidFill>
                  <a:srgbClr val="17324D"/>
                </a:solidFill>
              </a:defRPr>
            </a:pPr>
            <a:r>
              <a:rPr sz="2625" b="1" i="0">
                <a:solidFill>
                  <a:srgbClr val="17324D"/>
                </a:solidFill>
              </a:rPr>
              <a:t>Final results and design changes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9BAF9A5C-6924-4EB6-B2D4-42AE01AE3CD3}"/>
              </a:ext>
            </a:extLst>
          </p:cNvPr>
          <p:cNvSpPr>
            <a:spLocks noGrp="1"/>
          </p:cNvSpPr>
          <p:nvPr/>
        </p:nvSpPr>
        <p:spPr>
          <a:xfrm>
            <a:off x="685800" y="1200150"/>
            <a:ext cx="10820400" cy="0"/>
          </a:xfrm>
          <a:prstGeom prst="line">
            <a:avLst/>
          </a:prstGeom>
          <a:noFill/>
          <a:ln w="9525">
            <a:solidFill>
              <a:srgbClr val="D6DEE5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E34CF54-3D1C-4F05-967B-B27753BC7FEC}"/>
              </a:ext>
            </a:extLst>
          </p:cNvPr>
          <p:cNvSpPr>
            <a:spLocks noGrp="1"/>
          </p:cNvSpPr>
          <p:nvPr/>
        </p:nvSpPr>
        <p:spPr>
          <a:xfrm>
            <a:off x="11001375" y="333375"/>
            <a:ext cx="5048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1" i="0">
                <a:solidFill>
                  <a:srgbClr val="687887"/>
                </a:solidFill>
              </a:defRPr>
            </a:pPr>
            <a:r>
              <a:rPr sz="975" b="1" i="0">
                <a:solidFill>
                  <a:srgbClr val="687887"/>
                </a:solidFill>
              </a:rPr>
              <a:t>10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5CF9DD7D-E12B-454F-A3B4-7B25ADA27DDF}"/>
              </a:ext>
            </a:extLst>
          </p:cNvPr>
          <p:cNvSpPr>
            <a:spLocks noGrp="1"/>
          </p:cNvSpPr>
          <p:nvPr/>
        </p:nvSpPr>
        <p:spPr>
          <a:xfrm>
            <a:off x="685800" y="1600200"/>
            <a:ext cx="10820400" cy="257175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D6DEE5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AFE49B2-D7C0-4683-9975-0E21DD032FC6}"/>
              </a:ext>
            </a:extLst>
          </p:cNvPr>
          <p:cNvSpPr>
            <a:spLocks noGrp="1"/>
          </p:cNvSpPr>
          <p:nvPr/>
        </p:nvSpPr>
        <p:spPr>
          <a:xfrm>
            <a:off x="990600" y="186690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 i="0">
                <a:solidFill>
                  <a:srgbClr val="17324D"/>
                </a:solidFill>
              </a:defRPr>
            </a:pPr>
            <a:r>
              <a:rPr sz="1800" b="1" i="0">
                <a:solidFill>
                  <a:srgbClr val="17324D"/>
                </a:solidFill>
              </a:rPr>
              <a:t>Final scorecard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B438E1C-F6EA-4619-A1BE-DDDB05BF64C8}"/>
              </a:ext>
            </a:extLst>
          </p:cNvPr>
          <p:cNvSpPr>
            <a:spLocks noGrp="1"/>
          </p:cNvSpPr>
          <p:nvPr/>
        </p:nvSpPr>
        <p:spPr>
          <a:xfrm>
            <a:off x="990600" y="238125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 i="0">
                <a:solidFill>
                  <a:srgbClr val="687887"/>
                </a:solidFill>
              </a:defRPr>
            </a:pPr>
            <a:r>
              <a:rPr sz="1050" b="1" i="0">
                <a:solidFill>
                  <a:srgbClr val="687887"/>
                </a:solidFill>
              </a:rPr>
              <a:t>Metric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D0C2CC2-51E2-4476-8E69-08A38E7F92F1}"/>
              </a:ext>
            </a:extLst>
          </p:cNvPr>
          <p:cNvSpPr>
            <a:spLocks noGrp="1"/>
          </p:cNvSpPr>
          <p:nvPr/>
        </p:nvSpPr>
        <p:spPr>
          <a:xfrm>
            <a:off x="2762250" y="238125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 i="0">
                <a:solidFill>
                  <a:srgbClr val="687887"/>
                </a:solidFill>
              </a:defRPr>
            </a:pPr>
            <a:r>
              <a:rPr sz="1050" b="1" i="0">
                <a:solidFill>
                  <a:srgbClr val="687887"/>
                </a:solidFill>
              </a:rPr>
              <a:t>Target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2FF5BEF-D496-4527-B5A5-AC482BFC1801}"/>
              </a:ext>
            </a:extLst>
          </p:cNvPr>
          <p:cNvSpPr>
            <a:spLocks noGrp="1"/>
          </p:cNvSpPr>
          <p:nvPr/>
        </p:nvSpPr>
        <p:spPr>
          <a:xfrm>
            <a:off x="4619625" y="238125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 i="0">
                <a:solidFill>
                  <a:srgbClr val="687887"/>
                </a:solidFill>
              </a:defRPr>
            </a:pPr>
            <a:r>
              <a:rPr sz="1050" b="1" i="0">
                <a:solidFill>
                  <a:srgbClr val="687887"/>
                </a:solidFill>
              </a:rPr>
              <a:t>Nominal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4D9ED17-4FD9-4866-9A79-89F60DDB688C}"/>
              </a:ext>
            </a:extLst>
          </p:cNvPr>
          <p:cNvSpPr>
            <a:spLocks noGrp="1"/>
          </p:cNvSpPr>
          <p:nvPr/>
        </p:nvSpPr>
        <p:spPr>
          <a:xfrm>
            <a:off x="6953250" y="238125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 i="0">
                <a:solidFill>
                  <a:srgbClr val="687887"/>
                </a:solidFill>
              </a:defRPr>
            </a:pPr>
            <a:r>
              <a:rPr sz="1050" b="1" i="0">
                <a:solidFill>
                  <a:srgbClr val="687887"/>
                </a:solidFill>
              </a:rPr>
              <a:t>Corners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18840F9-18D5-4E18-9F0D-41D7C9132600}"/>
              </a:ext>
            </a:extLst>
          </p:cNvPr>
          <p:cNvSpPr>
            <a:spLocks noGrp="1"/>
          </p:cNvSpPr>
          <p:nvPr/>
        </p:nvSpPr>
        <p:spPr>
          <a:xfrm>
            <a:off x="9144000" y="2381250"/>
            <a:ext cx="142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 i="0">
                <a:solidFill>
                  <a:srgbClr val="687887"/>
                </a:solidFill>
              </a:defRPr>
            </a:pPr>
            <a:r>
              <a:rPr sz="1050" b="1" i="0">
                <a:solidFill>
                  <a:srgbClr val="687887"/>
                </a:solidFill>
              </a:rPr>
              <a:t>Status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C4F0EE6-B240-4145-A688-676F65383387}"/>
              </a:ext>
            </a:extLst>
          </p:cNvPr>
          <p:cNvSpPr>
            <a:spLocks noGrp="1"/>
          </p:cNvSpPr>
          <p:nvPr/>
        </p:nvSpPr>
        <p:spPr>
          <a:xfrm>
            <a:off x="895350" y="2733675"/>
            <a:ext cx="10325100" cy="295275"/>
          </a:xfrm>
          <a:prstGeom prst="rect">
            <a:avLst/>
          </a:prstGeom>
          <a:solidFill>
            <a:srgbClr val="F8FAFC"/>
          </a:solidFill>
          <a:ln w="9525">
            <a:solidFill>
              <a:srgbClr val="F8FAFC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63A42CA-3F65-4DAA-8918-0EA8ADC62B5F}"/>
              </a:ext>
            </a:extLst>
          </p:cNvPr>
          <p:cNvSpPr>
            <a:spLocks noGrp="1"/>
          </p:cNvSpPr>
          <p:nvPr/>
        </p:nvSpPr>
        <p:spPr>
          <a:xfrm>
            <a:off x="990600" y="2762250"/>
            <a:ext cx="161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 i="0">
                <a:solidFill>
                  <a:srgbClr val="1E2935"/>
                </a:solidFill>
              </a:defRPr>
            </a:pPr>
            <a:r>
              <a:rPr sz="1050" b="0" i="0">
                <a:solidFill>
                  <a:srgbClr val="1E2935"/>
                </a:solidFill>
              </a:rPr>
              <a:t>ADC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8218475-F406-403F-962A-AB2689337744}"/>
              </a:ext>
            </a:extLst>
          </p:cNvPr>
          <p:cNvSpPr>
            <a:spLocks noGrp="1"/>
          </p:cNvSpPr>
          <p:nvPr/>
        </p:nvSpPr>
        <p:spPr>
          <a:xfrm>
            <a:off x="2762250" y="2762250"/>
            <a:ext cx="161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 i="0">
                <a:solidFill>
                  <a:srgbClr val="1E2935"/>
                </a:solidFill>
              </a:defRPr>
            </a:pPr>
            <a:r>
              <a:rPr sz="1050" b="0" i="0">
                <a:solidFill>
                  <a:srgbClr val="1E2935"/>
                </a:solidFill>
              </a:rPr>
              <a:t>&gt;75 dB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B760F86-D5F7-4080-B223-0614A03807B8}"/>
              </a:ext>
            </a:extLst>
          </p:cNvPr>
          <p:cNvSpPr>
            <a:spLocks noGrp="1"/>
          </p:cNvSpPr>
          <p:nvPr/>
        </p:nvSpPr>
        <p:spPr>
          <a:xfrm>
            <a:off x="4619625" y="2762250"/>
            <a:ext cx="161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 i="0">
                <a:solidFill>
                  <a:srgbClr val="1E2935"/>
                </a:solidFill>
              </a:defRPr>
            </a:pPr>
            <a:r>
              <a:rPr sz="1050" b="0" i="0">
                <a:solidFill>
                  <a:srgbClr val="1E2935"/>
                </a:solidFill>
              </a:rPr>
              <a:t>[__]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70E3448-2A24-484E-A4E4-F50712EF6ECB}"/>
              </a:ext>
            </a:extLst>
          </p:cNvPr>
          <p:cNvSpPr>
            <a:spLocks noGrp="1"/>
          </p:cNvSpPr>
          <p:nvPr/>
        </p:nvSpPr>
        <p:spPr>
          <a:xfrm>
            <a:off x="6953250" y="2762250"/>
            <a:ext cx="161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 i="0">
                <a:solidFill>
                  <a:srgbClr val="1E2935"/>
                </a:solidFill>
              </a:defRPr>
            </a:pPr>
            <a:r>
              <a:rPr sz="1050" b="0" i="0">
                <a:solidFill>
                  <a:srgbClr val="1E2935"/>
                </a:solidFill>
              </a:rPr>
              <a:t>[min __]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BC9C358-4727-430C-B41E-B4BF5B74EB51}"/>
              </a:ext>
            </a:extLst>
          </p:cNvPr>
          <p:cNvSpPr>
            <a:spLocks noGrp="1"/>
          </p:cNvSpPr>
          <p:nvPr/>
        </p:nvSpPr>
        <p:spPr>
          <a:xfrm>
            <a:off x="9144000" y="276225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 i="0">
                <a:solidFill>
                  <a:srgbClr val="C65B43"/>
                </a:solidFill>
              </a:defRPr>
            </a:pPr>
            <a:r>
              <a:rPr sz="1050" b="1" i="0">
                <a:solidFill>
                  <a:srgbClr val="C65B43"/>
                </a:solidFill>
              </a:rPr>
              <a:t>PASS / FAIL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D9BEFCB-6B8D-4BE2-B8BB-4F2301E12369}"/>
              </a:ext>
            </a:extLst>
          </p:cNvPr>
          <p:cNvSpPr>
            <a:spLocks noGrp="1"/>
          </p:cNvSpPr>
          <p:nvPr/>
        </p:nvSpPr>
        <p:spPr>
          <a:xfrm>
            <a:off x="990600" y="3095625"/>
            <a:ext cx="161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 i="0">
                <a:solidFill>
                  <a:srgbClr val="1E2935"/>
                </a:solidFill>
              </a:defRPr>
            </a:pPr>
            <a:r>
              <a:rPr sz="1050" b="0" i="0">
                <a:solidFill>
                  <a:srgbClr val="1E2935"/>
                </a:solidFill>
              </a:rPr>
              <a:t>UGBW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57B13EF-0C16-421E-9623-DD319A8AC25C}"/>
              </a:ext>
            </a:extLst>
          </p:cNvPr>
          <p:cNvSpPr>
            <a:spLocks noGrp="1"/>
          </p:cNvSpPr>
          <p:nvPr/>
        </p:nvSpPr>
        <p:spPr>
          <a:xfrm>
            <a:off x="2762250" y="3095625"/>
            <a:ext cx="161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 i="0">
                <a:solidFill>
                  <a:srgbClr val="1E2935"/>
                </a:solidFill>
              </a:defRPr>
            </a:pPr>
            <a:r>
              <a:rPr sz="1050" b="0" i="0">
                <a:solidFill>
                  <a:srgbClr val="1E2935"/>
                </a:solidFill>
              </a:rPr>
              <a:t>&gt;15 MHz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86C5D65-C0E8-46DC-A793-F16F4707EFA8}"/>
              </a:ext>
            </a:extLst>
          </p:cNvPr>
          <p:cNvSpPr>
            <a:spLocks noGrp="1"/>
          </p:cNvSpPr>
          <p:nvPr/>
        </p:nvSpPr>
        <p:spPr>
          <a:xfrm>
            <a:off x="4619625" y="3095625"/>
            <a:ext cx="161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 i="0">
                <a:solidFill>
                  <a:srgbClr val="1E2935"/>
                </a:solidFill>
              </a:defRPr>
            </a:pPr>
            <a:r>
              <a:rPr sz="1050" b="0" i="0">
                <a:solidFill>
                  <a:srgbClr val="1E2935"/>
                </a:solidFill>
              </a:rPr>
              <a:t>[__]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29FF98E-EE8D-4527-9B61-8A45C6CD15AE}"/>
              </a:ext>
            </a:extLst>
          </p:cNvPr>
          <p:cNvSpPr>
            <a:spLocks noGrp="1"/>
          </p:cNvSpPr>
          <p:nvPr/>
        </p:nvSpPr>
        <p:spPr>
          <a:xfrm>
            <a:off x="6953250" y="3095625"/>
            <a:ext cx="161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 i="0">
                <a:solidFill>
                  <a:srgbClr val="1E2935"/>
                </a:solidFill>
              </a:defRPr>
            </a:pPr>
            <a:r>
              <a:rPr sz="1050" b="0" i="0">
                <a:solidFill>
                  <a:srgbClr val="1E2935"/>
                </a:solidFill>
              </a:rPr>
              <a:t>[min __]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0DC7702-251D-4760-BA5C-A1E40A225442}"/>
              </a:ext>
            </a:extLst>
          </p:cNvPr>
          <p:cNvSpPr>
            <a:spLocks noGrp="1"/>
          </p:cNvSpPr>
          <p:nvPr/>
        </p:nvSpPr>
        <p:spPr>
          <a:xfrm>
            <a:off x="9144000" y="3095625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 i="0">
                <a:solidFill>
                  <a:srgbClr val="C65B43"/>
                </a:solidFill>
              </a:defRPr>
            </a:pPr>
            <a:r>
              <a:rPr sz="1050" b="1" i="0">
                <a:solidFill>
                  <a:srgbClr val="C65B43"/>
                </a:solidFill>
              </a:rPr>
              <a:t>PASS / FAIL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0A39000-9F40-4A4E-A6BE-99A19233A761}"/>
              </a:ext>
            </a:extLst>
          </p:cNvPr>
          <p:cNvSpPr>
            <a:spLocks noGrp="1"/>
          </p:cNvSpPr>
          <p:nvPr/>
        </p:nvSpPr>
        <p:spPr>
          <a:xfrm>
            <a:off x="895350" y="3400425"/>
            <a:ext cx="10325100" cy="295275"/>
          </a:xfrm>
          <a:prstGeom prst="rect">
            <a:avLst/>
          </a:prstGeom>
          <a:solidFill>
            <a:srgbClr val="F8FAFC"/>
          </a:solidFill>
          <a:ln w="9525">
            <a:solidFill>
              <a:srgbClr val="F8FAFC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8610237-79F5-43BD-9DC3-07907C731AAB}"/>
              </a:ext>
            </a:extLst>
          </p:cNvPr>
          <p:cNvSpPr>
            <a:spLocks noGrp="1"/>
          </p:cNvSpPr>
          <p:nvPr/>
        </p:nvSpPr>
        <p:spPr>
          <a:xfrm>
            <a:off x="990600" y="3429000"/>
            <a:ext cx="161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 i="0">
                <a:solidFill>
                  <a:srgbClr val="1E2935"/>
                </a:solidFill>
              </a:defRPr>
            </a:pPr>
            <a:r>
              <a:rPr sz="1050" b="0" i="0">
                <a:solidFill>
                  <a:srgbClr val="1E2935"/>
                </a:solidFill>
              </a:rPr>
              <a:t>PM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1CD69795-C133-46C1-AC7C-8252483C85A4}"/>
              </a:ext>
            </a:extLst>
          </p:cNvPr>
          <p:cNvSpPr>
            <a:spLocks noGrp="1"/>
          </p:cNvSpPr>
          <p:nvPr/>
        </p:nvSpPr>
        <p:spPr>
          <a:xfrm>
            <a:off x="2762250" y="3429000"/>
            <a:ext cx="161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 i="0">
                <a:solidFill>
                  <a:srgbClr val="1E2935"/>
                </a:solidFill>
              </a:defRPr>
            </a:pPr>
            <a:r>
              <a:rPr sz="1050" b="0" i="0">
                <a:solidFill>
                  <a:srgbClr val="1E2935"/>
                </a:solidFill>
              </a:rPr>
              <a:t>≥60°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D7EC60B-6573-4DEE-8F2B-FB97AA2BE384}"/>
              </a:ext>
            </a:extLst>
          </p:cNvPr>
          <p:cNvSpPr>
            <a:spLocks noGrp="1"/>
          </p:cNvSpPr>
          <p:nvPr/>
        </p:nvSpPr>
        <p:spPr>
          <a:xfrm>
            <a:off x="4619625" y="3429000"/>
            <a:ext cx="161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 i="0">
                <a:solidFill>
                  <a:srgbClr val="1E2935"/>
                </a:solidFill>
              </a:defRPr>
            </a:pPr>
            <a:r>
              <a:rPr sz="1050" b="0" i="0">
                <a:solidFill>
                  <a:srgbClr val="1E2935"/>
                </a:solidFill>
              </a:rPr>
              <a:t>[__]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42164207-A1C3-4E2A-9E99-461484F48D09}"/>
              </a:ext>
            </a:extLst>
          </p:cNvPr>
          <p:cNvSpPr>
            <a:spLocks noGrp="1"/>
          </p:cNvSpPr>
          <p:nvPr/>
        </p:nvSpPr>
        <p:spPr>
          <a:xfrm>
            <a:off x="6953250" y="3429000"/>
            <a:ext cx="161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 i="0">
                <a:solidFill>
                  <a:srgbClr val="1E2935"/>
                </a:solidFill>
              </a:defRPr>
            </a:pPr>
            <a:r>
              <a:rPr sz="1050" b="0" i="0">
                <a:solidFill>
                  <a:srgbClr val="1E2935"/>
                </a:solidFill>
              </a:rPr>
              <a:t>[min __]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93F79471-5A74-43C3-91C0-99A99CB46676}"/>
              </a:ext>
            </a:extLst>
          </p:cNvPr>
          <p:cNvSpPr>
            <a:spLocks noGrp="1"/>
          </p:cNvSpPr>
          <p:nvPr/>
        </p:nvSpPr>
        <p:spPr>
          <a:xfrm>
            <a:off x="9144000" y="342900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 i="0">
                <a:solidFill>
                  <a:srgbClr val="C65B43"/>
                </a:solidFill>
              </a:defRPr>
            </a:pPr>
            <a:r>
              <a:rPr sz="1050" b="1" i="0">
                <a:solidFill>
                  <a:srgbClr val="C65B43"/>
                </a:solidFill>
              </a:rPr>
              <a:t>PASS / FAIL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26DF51B3-DB96-4AF9-B46D-8A68801E44B3}"/>
              </a:ext>
            </a:extLst>
          </p:cNvPr>
          <p:cNvSpPr>
            <a:spLocks noGrp="1"/>
          </p:cNvSpPr>
          <p:nvPr/>
        </p:nvSpPr>
        <p:spPr>
          <a:xfrm>
            <a:off x="990600" y="3762375"/>
            <a:ext cx="161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 i="0">
                <a:solidFill>
                  <a:srgbClr val="1E2935"/>
                </a:solidFill>
              </a:defRPr>
            </a:pPr>
            <a:r>
              <a:rPr sz="1050" b="0" i="0">
                <a:solidFill>
                  <a:srgbClr val="1E2935"/>
                </a:solidFill>
              </a:rPr>
              <a:t>SR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D58FE21-A1D8-49CE-8FAA-424FC64E7CB5}"/>
              </a:ext>
            </a:extLst>
          </p:cNvPr>
          <p:cNvSpPr>
            <a:spLocks noGrp="1"/>
          </p:cNvSpPr>
          <p:nvPr/>
        </p:nvSpPr>
        <p:spPr>
          <a:xfrm>
            <a:off x="2762250" y="3762375"/>
            <a:ext cx="161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 i="0">
                <a:solidFill>
                  <a:srgbClr val="1E2935"/>
                </a:solidFill>
              </a:defRPr>
            </a:pPr>
            <a:r>
              <a:rPr sz="1050" b="0" i="0">
                <a:solidFill>
                  <a:srgbClr val="1E2935"/>
                </a:solidFill>
              </a:rPr>
              <a:t>&gt;15 V/µs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1EDC8B6A-03DA-4EDD-BEF9-30F49B516B56}"/>
              </a:ext>
            </a:extLst>
          </p:cNvPr>
          <p:cNvSpPr>
            <a:spLocks noGrp="1"/>
          </p:cNvSpPr>
          <p:nvPr/>
        </p:nvSpPr>
        <p:spPr>
          <a:xfrm>
            <a:off x="4619625" y="3762375"/>
            <a:ext cx="161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 i="0">
                <a:solidFill>
                  <a:srgbClr val="1E2935"/>
                </a:solidFill>
              </a:defRPr>
            </a:pPr>
            <a:r>
              <a:rPr sz="1050" b="0" i="0">
                <a:solidFill>
                  <a:srgbClr val="1E2935"/>
                </a:solidFill>
              </a:rPr>
              <a:t>[__]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A07FCE9E-76EC-42CB-8FF5-E0F463937635}"/>
              </a:ext>
            </a:extLst>
          </p:cNvPr>
          <p:cNvSpPr>
            <a:spLocks noGrp="1"/>
          </p:cNvSpPr>
          <p:nvPr/>
        </p:nvSpPr>
        <p:spPr>
          <a:xfrm>
            <a:off x="6953250" y="3762375"/>
            <a:ext cx="161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 i="0">
                <a:solidFill>
                  <a:srgbClr val="1E2935"/>
                </a:solidFill>
              </a:defRPr>
            </a:pPr>
            <a:r>
              <a:rPr sz="1050" b="0" i="0">
                <a:solidFill>
                  <a:srgbClr val="1E2935"/>
                </a:solidFill>
              </a:rPr>
              <a:t>[min __]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2D8A5FC0-22F2-488A-A1FF-99D448B80DAE}"/>
              </a:ext>
            </a:extLst>
          </p:cNvPr>
          <p:cNvSpPr>
            <a:spLocks noGrp="1"/>
          </p:cNvSpPr>
          <p:nvPr/>
        </p:nvSpPr>
        <p:spPr>
          <a:xfrm>
            <a:off x="9144000" y="3762375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 i="0">
                <a:solidFill>
                  <a:srgbClr val="C65B43"/>
                </a:solidFill>
              </a:defRPr>
            </a:pPr>
            <a:r>
              <a:rPr sz="1050" b="1" i="0">
                <a:solidFill>
                  <a:srgbClr val="C65B43"/>
                </a:solidFill>
              </a:rPr>
              <a:t>PASS / FAIL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C38A0E3D-9DBB-4FD6-9858-14B9A35EE7C1}"/>
              </a:ext>
            </a:extLst>
          </p:cNvPr>
          <p:cNvSpPr>
            <a:spLocks noGrp="1"/>
          </p:cNvSpPr>
          <p:nvPr/>
        </p:nvSpPr>
        <p:spPr>
          <a:xfrm>
            <a:off x="895350" y="4067175"/>
            <a:ext cx="10325100" cy="295275"/>
          </a:xfrm>
          <a:prstGeom prst="rect">
            <a:avLst/>
          </a:prstGeom>
          <a:solidFill>
            <a:srgbClr val="F8FAFC"/>
          </a:solidFill>
          <a:ln w="9525">
            <a:solidFill>
              <a:srgbClr val="F8FAFC"/>
            </a:solidFill>
            <a:prstDash val="solid"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4A06B2C7-F336-446A-966A-49E16B8E35C1}"/>
              </a:ext>
            </a:extLst>
          </p:cNvPr>
          <p:cNvSpPr>
            <a:spLocks noGrp="1"/>
          </p:cNvSpPr>
          <p:nvPr/>
        </p:nvSpPr>
        <p:spPr>
          <a:xfrm>
            <a:off x="990600" y="4095750"/>
            <a:ext cx="161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 i="0">
                <a:solidFill>
                  <a:srgbClr val="1E2935"/>
                </a:solidFill>
              </a:defRPr>
            </a:pPr>
            <a:r>
              <a:rPr sz="1050" b="0" i="0">
                <a:solidFill>
                  <a:srgbClr val="1E2935"/>
                </a:solidFill>
              </a:rPr>
              <a:t>Vos / σ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7B5920A8-334D-443D-8A54-08413AE13813}"/>
              </a:ext>
            </a:extLst>
          </p:cNvPr>
          <p:cNvSpPr>
            <a:spLocks noGrp="1"/>
          </p:cNvSpPr>
          <p:nvPr/>
        </p:nvSpPr>
        <p:spPr>
          <a:xfrm>
            <a:off x="2762250" y="4095750"/>
            <a:ext cx="161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 i="0">
                <a:solidFill>
                  <a:srgbClr val="1E2935"/>
                </a:solidFill>
              </a:defRPr>
            </a:pPr>
            <a:r>
              <a:rPr sz="1050" b="0" i="0">
                <a:solidFill>
                  <a:srgbClr val="1E2935"/>
                </a:solidFill>
              </a:rPr>
              <a:t>200 µV / 1.33 mV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AB70EE3E-7FB8-49D0-9C90-7CAF6A31C018}"/>
              </a:ext>
            </a:extLst>
          </p:cNvPr>
          <p:cNvSpPr>
            <a:spLocks noGrp="1"/>
          </p:cNvSpPr>
          <p:nvPr/>
        </p:nvSpPr>
        <p:spPr>
          <a:xfrm>
            <a:off x="4619625" y="4095750"/>
            <a:ext cx="161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 i="0">
                <a:solidFill>
                  <a:srgbClr val="1E2935"/>
                </a:solidFill>
              </a:defRPr>
            </a:pPr>
            <a:r>
              <a:rPr sz="1050" b="0" i="0">
                <a:solidFill>
                  <a:srgbClr val="1E2935"/>
                </a:solidFill>
              </a:rPr>
              <a:t>[__]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D925F47D-C479-4CD7-A7DD-0E082EE0EFF7}"/>
              </a:ext>
            </a:extLst>
          </p:cNvPr>
          <p:cNvSpPr>
            <a:spLocks noGrp="1"/>
          </p:cNvSpPr>
          <p:nvPr/>
        </p:nvSpPr>
        <p:spPr>
          <a:xfrm>
            <a:off x="6953250" y="4095750"/>
            <a:ext cx="161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 i="0">
                <a:solidFill>
                  <a:srgbClr val="1E2935"/>
                </a:solidFill>
              </a:defRPr>
            </a:pPr>
            <a:r>
              <a:rPr sz="1050" b="0" i="0">
                <a:solidFill>
                  <a:srgbClr val="1E2935"/>
                </a:solidFill>
              </a:rPr>
              <a:t>MC only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231EB930-B707-4338-9FCA-F75AAEA28FC2}"/>
              </a:ext>
            </a:extLst>
          </p:cNvPr>
          <p:cNvSpPr>
            <a:spLocks noGrp="1"/>
          </p:cNvSpPr>
          <p:nvPr/>
        </p:nvSpPr>
        <p:spPr>
          <a:xfrm>
            <a:off x="9144000" y="409575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 i="0">
                <a:solidFill>
                  <a:srgbClr val="C65B43"/>
                </a:solidFill>
              </a:defRPr>
            </a:pPr>
            <a:r>
              <a:rPr sz="1050" b="1" i="0">
                <a:solidFill>
                  <a:srgbClr val="C65B43"/>
                </a:solidFill>
              </a:rPr>
              <a:t>PASS / FAIL</a:t>
            </a: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82655BBF-F044-4B9F-B5B7-36A17804972D}"/>
              </a:ext>
            </a:extLst>
          </p:cNvPr>
          <p:cNvSpPr>
            <a:spLocks noGrp="1"/>
          </p:cNvSpPr>
          <p:nvPr/>
        </p:nvSpPr>
        <p:spPr>
          <a:xfrm>
            <a:off x="685800" y="4419600"/>
            <a:ext cx="10820400" cy="1181100"/>
          </a:xfrm>
          <a:prstGeom prst="roundRect">
            <a:avLst>
              <a:gd name="adj" fmla="val 4839"/>
            </a:avLst>
          </a:prstGeom>
          <a:solidFill>
            <a:srgbClr val="E5F2EF"/>
          </a:solidFill>
          <a:ln w="9525">
            <a:solidFill>
              <a:srgbClr val="BBDDD5"/>
            </a:solidFill>
            <a:prstDash val="solid"/>
          </a:ln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87E4AE7F-E5BA-48DC-A839-845E0BE0990F}"/>
              </a:ext>
            </a:extLst>
          </p:cNvPr>
          <p:cNvSpPr>
            <a:spLocks noGrp="1"/>
          </p:cNvSpPr>
          <p:nvPr/>
        </p:nvSpPr>
        <p:spPr>
          <a:xfrm>
            <a:off x="990600" y="4667250"/>
            <a:ext cx="190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 i="0">
                <a:solidFill>
                  <a:srgbClr val="17324D"/>
                </a:solidFill>
              </a:defRPr>
            </a:pPr>
            <a:r>
              <a:rPr sz="1500" b="1" i="0">
                <a:solidFill>
                  <a:srgbClr val="17324D"/>
                </a:solidFill>
              </a:rPr>
              <a:t>Design changes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A137C00E-E875-45E1-8E5E-A5893DBE20A1}"/>
              </a:ext>
            </a:extLst>
          </p:cNvPr>
          <p:cNvSpPr>
            <a:spLocks noGrp="1"/>
          </p:cNvSpPr>
          <p:nvPr/>
        </p:nvSpPr>
        <p:spPr>
          <a:xfrm>
            <a:off x="3143250" y="4667250"/>
            <a:ext cx="7715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 i="0">
                <a:solidFill>
                  <a:srgbClr val="1E2935"/>
                </a:solidFill>
              </a:defRPr>
            </a:pPr>
            <a:r>
              <a:rPr sz="1275" b="0" i="0">
                <a:solidFill>
                  <a:srgbClr val="1E2935"/>
                </a:solidFill>
              </a:rPr>
              <a:t>[If a specification was missed: component → reason → new value → improvement]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F4275FD0-E801-4369-B878-480F05CCF96A}"/>
              </a:ext>
            </a:extLst>
          </p:cNvPr>
          <p:cNvSpPr>
            <a:spLocks noGrp="1"/>
          </p:cNvSpPr>
          <p:nvPr/>
        </p:nvSpPr>
        <p:spPr>
          <a:xfrm>
            <a:off x="990600" y="5219700"/>
            <a:ext cx="1714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 i="0">
                <a:solidFill>
                  <a:srgbClr val="C65B43"/>
                </a:solidFill>
              </a:defRPr>
            </a:pPr>
            <a:r>
              <a:rPr sz="1425" b="1" i="0">
                <a:solidFill>
                  <a:srgbClr val="C65B43"/>
                </a:solidFill>
              </a:rPr>
              <a:t>Questions?</a:t>
            </a:r>
          </a:p>
        </p:txBody>
      </p:sp>
      <p:sp>
        <p:nvSpPr>
          <p:cNvPr id="44" name="直接连接符 43">
            <a:extLst>
              <a:ext uri="{FF2B5EF4-FFF2-40B4-BE49-F238E27FC236}">
                <a16:creationId xmlns:a16="http://schemas.microsoft.com/office/drawing/2014/main" id="{E7297BB5-7B09-4509-AA21-0DACD34E0443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820400" cy="0"/>
          </a:xfrm>
          <a:prstGeom prst="line">
            <a:avLst/>
          </a:prstGeom>
          <a:noFill/>
          <a:ln w="9525">
            <a:solidFill>
              <a:srgbClr val="D6DEE5"/>
            </a:solidFill>
            <a:prstDash val="solid"/>
          </a:ln>
        </p:spPr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C5130500-0F2A-4467-8B7A-F27511188A2E}"/>
              </a:ext>
            </a:extLst>
          </p:cNvPr>
          <p:cNvSpPr>
            <a:spLocks noGrp="1"/>
          </p:cNvSpPr>
          <p:nvPr/>
        </p:nvSpPr>
        <p:spPr>
          <a:xfrm>
            <a:off x="685800" y="6505575"/>
            <a:ext cx="6667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50" b="0" i="0">
                <a:solidFill>
                  <a:srgbClr val="687887"/>
                </a:solidFill>
              </a:defRPr>
            </a:pPr>
            <a:r>
              <a:rPr sz="750" b="0" i="0">
                <a:solidFill>
                  <a:srgbClr val="687887"/>
                </a:solidFill>
              </a:rPr>
              <a:t>Analog CMOS · RC-compensated two-stage OPAMP</a:t>
            </a:r>
          </a:p>
        </p:txBody>
      </p:sp>
    </p:spTree>
    <p:extLst>
      <p:ext uri="{BB962C8B-B14F-4D97-AF65-F5344CB8AC3E}">
        <p14:creationId xmlns:p14="http://schemas.microsoft.com/office/powerpoint/2010/main" val="170786143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961</Words>
  <Application>Microsoft Office PowerPoint</Application>
  <DocSecurity>0</DocSecurity>
  <PresentationFormat>宽屏</PresentationFormat>
  <Paragraphs>235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2" baseType="lpstr"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d d</cp:lastModifiedBy>
  <cp:revision>1</cp:revision>
  <dcterms:created xsi:type="dcterms:W3CDTF">2026-08-23T09:10:58Z</dcterms:created>
  <dcterms:modified xsi:type="dcterms:W3CDTF">2026-08-23T17:28:13Z</dcterms:modified>
</cp:coreProperties>
</file>