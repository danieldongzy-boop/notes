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6" r:id="rId8"/>
    <p:sldId id="267" r:id="rId9"/>
    <p:sldId id="262" r:id="rId10"/>
    <p:sldId id="263" r:id="rId11"/>
    <p:sldId id="268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72" autoAdjust="0"/>
    <p:restoredTop sz="94660"/>
  </p:normalViewPr>
  <p:slideViewPr>
    <p:cSldViewPr snapToGrid="0">
      <p:cViewPr varScale="1">
        <p:scale>
          <a:sx n="76" d="100"/>
          <a:sy n="76" d="100"/>
        </p:scale>
        <p:origin x="749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User-provided Analog CMOS assignment brief and project simulation data.</a:t>
            </a:r>
          </a:p>
          <a:p>
            <a:endParaRPr/>
          </a:p>
          <a:p>
            <a:r>
              <a:t>Presenter cue: Introduce the circuit and state that the figures and results will be filled from the final Cadence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User-provided Analog CMOS assignment brief and project simulation data.</a:t>
            </a:r>
          </a:p>
          <a:p>
            <a:endParaRPr/>
          </a:p>
          <a:p>
            <a:r>
              <a:t>Presenter cue: Read the required limits briefly. Use the Result column after inserting your measured values.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User-provided Analog CMOS assignment brief and project simulation data.</a:t>
            </a:r>
          </a:p>
          <a:p>
            <a:endParaRPr/>
          </a:p>
          <a:p>
            <a:r>
              <a:t>Presenter cue: Use the schematic to identify the two gain stages and the feedback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User-provided Analog CMOS assignment brief and project simulation data.</a:t>
            </a:r>
          </a:p>
          <a:p>
            <a:endParaRPr/>
          </a:p>
          <a:p>
            <a:r>
              <a:t>Presenter cue: Show only the dimensions relevant to gain, matching, speed and compensation.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User-provided Analog CMOS assignment brief and project simulation data.</a:t>
            </a:r>
          </a:p>
          <a:p>
            <a:endParaRPr/>
          </a:p>
          <a:p>
            <a:r>
              <a:t>Presenter cue: Show the actual Cadence schematics or screenshots in the left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User-provided Analog CMOS assignment brief and project simulation data.</a:t>
            </a:r>
          </a:p>
          <a:p>
            <a:endParaRPr/>
          </a:p>
          <a:p>
            <a:r>
              <a:t>Presenter cue: Read the three cursor values from the plot and compare them with the limits on slide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2232B-D92D-4B08-1264-B5001883C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97A3DE-109D-DC1A-24FC-215F76CC5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41FDC4-076F-AAC1-1EC1-73AB7BBDC0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User-provided Analog CMOS assignment brief and project simulation data.</a:t>
            </a:r>
          </a:p>
          <a:p>
            <a:endParaRPr/>
          </a:p>
          <a:p>
            <a:r>
              <a:t>Presenter cue: Read the three cursor values from the plot and compare them with the limits on slide 2.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DE72C1-5763-3821-C184-76F920367317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048988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A9CF9-638D-94E4-FB43-D8373AC16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3DB76D-6B07-8C4A-B333-EA7C25B6E2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3BF6DB-2AD7-2DB6-3DED-57923579CD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User-provided Analog CMOS assignment brief and project simulation data.</a:t>
            </a:r>
          </a:p>
          <a:p>
            <a:endParaRPr/>
          </a:p>
          <a:p>
            <a:r>
              <a:t>Presenter cue: Read the three cursor values from the plot and compare them with the limits on slide 2.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844444-DD38-A4A8-E0C0-7E2596659FB4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510713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User-provided Analog CMOS assignment brief and project simulation data.</a:t>
            </a:r>
          </a:p>
          <a:p>
            <a:endParaRPr/>
          </a:p>
          <a:p>
            <a:r>
              <a:t>Presenter cue: Keep each plot representative. Explain the slope measurement window and the ICMR pass criterion.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</a:t>
            </a:r>
          </a:p>
          <a:p>
            <a:r>
              <a:rPr dirty="0"/>
              <a:t>User-provided Analog CMOS assignment brief and project simulation data.</a:t>
            </a:r>
          </a:p>
          <a:p>
            <a:endParaRPr dirty="0"/>
          </a:p>
          <a:p>
            <a:r>
              <a:rPr dirty="0"/>
              <a:t>Presenter cue: Mention that offset Monte Carlo is run at nominal circuit conditions, as required by the assignment.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74436-6FB9-FEFC-B273-6203236A9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1D4A6E-36DC-A5D6-4260-2DC2E48226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A9185B-1BA9-4CCB-4ED8-4B2DBACE6E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User-provided Analog CMOS assignment brief and project simulation data.</a:t>
            </a:r>
          </a:p>
          <a:p>
            <a:endParaRPr/>
          </a:p>
          <a:p>
            <a:r>
              <a:t>Presenter cue: Introduce the circuit and state that the figures and results will be filled from the final Cadence runs.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F93F23-E54F-272B-C9A5-D5121FD8835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533037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/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7BACEF2-08CC-4AD2-B8B9-556727106EE7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786765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050" b="1" i="0">
                <a:solidFill>
                  <a:srgbClr val="197C78"/>
                </a:solidFill>
              </a:defRPr>
            </a:pPr>
            <a:r>
              <a:rPr sz="4400" b="1" i="0" dirty="0">
                <a:solidFill>
                  <a:srgbClr val="197C78"/>
                </a:solidFill>
              </a:rPr>
              <a:t>ANALOG CMOS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15366BF-53C0-4D52-93EB-9E41AEB2E835}"/>
              </a:ext>
            </a:extLst>
          </p:cNvPr>
          <p:cNvSpPr>
            <a:spLocks noGrp="1"/>
          </p:cNvSpPr>
          <p:nvPr/>
        </p:nvSpPr>
        <p:spPr>
          <a:xfrm>
            <a:off x="685800" y="2257425"/>
            <a:ext cx="666750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900" b="1" i="0">
                <a:solidFill>
                  <a:srgbClr val="17324D"/>
                </a:solidFill>
              </a:defRPr>
            </a:pPr>
            <a:r>
              <a:rPr sz="6600" b="1" i="0" dirty="0">
                <a:solidFill>
                  <a:srgbClr val="17324D"/>
                </a:solidFill>
              </a:rPr>
              <a:t>Two-Stage OPAMP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8990E9B-AA3F-460D-B0EC-43ED304EF7F0}"/>
              </a:ext>
            </a:extLst>
          </p:cNvPr>
          <p:cNvSpPr>
            <a:spLocks noGrp="1"/>
          </p:cNvSpPr>
          <p:nvPr/>
        </p:nvSpPr>
        <p:spPr>
          <a:xfrm>
            <a:off x="828675" y="4448175"/>
            <a:ext cx="7343775" cy="1790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687887"/>
                </a:solidFill>
              </a:defRPr>
            </a:pPr>
            <a:r>
              <a:rPr lang="en-US" sz="2000" dirty="0" err="1"/>
              <a:t>Z</a:t>
            </a:r>
            <a:r>
              <a:rPr lang="en-US" altLang="zh-CN" sz="2000" dirty="0" err="1"/>
              <a:t>hanyu</a:t>
            </a:r>
            <a:r>
              <a:rPr lang="en-US" altLang="zh-CN" sz="2000" dirty="0"/>
              <a:t> Dong 6159975</a:t>
            </a:r>
          </a:p>
          <a:p>
            <a:pPr>
              <a:defRPr sz="1350" b="0" i="0">
                <a:solidFill>
                  <a:srgbClr val="687887"/>
                </a:solidFill>
              </a:defRPr>
            </a:pPr>
            <a:r>
              <a:rPr lang="en-US" altLang="zh-CN" sz="2000" dirty="0"/>
              <a:t>Sumit Kumar Patel 6992625</a:t>
            </a:r>
          </a:p>
        </p:txBody>
      </p:sp>
    </p:spTree>
    <p:extLst>
      <p:ext uri="{BB962C8B-B14F-4D97-AF65-F5344CB8AC3E}">
        <p14:creationId xmlns:p14="http://schemas.microsoft.com/office/powerpoint/2010/main" val="20534931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矩形 48">
            <a:extLst>
              <a:ext uri="{FF2B5EF4-FFF2-40B4-BE49-F238E27FC236}">
                <a16:creationId xmlns:a16="http://schemas.microsoft.com/office/drawing/2014/main" id="{65347FBA-FAEE-4CEC-970D-922195FAD90D}"/>
              </a:ext>
            </a:extLst>
          </p:cNvPr>
          <p:cNvSpPr>
            <a:spLocks noGrp="1"/>
          </p:cNvSpPr>
          <p:nvPr/>
        </p:nvSpPr>
        <p:spPr>
          <a:xfrm>
            <a:off x="685800" y="323850"/>
            <a:ext cx="438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 i="0">
                <a:solidFill>
                  <a:srgbClr val="197C78"/>
                </a:solidFill>
              </a:defRPr>
            </a:pPr>
            <a:r>
              <a:rPr sz="900" b="1" i="0">
                <a:solidFill>
                  <a:srgbClr val="197C78"/>
                </a:solidFill>
              </a:rPr>
              <a:t>DESIGN TARGET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4DB6B87-716C-4486-8940-6846D38531DC}"/>
              </a:ext>
            </a:extLst>
          </p:cNvPr>
          <p:cNvSpPr>
            <a:spLocks noGrp="1"/>
          </p:cNvSpPr>
          <p:nvPr/>
        </p:nvSpPr>
        <p:spPr>
          <a:xfrm>
            <a:off x="685800" y="571500"/>
            <a:ext cx="10287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 i="0">
                <a:solidFill>
                  <a:srgbClr val="17324D"/>
                </a:solidFill>
              </a:defRPr>
            </a:pPr>
            <a:r>
              <a:rPr sz="2625" b="1" i="0" dirty="0">
                <a:solidFill>
                  <a:srgbClr val="17324D"/>
                </a:solidFill>
              </a:rPr>
              <a:t>Specifications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ECD6A4D7-906C-4F94-A8EF-AD8052A589CA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10820400" cy="0"/>
          </a:xfrm>
          <a:prstGeom prst="line">
            <a:avLst/>
          </a:prstGeom>
          <a:noFill/>
          <a:ln w="9525">
            <a:solidFill>
              <a:srgbClr val="D6DEE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EF29682-5A28-487C-B2E9-780C709D152D}"/>
              </a:ext>
            </a:extLst>
          </p:cNvPr>
          <p:cNvSpPr>
            <a:spLocks noGrp="1"/>
          </p:cNvSpPr>
          <p:nvPr/>
        </p:nvSpPr>
        <p:spPr>
          <a:xfrm>
            <a:off x="11001375" y="333375"/>
            <a:ext cx="5048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75" b="1" i="0">
                <a:solidFill>
                  <a:srgbClr val="687887"/>
                </a:solidFill>
              </a:defRPr>
            </a:pPr>
            <a:r>
              <a:rPr sz="975" b="1" i="0">
                <a:solidFill>
                  <a:srgbClr val="687887"/>
                </a:solidFill>
              </a:rPr>
              <a:t>02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D9850D65-93F0-4D75-8700-1816391F8720}"/>
              </a:ext>
            </a:extLst>
          </p:cNvPr>
          <p:cNvSpPr>
            <a:spLocks noGrp="1"/>
          </p:cNvSpPr>
          <p:nvPr/>
        </p:nvSpPr>
        <p:spPr>
          <a:xfrm>
            <a:off x="838200" y="1571625"/>
            <a:ext cx="9858375" cy="4419600"/>
          </a:xfrm>
          <a:prstGeom prst="roundRect">
            <a:avLst>
              <a:gd name="adj" fmla="val 1389"/>
            </a:avLst>
          </a:prstGeom>
          <a:solidFill>
            <a:srgbClr val="FFFFFF"/>
          </a:solidFill>
          <a:ln w="9525">
            <a:solidFill>
              <a:srgbClr val="D6DEE5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FF3692C-2954-47B6-9984-9E027C20F280}"/>
              </a:ext>
            </a:extLst>
          </p:cNvPr>
          <p:cNvSpPr>
            <a:spLocks noGrp="1"/>
          </p:cNvSpPr>
          <p:nvPr/>
        </p:nvSpPr>
        <p:spPr>
          <a:xfrm>
            <a:off x="1743075" y="18097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1" i="0">
                <a:solidFill>
                  <a:srgbClr val="687887"/>
                </a:solidFill>
              </a:defRPr>
            </a:pPr>
            <a:r>
              <a:rPr sz="2000" b="1" i="0">
                <a:solidFill>
                  <a:srgbClr val="687887"/>
                </a:solidFill>
              </a:rPr>
              <a:t>Parameter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5958480-D668-4328-A525-7733B3373936}"/>
              </a:ext>
            </a:extLst>
          </p:cNvPr>
          <p:cNvSpPr>
            <a:spLocks noGrp="1"/>
          </p:cNvSpPr>
          <p:nvPr/>
        </p:nvSpPr>
        <p:spPr>
          <a:xfrm>
            <a:off x="7134225" y="18097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1" i="0">
                <a:solidFill>
                  <a:srgbClr val="687887"/>
                </a:solidFill>
              </a:defRPr>
            </a:pPr>
            <a:r>
              <a:rPr sz="2000" b="1" i="0" dirty="0">
                <a:solidFill>
                  <a:srgbClr val="687887"/>
                </a:solidFill>
              </a:rPr>
              <a:t>Specification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D895352-D18E-4B5D-ABDE-1313EE3DFBE2}"/>
              </a:ext>
            </a:extLst>
          </p:cNvPr>
          <p:cNvSpPr>
            <a:spLocks noGrp="1"/>
          </p:cNvSpPr>
          <p:nvPr/>
        </p:nvSpPr>
        <p:spPr>
          <a:xfrm>
            <a:off x="838200" y="2124075"/>
            <a:ext cx="10477500" cy="361950"/>
          </a:xfrm>
          <a:prstGeom prst="rect">
            <a:avLst/>
          </a:prstGeom>
          <a:solidFill>
            <a:srgbClr val="F8FAFC"/>
          </a:solidFill>
          <a:ln w="9525">
            <a:solidFill>
              <a:srgbClr val="F8FAFC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8932295-5C12-478A-A637-44E0FE4B0837}"/>
              </a:ext>
            </a:extLst>
          </p:cNvPr>
          <p:cNvSpPr>
            <a:spLocks noGrp="1"/>
          </p:cNvSpPr>
          <p:nvPr/>
        </p:nvSpPr>
        <p:spPr>
          <a:xfrm>
            <a:off x="1743075" y="2152650"/>
            <a:ext cx="2714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0" i="0">
                <a:solidFill>
                  <a:srgbClr val="1E2935"/>
                </a:solidFill>
              </a:defRPr>
            </a:pPr>
            <a:r>
              <a:rPr sz="2000" b="0" i="0">
                <a:solidFill>
                  <a:srgbClr val="1E2935"/>
                </a:solidFill>
              </a:rPr>
              <a:t>Load capacitance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1993A7B-883D-401E-8A16-2054A4A19EA0}"/>
              </a:ext>
            </a:extLst>
          </p:cNvPr>
          <p:cNvSpPr>
            <a:spLocks noGrp="1"/>
          </p:cNvSpPr>
          <p:nvPr/>
        </p:nvSpPr>
        <p:spPr>
          <a:xfrm>
            <a:off x="7134225" y="21526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0" i="0">
                <a:solidFill>
                  <a:srgbClr val="1E2935"/>
                </a:solidFill>
              </a:defRPr>
            </a:pPr>
            <a:r>
              <a:rPr sz="2000" b="0" i="0" dirty="0">
                <a:solidFill>
                  <a:srgbClr val="1E2935"/>
                </a:solidFill>
              </a:rPr>
              <a:t>3 pF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E600320-807C-470A-9EB0-04B398F848B4}"/>
              </a:ext>
            </a:extLst>
          </p:cNvPr>
          <p:cNvSpPr>
            <a:spLocks noGrp="1"/>
          </p:cNvSpPr>
          <p:nvPr/>
        </p:nvSpPr>
        <p:spPr>
          <a:xfrm>
            <a:off x="1743075" y="2590800"/>
            <a:ext cx="2714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0" i="0">
                <a:solidFill>
                  <a:srgbClr val="1E2935"/>
                </a:solidFill>
              </a:defRPr>
            </a:pPr>
            <a:r>
              <a:rPr sz="2000" b="0" i="0">
                <a:solidFill>
                  <a:srgbClr val="1E2935"/>
                </a:solidFill>
              </a:rPr>
              <a:t>DC gain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2597578-D1DD-4AFB-AC6B-3554E0495C92}"/>
              </a:ext>
            </a:extLst>
          </p:cNvPr>
          <p:cNvSpPr>
            <a:spLocks noGrp="1"/>
          </p:cNvSpPr>
          <p:nvPr/>
        </p:nvSpPr>
        <p:spPr>
          <a:xfrm>
            <a:off x="7134225" y="259080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0" i="0">
                <a:solidFill>
                  <a:srgbClr val="1E2935"/>
                </a:solidFill>
              </a:defRPr>
            </a:pPr>
            <a:r>
              <a:rPr sz="2000" b="0" i="0">
                <a:solidFill>
                  <a:srgbClr val="1E2935"/>
                </a:solidFill>
              </a:rPr>
              <a:t>&gt; 75 dB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BD9E9C8-39E3-4588-9DF2-25AF046BF685}"/>
              </a:ext>
            </a:extLst>
          </p:cNvPr>
          <p:cNvSpPr>
            <a:spLocks noGrp="1"/>
          </p:cNvSpPr>
          <p:nvPr/>
        </p:nvSpPr>
        <p:spPr>
          <a:xfrm>
            <a:off x="776287" y="3057525"/>
            <a:ext cx="10477500" cy="361950"/>
          </a:xfrm>
          <a:prstGeom prst="rect">
            <a:avLst/>
          </a:prstGeom>
          <a:solidFill>
            <a:srgbClr val="F8FAFC"/>
          </a:solidFill>
          <a:ln w="9525">
            <a:solidFill>
              <a:srgbClr val="F8FAFC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FDCDE08-0C52-4376-BC7D-1DD7D2108715}"/>
              </a:ext>
            </a:extLst>
          </p:cNvPr>
          <p:cNvSpPr>
            <a:spLocks noGrp="1"/>
          </p:cNvSpPr>
          <p:nvPr/>
        </p:nvSpPr>
        <p:spPr>
          <a:xfrm>
            <a:off x="1743075" y="3067050"/>
            <a:ext cx="2714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0" i="0">
                <a:solidFill>
                  <a:srgbClr val="1E2935"/>
                </a:solidFill>
              </a:defRPr>
            </a:pPr>
            <a:r>
              <a:rPr sz="2000" b="0" i="0">
                <a:solidFill>
                  <a:srgbClr val="1E2935"/>
                </a:solidFill>
              </a:rPr>
              <a:t>Unity-gain frequency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D774E9C-5405-46BB-99A6-8A1B2881CEFD}"/>
              </a:ext>
            </a:extLst>
          </p:cNvPr>
          <p:cNvSpPr>
            <a:spLocks noGrp="1"/>
          </p:cNvSpPr>
          <p:nvPr/>
        </p:nvSpPr>
        <p:spPr>
          <a:xfrm>
            <a:off x="7134225" y="30670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0" i="0">
                <a:solidFill>
                  <a:srgbClr val="1E2935"/>
                </a:solidFill>
              </a:defRPr>
            </a:pPr>
            <a:r>
              <a:rPr sz="2000" b="0" i="0" dirty="0">
                <a:solidFill>
                  <a:srgbClr val="1E2935"/>
                </a:solidFill>
              </a:rPr>
              <a:t>&gt; 2π · 15 MHz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FC27F6A-9F18-4C89-A368-9F7276F8AE54}"/>
              </a:ext>
            </a:extLst>
          </p:cNvPr>
          <p:cNvSpPr>
            <a:spLocks noGrp="1"/>
          </p:cNvSpPr>
          <p:nvPr/>
        </p:nvSpPr>
        <p:spPr>
          <a:xfrm>
            <a:off x="1743075" y="3543300"/>
            <a:ext cx="2714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0" i="0">
                <a:solidFill>
                  <a:srgbClr val="1E2935"/>
                </a:solidFill>
              </a:defRPr>
            </a:pPr>
            <a:r>
              <a:rPr sz="2000" b="0" i="0">
                <a:solidFill>
                  <a:srgbClr val="1E2935"/>
                </a:solidFill>
              </a:rPr>
              <a:t>Phase margin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17F59D0-BC66-49EF-8F50-4184C1394F72}"/>
              </a:ext>
            </a:extLst>
          </p:cNvPr>
          <p:cNvSpPr>
            <a:spLocks noGrp="1"/>
          </p:cNvSpPr>
          <p:nvPr/>
        </p:nvSpPr>
        <p:spPr>
          <a:xfrm>
            <a:off x="7134225" y="354330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0" i="0">
                <a:solidFill>
                  <a:srgbClr val="1E2935"/>
                </a:solidFill>
              </a:defRPr>
            </a:pPr>
            <a:r>
              <a:rPr sz="2000" b="0" i="0" dirty="0">
                <a:solidFill>
                  <a:srgbClr val="1E2935"/>
                </a:solidFill>
              </a:rPr>
              <a:t>≥ 60°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8DF6A14-BDB5-485F-A273-39E467537046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10477500" cy="361950"/>
          </a:xfrm>
          <a:prstGeom prst="rect">
            <a:avLst/>
          </a:prstGeom>
          <a:solidFill>
            <a:srgbClr val="F8FAFC"/>
          </a:solidFill>
          <a:ln w="9525">
            <a:solidFill>
              <a:srgbClr val="F8FAFC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966FB9A7-E9D0-4173-B56A-02C7B69EBE65}"/>
              </a:ext>
            </a:extLst>
          </p:cNvPr>
          <p:cNvSpPr>
            <a:spLocks noGrp="1"/>
          </p:cNvSpPr>
          <p:nvPr/>
        </p:nvSpPr>
        <p:spPr>
          <a:xfrm>
            <a:off x="1743075" y="3962400"/>
            <a:ext cx="2714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0" i="0">
                <a:solidFill>
                  <a:srgbClr val="1E2935"/>
                </a:solidFill>
              </a:defRPr>
            </a:pPr>
            <a:r>
              <a:rPr sz="2000" b="0" i="0">
                <a:solidFill>
                  <a:srgbClr val="1E2935"/>
                </a:solidFill>
              </a:rPr>
              <a:t>Slew rate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EF1F6B6-6369-454D-9BCF-54DA54F0A4CF}"/>
              </a:ext>
            </a:extLst>
          </p:cNvPr>
          <p:cNvSpPr>
            <a:spLocks noGrp="1"/>
          </p:cNvSpPr>
          <p:nvPr/>
        </p:nvSpPr>
        <p:spPr>
          <a:xfrm>
            <a:off x="7134225" y="396240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0" i="0">
                <a:solidFill>
                  <a:srgbClr val="1E2935"/>
                </a:solidFill>
              </a:defRPr>
            </a:pPr>
            <a:r>
              <a:rPr sz="2000" b="0" i="0">
                <a:solidFill>
                  <a:srgbClr val="1E2935"/>
                </a:solidFill>
              </a:rPr>
              <a:t>&gt; 15 V/µs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E6152805-DB25-4FB3-8BE1-4E66E4E15910}"/>
              </a:ext>
            </a:extLst>
          </p:cNvPr>
          <p:cNvSpPr>
            <a:spLocks noGrp="1"/>
          </p:cNvSpPr>
          <p:nvPr/>
        </p:nvSpPr>
        <p:spPr>
          <a:xfrm>
            <a:off x="1743075" y="4429125"/>
            <a:ext cx="2714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0" i="0">
                <a:solidFill>
                  <a:srgbClr val="1E2935"/>
                </a:solidFill>
              </a:defRPr>
            </a:pPr>
            <a:r>
              <a:rPr sz="2000" b="0" i="0">
                <a:solidFill>
                  <a:srgbClr val="1E2935"/>
                </a:solidFill>
              </a:rPr>
              <a:t>Input common-mode range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878A5FF5-902F-4FE2-8B47-EBEA38262B96}"/>
              </a:ext>
            </a:extLst>
          </p:cNvPr>
          <p:cNvSpPr>
            <a:spLocks noGrp="1"/>
          </p:cNvSpPr>
          <p:nvPr/>
        </p:nvSpPr>
        <p:spPr>
          <a:xfrm>
            <a:off x="7134225" y="4429125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0" i="0">
                <a:solidFill>
                  <a:srgbClr val="1E2935"/>
                </a:solidFill>
              </a:defRPr>
            </a:pPr>
            <a:r>
              <a:rPr sz="2000" b="0" i="0" dirty="0">
                <a:solidFill>
                  <a:srgbClr val="1E2935"/>
                </a:solidFill>
              </a:rPr>
              <a:t>1 V … 2.3 V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3536808B-EE3B-4B81-ABF1-A2B3060A428C}"/>
              </a:ext>
            </a:extLst>
          </p:cNvPr>
          <p:cNvSpPr>
            <a:spLocks noGrp="1"/>
          </p:cNvSpPr>
          <p:nvPr/>
        </p:nvSpPr>
        <p:spPr>
          <a:xfrm>
            <a:off x="838200" y="4838700"/>
            <a:ext cx="10477500" cy="361950"/>
          </a:xfrm>
          <a:prstGeom prst="rect">
            <a:avLst/>
          </a:prstGeom>
          <a:solidFill>
            <a:srgbClr val="F8FAFC"/>
          </a:solidFill>
          <a:ln w="9525">
            <a:solidFill>
              <a:srgbClr val="F8FAFC"/>
            </a:solidFill>
            <a:prstDash val="solid"/>
          </a:ln>
        </p:spPr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5E6D7CB2-4A39-4F22-B03D-8146B3D84A2F}"/>
              </a:ext>
            </a:extLst>
          </p:cNvPr>
          <p:cNvSpPr>
            <a:spLocks noGrp="1"/>
          </p:cNvSpPr>
          <p:nvPr/>
        </p:nvSpPr>
        <p:spPr>
          <a:xfrm>
            <a:off x="1743075" y="4867275"/>
            <a:ext cx="2714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0" i="0">
                <a:solidFill>
                  <a:srgbClr val="1E2935"/>
                </a:solidFill>
              </a:defRPr>
            </a:pPr>
            <a:r>
              <a:rPr sz="2000" b="0" i="0">
                <a:solidFill>
                  <a:srgbClr val="1E2935"/>
                </a:solidFill>
              </a:rPr>
              <a:t>Input offset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6CAAD80-EE9A-43D3-B4A6-97730D718ACB}"/>
              </a:ext>
            </a:extLst>
          </p:cNvPr>
          <p:cNvSpPr>
            <a:spLocks noGrp="1"/>
          </p:cNvSpPr>
          <p:nvPr/>
        </p:nvSpPr>
        <p:spPr>
          <a:xfrm>
            <a:off x="7134225" y="4867275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0" i="0">
                <a:solidFill>
                  <a:srgbClr val="1E2935"/>
                </a:solidFill>
              </a:defRPr>
            </a:pPr>
            <a:r>
              <a:rPr sz="2000" b="0" i="0" dirty="0">
                <a:solidFill>
                  <a:srgbClr val="1E2935"/>
                </a:solidFill>
              </a:rPr>
              <a:t>|Vos| ≤ 200 µV; σ ≤ 1.33 mV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7852D50A-705D-4726-9EF6-7449EF936227}"/>
              </a:ext>
            </a:extLst>
          </p:cNvPr>
          <p:cNvSpPr>
            <a:spLocks noGrp="1"/>
          </p:cNvSpPr>
          <p:nvPr/>
        </p:nvSpPr>
        <p:spPr>
          <a:xfrm>
            <a:off x="1743075" y="5419725"/>
            <a:ext cx="2714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0" i="0">
                <a:solidFill>
                  <a:srgbClr val="1E2935"/>
                </a:solidFill>
              </a:defRPr>
            </a:pPr>
            <a:r>
              <a:rPr sz="2000" b="0" i="0" dirty="0">
                <a:solidFill>
                  <a:srgbClr val="1E2935"/>
                </a:solidFill>
              </a:rPr>
              <a:t>Supply / reference current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56EAE3C7-8762-4F0F-B074-E40F6B342B41}"/>
              </a:ext>
            </a:extLst>
          </p:cNvPr>
          <p:cNvSpPr>
            <a:spLocks noGrp="1"/>
          </p:cNvSpPr>
          <p:nvPr/>
        </p:nvSpPr>
        <p:spPr>
          <a:xfrm>
            <a:off x="7134225" y="5419725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0" i="0">
                <a:solidFill>
                  <a:srgbClr val="1E2935"/>
                </a:solidFill>
              </a:defRPr>
            </a:pPr>
            <a:r>
              <a:rPr sz="2000" b="0" i="0" dirty="0">
                <a:solidFill>
                  <a:srgbClr val="1E2935"/>
                </a:solidFill>
              </a:rPr>
              <a:t>3.3 V / 10 µA</a:t>
            </a:r>
          </a:p>
        </p:txBody>
      </p:sp>
      <p:sp>
        <p:nvSpPr>
          <p:cNvPr id="46" name="直接连接符 45">
            <a:extLst>
              <a:ext uri="{FF2B5EF4-FFF2-40B4-BE49-F238E27FC236}">
                <a16:creationId xmlns:a16="http://schemas.microsoft.com/office/drawing/2014/main" id="{431C0B02-0E52-460E-B74A-DAE6DB256EA3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10820400" cy="0"/>
          </a:xfrm>
          <a:prstGeom prst="line">
            <a:avLst/>
          </a:prstGeom>
          <a:noFill/>
          <a:ln w="9525">
            <a:solidFill>
              <a:srgbClr val="D6DEE5"/>
            </a:solidFill>
            <a:prstDash val="solid"/>
          </a:ln>
        </p:spPr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CA85443-C29B-418C-A5BD-DFEC1324B0DC}"/>
              </a:ext>
            </a:extLst>
          </p:cNvPr>
          <p:cNvSpPr>
            <a:spLocks noGrp="1"/>
          </p:cNvSpPr>
          <p:nvPr/>
        </p:nvSpPr>
        <p:spPr>
          <a:xfrm>
            <a:off x="685800" y="6505575"/>
            <a:ext cx="6667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 i="0">
                <a:solidFill>
                  <a:srgbClr val="687887"/>
                </a:solidFill>
              </a:defRPr>
            </a:pPr>
            <a:r>
              <a:rPr sz="750" b="0" i="0" dirty="0">
                <a:solidFill>
                  <a:srgbClr val="687887"/>
                </a:solidFill>
              </a:rPr>
              <a:t>Analog CMOS · RC-compensated two-stage OPAMP</a:t>
            </a:r>
          </a:p>
        </p:txBody>
      </p:sp>
    </p:spTree>
    <p:extLst>
      <p:ext uri="{BB962C8B-B14F-4D97-AF65-F5344CB8AC3E}">
        <p14:creationId xmlns:p14="http://schemas.microsoft.com/office/powerpoint/2010/main" val="17684897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89C6C6A7-5C6B-4D7D-86B0-CC7BB7C4CE55}"/>
              </a:ext>
            </a:extLst>
          </p:cNvPr>
          <p:cNvSpPr>
            <a:spLocks noGrp="1"/>
          </p:cNvSpPr>
          <p:nvPr/>
        </p:nvSpPr>
        <p:spPr>
          <a:xfrm>
            <a:off x="685800" y="323850"/>
            <a:ext cx="438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 i="0">
                <a:solidFill>
                  <a:srgbClr val="197C78"/>
                </a:solidFill>
              </a:defRPr>
            </a:pPr>
            <a:r>
              <a:rPr sz="900" b="1" i="0" dirty="0">
                <a:solidFill>
                  <a:srgbClr val="197C78"/>
                </a:solidFill>
              </a:rPr>
              <a:t>TOPOLOGY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D03C392-3564-447A-9CC1-738600801B61}"/>
              </a:ext>
            </a:extLst>
          </p:cNvPr>
          <p:cNvSpPr>
            <a:spLocks noGrp="1"/>
          </p:cNvSpPr>
          <p:nvPr/>
        </p:nvSpPr>
        <p:spPr>
          <a:xfrm>
            <a:off x="685800" y="571500"/>
            <a:ext cx="10287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 i="0">
                <a:solidFill>
                  <a:srgbClr val="17324D"/>
                </a:solidFill>
              </a:defRPr>
            </a:pPr>
            <a:r>
              <a:rPr sz="2625" b="1" i="0" dirty="0">
                <a:solidFill>
                  <a:srgbClr val="17324D"/>
                </a:solidFill>
              </a:rPr>
              <a:t>Circuit schematic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4FDBFD4A-28F9-4D19-B1A0-51CA8AFE337E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10820400" cy="0"/>
          </a:xfrm>
          <a:prstGeom prst="line">
            <a:avLst/>
          </a:prstGeom>
          <a:noFill/>
          <a:ln w="9525">
            <a:solidFill>
              <a:srgbClr val="D6DEE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A8B2C11-254B-4D65-A854-8E3D88A88C40}"/>
              </a:ext>
            </a:extLst>
          </p:cNvPr>
          <p:cNvSpPr>
            <a:spLocks noGrp="1"/>
          </p:cNvSpPr>
          <p:nvPr/>
        </p:nvSpPr>
        <p:spPr>
          <a:xfrm>
            <a:off x="11001375" y="333375"/>
            <a:ext cx="5048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75" b="1" i="0">
                <a:solidFill>
                  <a:srgbClr val="687887"/>
                </a:solidFill>
              </a:defRPr>
            </a:pPr>
            <a:r>
              <a:rPr sz="975" b="1" i="0">
                <a:solidFill>
                  <a:srgbClr val="687887"/>
                </a:solidFill>
              </a:rPr>
              <a:t>03</a:t>
            </a:r>
          </a:p>
        </p:txBody>
      </p:sp>
      <p:sp>
        <p:nvSpPr>
          <p:cNvPr id="22" name="直接连接符 21">
            <a:extLst>
              <a:ext uri="{FF2B5EF4-FFF2-40B4-BE49-F238E27FC236}">
                <a16:creationId xmlns:a16="http://schemas.microsoft.com/office/drawing/2014/main" id="{986265E8-C96F-4808-A30C-D87D63006CEC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10820400" cy="0"/>
          </a:xfrm>
          <a:prstGeom prst="line">
            <a:avLst/>
          </a:prstGeom>
          <a:noFill/>
          <a:ln w="9525">
            <a:solidFill>
              <a:srgbClr val="D6DEE5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85C4952-6662-442F-A008-E14093036BE3}"/>
              </a:ext>
            </a:extLst>
          </p:cNvPr>
          <p:cNvSpPr>
            <a:spLocks noGrp="1"/>
          </p:cNvSpPr>
          <p:nvPr/>
        </p:nvSpPr>
        <p:spPr>
          <a:xfrm>
            <a:off x="685800" y="6505575"/>
            <a:ext cx="6667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 i="0">
                <a:solidFill>
                  <a:srgbClr val="687887"/>
                </a:solidFill>
              </a:defRPr>
            </a:pPr>
            <a:r>
              <a:rPr sz="750" b="0" i="0">
                <a:solidFill>
                  <a:srgbClr val="687887"/>
                </a:solidFill>
              </a:rPr>
              <a:t>Analog CMOS · RC-compensated two-stage OPAMP</a:t>
            </a:r>
          </a:p>
        </p:txBody>
      </p:sp>
      <p:pic>
        <p:nvPicPr>
          <p:cNvPr id="26" name="图片 25">
            <a:extLst>
              <a:ext uri="{FF2B5EF4-FFF2-40B4-BE49-F238E27FC236}">
                <a16:creationId xmlns:a16="http://schemas.microsoft.com/office/drawing/2014/main" id="{C4E42E80-BA54-1F4D-F327-495591EAF8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2862" y="1534124"/>
            <a:ext cx="6227365" cy="4326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28427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CAE0285F-4B41-49EA-B667-21302B3F2A3A}"/>
              </a:ext>
            </a:extLst>
          </p:cNvPr>
          <p:cNvSpPr>
            <a:spLocks noGrp="1"/>
          </p:cNvSpPr>
          <p:nvPr/>
        </p:nvSpPr>
        <p:spPr>
          <a:xfrm>
            <a:off x="685800" y="323850"/>
            <a:ext cx="438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 i="0">
                <a:solidFill>
                  <a:srgbClr val="197C78"/>
                </a:solidFill>
              </a:defRPr>
            </a:pPr>
            <a:r>
              <a:rPr sz="900" b="1" i="0">
                <a:solidFill>
                  <a:srgbClr val="197C78"/>
                </a:solidFill>
              </a:rPr>
              <a:t>IMPLEMENTATION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73EF44C-389F-457E-BE15-866047594F64}"/>
              </a:ext>
            </a:extLst>
          </p:cNvPr>
          <p:cNvSpPr>
            <a:spLocks noGrp="1"/>
          </p:cNvSpPr>
          <p:nvPr/>
        </p:nvSpPr>
        <p:spPr>
          <a:xfrm>
            <a:off x="685800" y="571500"/>
            <a:ext cx="10287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 i="0">
                <a:solidFill>
                  <a:srgbClr val="17324D"/>
                </a:solidFill>
              </a:defRPr>
            </a:pPr>
            <a:r>
              <a:rPr sz="2625" b="1" i="0">
                <a:solidFill>
                  <a:srgbClr val="17324D"/>
                </a:solidFill>
              </a:rPr>
              <a:t>Device dimensions and compensation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4EBE61B0-84A2-42A5-88A4-C3E73D3932E0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10820400" cy="0"/>
          </a:xfrm>
          <a:prstGeom prst="line">
            <a:avLst/>
          </a:prstGeom>
          <a:noFill/>
          <a:ln w="9525">
            <a:solidFill>
              <a:srgbClr val="D6DEE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A62CDA2-CA83-4322-96FA-7B86FBDA4B09}"/>
              </a:ext>
            </a:extLst>
          </p:cNvPr>
          <p:cNvSpPr>
            <a:spLocks noGrp="1"/>
          </p:cNvSpPr>
          <p:nvPr/>
        </p:nvSpPr>
        <p:spPr>
          <a:xfrm>
            <a:off x="11001375" y="333375"/>
            <a:ext cx="5048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75" b="1" i="0">
                <a:solidFill>
                  <a:srgbClr val="687887"/>
                </a:solidFill>
              </a:defRPr>
            </a:pPr>
            <a:r>
              <a:rPr sz="975" b="1" i="0">
                <a:solidFill>
                  <a:srgbClr val="687887"/>
                </a:solidFill>
              </a:rPr>
              <a:t>04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9ED7D14-7AA9-4302-B038-4DB0A2260226}"/>
              </a:ext>
            </a:extLst>
          </p:cNvPr>
          <p:cNvSpPr>
            <a:spLocks noGrp="1"/>
          </p:cNvSpPr>
          <p:nvPr/>
        </p:nvSpPr>
        <p:spPr>
          <a:xfrm>
            <a:off x="6614119" y="3113523"/>
            <a:ext cx="4286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100" b="1" i="0">
                <a:solidFill>
                  <a:srgbClr val="C65B43"/>
                </a:solidFill>
              </a:defRPr>
            </a:pPr>
            <a:r>
              <a:rPr sz="2100" b="1" i="0" dirty="0">
                <a:solidFill>
                  <a:srgbClr val="C65B43"/>
                </a:solidFill>
              </a:rPr>
              <a:t>RZ </a:t>
            </a:r>
            <a:r>
              <a:rPr lang="en-US" sz="2100" b="1" i="0" dirty="0">
                <a:solidFill>
                  <a:srgbClr val="C65B43"/>
                </a:solidFill>
              </a:rPr>
              <a:t>=</a:t>
            </a:r>
            <a:r>
              <a:rPr sz="2100" b="1" i="0" dirty="0">
                <a:solidFill>
                  <a:srgbClr val="C65B43"/>
                </a:solidFill>
              </a:rPr>
              <a:t> 1 / gm</a:t>
            </a:r>
          </a:p>
        </p:txBody>
      </p:sp>
      <p:sp>
        <p:nvSpPr>
          <p:cNvPr id="21" name="直接连接符 20">
            <a:extLst>
              <a:ext uri="{FF2B5EF4-FFF2-40B4-BE49-F238E27FC236}">
                <a16:creationId xmlns:a16="http://schemas.microsoft.com/office/drawing/2014/main" id="{CF1C106A-4D59-4F8D-9A58-050202C1FE27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10820400" cy="0"/>
          </a:xfrm>
          <a:prstGeom prst="line">
            <a:avLst/>
          </a:prstGeom>
          <a:noFill/>
          <a:ln w="9525">
            <a:solidFill>
              <a:srgbClr val="D6DEE5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427DDCA-09EF-4B7F-9DFB-174AA53BA37F}"/>
              </a:ext>
            </a:extLst>
          </p:cNvPr>
          <p:cNvSpPr>
            <a:spLocks noGrp="1"/>
          </p:cNvSpPr>
          <p:nvPr/>
        </p:nvSpPr>
        <p:spPr>
          <a:xfrm>
            <a:off x="685800" y="6505575"/>
            <a:ext cx="6667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 i="0">
                <a:solidFill>
                  <a:srgbClr val="687887"/>
                </a:solidFill>
              </a:defRPr>
            </a:pPr>
            <a:r>
              <a:rPr sz="750" b="0" i="0">
                <a:solidFill>
                  <a:srgbClr val="687887"/>
                </a:solidFill>
              </a:rPr>
              <a:t>Analog CMOS · RC-compensated two-stage OPAMP</a:t>
            </a:r>
          </a:p>
        </p:txBody>
      </p:sp>
      <p:pic>
        <p:nvPicPr>
          <p:cNvPr id="29" name="图片 28">
            <a:extLst>
              <a:ext uri="{FF2B5EF4-FFF2-40B4-BE49-F238E27FC236}">
                <a16:creationId xmlns:a16="http://schemas.microsoft.com/office/drawing/2014/main" id="{08BA0E9D-7E02-CA23-068B-FB0A881E9F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323" y="1619251"/>
            <a:ext cx="6380453" cy="4544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5986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DB9B273E-4D51-4E3E-9C26-532BBAC3ACE3}"/>
              </a:ext>
            </a:extLst>
          </p:cNvPr>
          <p:cNvSpPr>
            <a:spLocks noGrp="1"/>
          </p:cNvSpPr>
          <p:nvPr/>
        </p:nvSpPr>
        <p:spPr>
          <a:xfrm>
            <a:off x="685800" y="323850"/>
            <a:ext cx="438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 i="0">
                <a:solidFill>
                  <a:srgbClr val="197C78"/>
                </a:solidFill>
              </a:defRPr>
            </a:pPr>
            <a:r>
              <a:rPr sz="900" b="1" i="0">
                <a:solidFill>
                  <a:srgbClr val="197C78"/>
                </a:solidFill>
              </a:rPr>
              <a:t>CADENCE SETUP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947B7E9-D390-4CB8-805B-794D29BAFEBD}"/>
              </a:ext>
            </a:extLst>
          </p:cNvPr>
          <p:cNvSpPr>
            <a:spLocks noGrp="1"/>
          </p:cNvSpPr>
          <p:nvPr/>
        </p:nvSpPr>
        <p:spPr>
          <a:xfrm>
            <a:off x="685800" y="571500"/>
            <a:ext cx="10287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 i="0">
                <a:solidFill>
                  <a:srgbClr val="17324D"/>
                </a:solidFill>
              </a:defRPr>
            </a:pPr>
            <a:r>
              <a:rPr sz="2625" b="1" i="0">
                <a:solidFill>
                  <a:srgbClr val="17324D"/>
                </a:solidFill>
              </a:rPr>
              <a:t>Simulation testbenches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1FA43837-C9EB-4876-B1EC-1D51522C2C36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10820400" cy="0"/>
          </a:xfrm>
          <a:prstGeom prst="line">
            <a:avLst/>
          </a:prstGeom>
          <a:noFill/>
          <a:ln w="9525">
            <a:solidFill>
              <a:srgbClr val="D6DEE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75FE827-8C62-44F4-8926-F74C686089EC}"/>
              </a:ext>
            </a:extLst>
          </p:cNvPr>
          <p:cNvSpPr>
            <a:spLocks noGrp="1"/>
          </p:cNvSpPr>
          <p:nvPr/>
        </p:nvSpPr>
        <p:spPr>
          <a:xfrm>
            <a:off x="11001375" y="333375"/>
            <a:ext cx="5048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75" b="1" i="0">
                <a:solidFill>
                  <a:srgbClr val="687887"/>
                </a:solidFill>
              </a:defRPr>
            </a:pPr>
            <a:r>
              <a:rPr sz="975" b="1" i="0" dirty="0">
                <a:solidFill>
                  <a:srgbClr val="687887"/>
                </a:solidFill>
              </a:rPr>
              <a:t>05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49F9BEA-2690-41FD-BC37-41432A8C0D84}"/>
              </a:ext>
            </a:extLst>
          </p:cNvPr>
          <p:cNvSpPr>
            <a:spLocks noGrp="1"/>
          </p:cNvSpPr>
          <p:nvPr/>
        </p:nvSpPr>
        <p:spPr>
          <a:xfrm>
            <a:off x="738554" y="1401071"/>
            <a:ext cx="1333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197C78"/>
                </a:solidFill>
              </a:defRPr>
            </a:pPr>
            <a:r>
              <a:rPr sz="2000" b="1" i="0" dirty="0">
                <a:solidFill>
                  <a:srgbClr val="197C78"/>
                </a:solidFill>
              </a:rPr>
              <a:t>DC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905DAD6-B69D-45FC-933F-317C56BD6A0E}"/>
              </a:ext>
            </a:extLst>
          </p:cNvPr>
          <p:cNvSpPr>
            <a:spLocks noGrp="1"/>
          </p:cNvSpPr>
          <p:nvPr/>
        </p:nvSpPr>
        <p:spPr>
          <a:xfrm>
            <a:off x="6686550" y="1438275"/>
            <a:ext cx="1333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197C78"/>
                </a:solidFill>
              </a:defRPr>
            </a:pPr>
            <a:r>
              <a:rPr sz="2000" b="1" i="0" dirty="0">
                <a:solidFill>
                  <a:srgbClr val="197C78"/>
                </a:solidFill>
              </a:rPr>
              <a:t>AC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1C964D-22F7-4E29-BC6B-242EDDC4C0B7}"/>
              </a:ext>
            </a:extLst>
          </p:cNvPr>
          <p:cNvSpPr>
            <a:spLocks noGrp="1"/>
          </p:cNvSpPr>
          <p:nvPr/>
        </p:nvSpPr>
        <p:spPr>
          <a:xfrm>
            <a:off x="738554" y="4031764"/>
            <a:ext cx="1333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197C78"/>
                </a:solidFill>
              </a:defRPr>
            </a:pPr>
            <a:r>
              <a:rPr lang="en-US" sz="2000" b="1" i="0" dirty="0">
                <a:solidFill>
                  <a:srgbClr val="197C78"/>
                </a:solidFill>
              </a:rPr>
              <a:t>SR</a:t>
            </a:r>
            <a:endParaRPr sz="2000" b="1" i="0" dirty="0">
              <a:solidFill>
                <a:srgbClr val="197C78"/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A9BE75D-1EFF-48B3-8A1B-99CD7C3F53BF}"/>
              </a:ext>
            </a:extLst>
          </p:cNvPr>
          <p:cNvSpPr>
            <a:spLocks noGrp="1"/>
          </p:cNvSpPr>
          <p:nvPr/>
        </p:nvSpPr>
        <p:spPr>
          <a:xfrm>
            <a:off x="6573944" y="3738214"/>
            <a:ext cx="1333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197C78"/>
                </a:solidFill>
              </a:defRPr>
            </a:pPr>
            <a:r>
              <a:rPr lang="en-US" sz="2000" b="1" i="0" dirty="0">
                <a:solidFill>
                  <a:srgbClr val="197C78"/>
                </a:solidFill>
              </a:rPr>
              <a:t>V</a:t>
            </a:r>
            <a:r>
              <a:rPr lang="en-US" altLang="zh-CN" sz="2000" b="1" i="0" dirty="0">
                <a:solidFill>
                  <a:srgbClr val="197C78"/>
                </a:solidFill>
              </a:rPr>
              <a:t>os</a:t>
            </a:r>
            <a:endParaRPr sz="2000" b="1" i="0" dirty="0">
              <a:solidFill>
                <a:srgbClr val="197C78"/>
              </a:solidFill>
            </a:endParaRPr>
          </a:p>
        </p:txBody>
      </p:sp>
      <p:sp>
        <p:nvSpPr>
          <p:cNvPr id="19" name="直接连接符 18">
            <a:extLst>
              <a:ext uri="{FF2B5EF4-FFF2-40B4-BE49-F238E27FC236}">
                <a16:creationId xmlns:a16="http://schemas.microsoft.com/office/drawing/2014/main" id="{041B31BD-B92F-4131-B039-9CE9D32D2CBA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10820400" cy="0"/>
          </a:xfrm>
          <a:prstGeom prst="line">
            <a:avLst/>
          </a:prstGeom>
          <a:noFill/>
          <a:ln w="9525">
            <a:solidFill>
              <a:srgbClr val="D6DEE5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4066B13-A633-4E53-923D-EBA6179CE19F}"/>
              </a:ext>
            </a:extLst>
          </p:cNvPr>
          <p:cNvSpPr>
            <a:spLocks noGrp="1"/>
          </p:cNvSpPr>
          <p:nvPr/>
        </p:nvSpPr>
        <p:spPr>
          <a:xfrm>
            <a:off x="685800" y="6505575"/>
            <a:ext cx="6667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 i="0">
                <a:solidFill>
                  <a:srgbClr val="687887"/>
                </a:solidFill>
              </a:defRPr>
            </a:pPr>
            <a:r>
              <a:rPr sz="750" b="0" i="0">
                <a:solidFill>
                  <a:srgbClr val="687887"/>
                </a:solidFill>
              </a:rPr>
              <a:t>Analog CMOS · RC-compensated two-stage OPAMP</a:t>
            </a:r>
          </a:p>
        </p:txBody>
      </p:sp>
      <p:pic>
        <p:nvPicPr>
          <p:cNvPr id="23" name="图片 22">
            <a:extLst>
              <a:ext uri="{FF2B5EF4-FFF2-40B4-BE49-F238E27FC236}">
                <a16:creationId xmlns:a16="http://schemas.microsoft.com/office/drawing/2014/main" id="{1D089E38-9A5E-64C9-19A1-F5B6C85FCD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218" y="1432937"/>
            <a:ext cx="4207223" cy="2215366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F1652D98-3B97-F464-51D7-9616E181A4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0645" y="1432937"/>
            <a:ext cx="3742062" cy="2215366"/>
          </a:xfrm>
          <a:prstGeom prst="rect">
            <a:avLst/>
          </a:prstGeom>
        </p:spPr>
      </p:pic>
      <p:pic>
        <p:nvPicPr>
          <p:cNvPr id="27" name="图片 26">
            <a:extLst>
              <a:ext uri="{FF2B5EF4-FFF2-40B4-BE49-F238E27FC236}">
                <a16:creationId xmlns:a16="http://schemas.microsoft.com/office/drawing/2014/main" id="{4BD82640-3C9D-08A2-C4F8-DA0ACF0E28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218" y="3784035"/>
            <a:ext cx="4097215" cy="2532495"/>
          </a:xfrm>
          <a:prstGeom prst="rect">
            <a:avLst/>
          </a:prstGeom>
        </p:spPr>
      </p:pic>
      <p:pic>
        <p:nvPicPr>
          <p:cNvPr id="29" name="图片 28">
            <a:extLst>
              <a:ext uri="{FF2B5EF4-FFF2-40B4-BE49-F238E27FC236}">
                <a16:creationId xmlns:a16="http://schemas.microsoft.com/office/drawing/2014/main" id="{2AA748BE-2BAE-D4E4-A942-613E1A026C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0645" y="3916542"/>
            <a:ext cx="3948881" cy="2254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6484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1DD05241-129E-422F-9022-A06E9A4926BD}"/>
              </a:ext>
            </a:extLst>
          </p:cNvPr>
          <p:cNvSpPr>
            <a:spLocks noGrp="1"/>
          </p:cNvSpPr>
          <p:nvPr/>
        </p:nvSpPr>
        <p:spPr>
          <a:xfrm>
            <a:off x="685800" y="323850"/>
            <a:ext cx="438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 i="0">
                <a:solidFill>
                  <a:srgbClr val="197C78"/>
                </a:solidFill>
              </a:defRPr>
            </a:pPr>
            <a:r>
              <a:rPr sz="900" b="1" i="0">
                <a:solidFill>
                  <a:srgbClr val="197C78"/>
                </a:solidFill>
              </a:rPr>
              <a:t>RESULTS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9BF2DCA-84BA-424A-9D00-1D7496AA1196}"/>
              </a:ext>
            </a:extLst>
          </p:cNvPr>
          <p:cNvSpPr>
            <a:spLocks noGrp="1"/>
          </p:cNvSpPr>
          <p:nvPr/>
        </p:nvSpPr>
        <p:spPr>
          <a:xfrm>
            <a:off x="685800" y="571500"/>
            <a:ext cx="10287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 i="0">
                <a:solidFill>
                  <a:srgbClr val="17324D"/>
                </a:solidFill>
              </a:defRPr>
            </a:pPr>
            <a:r>
              <a:rPr sz="2625" b="1" i="0" dirty="0">
                <a:solidFill>
                  <a:srgbClr val="17324D"/>
                </a:solidFill>
              </a:rPr>
              <a:t>AC simulation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949DE9BD-5890-4E3B-88FE-0B0E8A567C5B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10820400" cy="0"/>
          </a:xfrm>
          <a:prstGeom prst="line">
            <a:avLst/>
          </a:prstGeom>
          <a:noFill/>
          <a:ln w="9525">
            <a:solidFill>
              <a:srgbClr val="D6DEE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F1B2793-DF06-4672-BE70-4EDFFE44FF58}"/>
              </a:ext>
            </a:extLst>
          </p:cNvPr>
          <p:cNvSpPr>
            <a:spLocks noGrp="1"/>
          </p:cNvSpPr>
          <p:nvPr/>
        </p:nvSpPr>
        <p:spPr>
          <a:xfrm>
            <a:off x="11001375" y="333375"/>
            <a:ext cx="5048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75" b="1" i="0">
                <a:solidFill>
                  <a:srgbClr val="687887"/>
                </a:solidFill>
              </a:defRPr>
            </a:pPr>
            <a:r>
              <a:rPr sz="975" b="1" i="0">
                <a:solidFill>
                  <a:srgbClr val="687887"/>
                </a:solidFill>
              </a:rPr>
              <a:t>06</a:t>
            </a:r>
          </a:p>
        </p:txBody>
      </p:sp>
      <p:sp>
        <p:nvSpPr>
          <p:cNvPr id="18" name="直接连接符 17">
            <a:extLst>
              <a:ext uri="{FF2B5EF4-FFF2-40B4-BE49-F238E27FC236}">
                <a16:creationId xmlns:a16="http://schemas.microsoft.com/office/drawing/2014/main" id="{9F601B36-3B5B-4DF2-8D6D-2F591D82E4B8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10820400" cy="0"/>
          </a:xfrm>
          <a:prstGeom prst="line">
            <a:avLst/>
          </a:prstGeom>
          <a:noFill/>
          <a:ln w="9525">
            <a:solidFill>
              <a:srgbClr val="D6DEE5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70E87A7-8ACA-4DD0-A48B-9636ACF71A32}"/>
              </a:ext>
            </a:extLst>
          </p:cNvPr>
          <p:cNvSpPr>
            <a:spLocks noGrp="1"/>
          </p:cNvSpPr>
          <p:nvPr/>
        </p:nvSpPr>
        <p:spPr>
          <a:xfrm>
            <a:off x="685800" y="6505575"/>
            <a:ext cx="6667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 i="0">
                <a:solidFill>
                  <a:srgbClr val="687887"/>
                </a:solidFill>
              </a:defRPr>
            </a:pPr>
            <a:r>
              <a:rPr sz="750" b="0" i="0">
                <a:solidFill>
                  <a:srgbClr val="687887"/>
                </a:solidFill>
              </a:rPr>
              <a:t>Analog CMOS · RC-compensated two-stage OPAMP</a:t>
            </a:r>
          </a:p>
        </p:txBody>
      </p:sp>
      <p:pic>
        <p:nvPicPr>
          <p:cNvPr id="26" name="图片 25">
            <a:extLst>
              <a:ext uri="{FF2B5EF4-FFF2-40B4-BE49-F238E27FC236}">
                <a16:creationId xmlns:a16="http://schemas.microsoft.com/office/drawing/2014/main" id="{3214C344-53DE-7380-D083-B24B18D7C7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1352551"/>
            <a:ext cx="7702896" cy="4558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5884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A46760-A990-C1A9-E777-76F97779F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004E0E88-E6F1-5501-A4C0-6D988FC098F0}"/>
              </a:ext>
            </a:extLst>
          </p:cNvPr>
          <p:cNvSpPr>
            <a:spLocks noGrp="1"/>
          </p:cNvSpPr>
          <p:nvPr/>
        </p:nvSpPr>
        <p:spPr>
          <a:xfrm>
            <a:off x="685800" y="323850"/>
            <a:ext cx="438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 i="0">
                <a:solidFill>
                  <a:srgbClr val="197C78"/>
                </a:solidFill>
              </a:defRPr>
            </a:pPr>
            <a:r>
              <a:rPr sz="900" b="1" i="0">
                <a:solidFill>
                  <a:srgbClr val="197C78"/>
                </a:solidFill>
              </a:rPr>
              <a:t>RESULTS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1000D28-092D-C0EF-11A4-683EDECFE695}"/>
              </a:ext>
            </a:extLst>
          </p:cNvPr>
          <p:cNvSpPr>
            <a:spLocks noGrp="1"/>
          </p:cNvSpPr>
          <p:nvPr/>
        </p:nvSpPr>
        <p:spPr>
          <a:xfrm>
            <a:off x="685800" y="571500"/>
            <a:ext cx="10287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 i="0">
                <a:solidFill>
                  <a:srgbClr val="17324D"/>
                </a:solidFill>
              </a:defRPr>
            </a:pPr>
            <a:r>
              <a:rPr sz="2625" b="1" i="0" dirty="0">
                <a:solidFill>
                  <a:srgbClr val="17324D"/>
                </a:solidFill>
              </a:rPr>
              <a:t>AC simulation</a:t>
            </a:r>
            <a:r>
              <a:rPr lang="en-US" sz="2625" b="1" i="0" dirty="0">
                <a:solidFill>
                  <a:srgbClr val="17324D"/>
                </a:solidFill>
              </a:rPr>
              <a:t> (ICMR=1V)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C9FE9273-3878-2424-0840-0C33CFB95BD6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10820400" cy="0"/>
          </a:xfrm>
          <a:prstGeom prst="line">
            <a:avLst/>
          </a:prstGeom>
          <a:noFill/>
          <a:ln w="9525">
            <a:solidFill>
              <a:srgbClr val="D6DEE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EF7147A-5CB8-2EA5-EE4D-A846D16BBE0A}"/>
              </a:ext>
            </a:extLst>
          </p:cNvPr>
          <p:cNvSpPr>
            <a:spLocks noGrp="1"/>
          </p:cNvSpPr>
          <p:nvPr/>
        </p:nvSpPr>
        <p:spPr>
          <a:xfrm>
            <a:off x="11001375" y="333375"/>
            <a:ext cx="5048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75" b="1" i="0">
                <a:solidFill>
                  <a:srgbClr val="687887"/>
                </a:solidFill>
              </a:defRPr>
            </a:pPr>
            <a:r>
              <a:rPr lang="en-US" sz="975" b="1" i="0" dirty="0">
                <a:solidFill>
                  <a:srgbClr val="687887"/>
                </a:solidFill>
              </a:rPr>
              <a:t>07</a:t>
            </a:r>
            <a:endParaRPr sz="975" b="1" i="0" dirty="0">
              <a:solidFill>
                <a:srgbClr val="687887"/>
              </a:solidFill>
            </a:endParaRPr>
          </a:p>
        </p:txBody>
      </p:sp>
      <p:sp>
        <p:nvSpPr>
          <p:cNvPr id="18" name="直接连接符 17">
            <a:extLst>
              <a:ext uri="{FF2B5EF4-FFF2-40B4-BE49-F238E27FC236}">
                <a16:creationId xmlns:a16="http://schemas.microsoft.com/office/drawing/2014/main" id="{38C64FBD-F16C-55FA-B27D-B31F4E9A058E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10820400" cy="0"/>
          </a:xfrm>
          <a:prstGeom prst="line">
            <a:avLst/>
          </a:prstGeom>
          <a:noFill/>
          <a:ln w="9525">
            <a:solidFill>
              <a:srgbClr val="D6DEE5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7DFDC28-D707-569A-41CF-39E01146BB07}"/>
              </a:ext>
            </a:extLst>
          </p:cNvPr>
          <p:cNvSpPr>
            <a:spLocks noGrp="1"/>
          </p:cNvSpPr>
          <p:nvPr/>
        </p:nvSpPr>
        <p:spPr>
          <a:xfrm>
            <a:off x="685800" y="6505575"/>
            <a:ext cx="6667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 i="0">
                <a:solidFill>
                  <a:srgbClr val="687887"/>
                </a:solidFill>
              </a:defRPr>
            </a:pPr>
            <a:r>
              <a:rPr sz="750" b="0" i="0">
                <a:solidFill>
                  <a:srgbClr val="687887"/>
                </a:solidFill>
              </a:rPr>
              <a:t>Analog CMOS · RC-compensated two-stage OPAMP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E4D3B815-21A7-E043-0909-657170CD11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1294130"/>
            <a:ext cx="8170517" cy="4992369"/>
          </a:xfrm>
          <a:prstGeom prst="rect">
            <a:avLst/>
          </a:prstGeom>
        </p:spPr>
      </p:pic>
      <p:sp>
        <p:nvSpPr>
          <p:cNvPr id="8" name="矩形: 圆角 7">
            <a:extLst>
              <a:ext uri="{FF2B5EF4-FFF2-40B4-BE49-F238E27FC236}">
                <a16:creationId xmlns:a16="http://schemas.microsoft.com/office/drawing/2014/main" id="{6D36D4F4-6365-9E17-6F55-A13B5D4749CF}"/>
              </a:ext>
            </a:extLst>
          </p:cNvPr>
          <p:cNvSpPr>
            <a:spLocks noGrp="1"/>
          </p:cNvSpPr>
          <p:nvPr/>
        </p:nvSpPr>
        <p:spPr>
          <a:xfrm>
            <a:off x="9094175" y="1876426"/>
            <a:ext cx="3035965" cy="2666999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9525">
            <a:solidFill>
              <a:srgbClr val="D6DEE5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D35F6AE-5CDA-5826-A4A7-3B764E32AFA5}"/>
              </a:ext>
            </a:extLst>
          </p:cNvPr>
          <p:cNvSpPr>
            <a:spLocks noGrp="1"/>
          </p:cNvSpPr>
          <p:nvPr/>
        </p:nvSpPr>
        <p:spPr>
          <a:xfrm>
            <a:off x="10176252" y="2133602"/>
            <a:ext cx="1948443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 i="0">
                <a:solidFill>
                  <a:srgbClr val="17324D"/>
                </a:solidFill>
              </a:defRPr>
            </a:pPr>
            <a:r>
              <a:rPr lang="en-US" sz="2000" b="1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SPEC</a:t>
            </a:r>
            <a:endParaRPr sz="2000" b="1" i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E1083C6-6446-FC18-D680-AD61F6A7985C}"/>
              </a:ext>
            </a:extLst>
          </p:cNvPr>
          <p:cNvSpPr>
            <a:spLocks noGrp="1"/>
          </p:cNvSpPr>
          <p:nvPr/>
        </p:nvSpPr>
        <p:spPr>
          <a:xfrm>
            <a:off x="9094175" y="2847976"/>
            <a:ext cx="1169066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00" b="0" i="0">
                <a:solidFill>
                  <a:srgbClr val="687887"/>
                </a:solidFill>
              </a:defRPr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DC </a:t>
            </a:r>
            <a:r>
              <a:rPr lang="en-US" altLang="zh-CN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gain</a:t>
            </a:r>
            <a:endParaRPr sz="2000" b="0" i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C0BE19B-2770-B225-AD11-4D703F842A22}"/>
              </a:ext>
            </a:extLst>
          </p:cNvPr>
          <p:cNvSpPr>
            <a:spLocks noGrp="1"/>
          </p:cNvSpPr>
          <p:nvPr/>
        </p:nvSpPr>
        <p:spPr>
          <a:xfrm>
            <a:off x="10176252" y="2847976"/>
            <a:ext cx="1630039" cy="1714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1200" b="1" i="0">
                <a:solidFill>
                  <a:srgbClr val="C65B43"/>
                </a:solidFill>
              </a:defRPr>
            </a:pPr>
            <a:r>
              <a:rPr lang="en-US" sz="2000" b="1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75</a:t>
            </a:r>
            <a:r>
              <a:rPr lang="en-US" altLang="zh-CN" sz="2000" b="1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db</a:t>
            </a:r>
            <a:endParaRPr sz="2000" b="1" i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B272B76-1C7B-DE3A-CE7B-B4D1FAE17B0E}"/>
              </a:ext>
            </a:extLst>
          </p:cNvPr>
          <p:cNvSpPr>
            <a:spLocks noGrp="1"/>
          </p:cNvSpPr>
          <p:nvPr/>
        </p:nvSpPr>
        <p:spPr>
          <a:xfrm>
            <a:off x="9094175" y="3343276"/>
            <a:ext cx="1169066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00" b="0" i="0">
                <a:solidFill>
                  <a:srgbClr val="687887"/>
                </a:solidFill>
              </a:defRPr>
            </a:pPr>
            <a:r>
              <a:rPr lang="en-US" sz="200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UGBW</a:t>
            </a:r>
            <a:endParaRPr sz="2000" b="0" i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38CC0CE-340F-158A-2B49-B1DE34C9E784}"/>
              </a:ext>
            </a:extLst>
          </p:cNvPr>
          <p:cNvSpPr>
            <a:spLocks noGrp="1"/>
          </p:cNvSpPr>
          <p:nvPr/>
        </p:nvSpPr>
        <p:spPr>
          <a:xfrm>
            <a:off x="10176252" y="3343276"/>
            <a:ext cx="1630039" cy="1714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1200" b="1" i="0">
                <a:solidFill>
                  <a:srgbClr val="C65B43"/>
                </a:solidFill>
              </a:defRPr>
            </a:pPr>
            <a:r>
              <a:rPr lang="el-GR" altLang="zh-CN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2π · 15 </a:t>
            </a:r>
            <a:r>
              <a:rPr lang="en-US" altLang="zh-CN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MHz</a:t>
            </a:r>
            <a:endParaRPr sz="2000" b="1" i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42C9EB6-3159-0D47-E9C9-E58B51DFE2F7}"/>
              </a:ext>
            </a:extLst>
          </p:cNvPr>
          <p:cNvSpPr>
            <a:spLocks noGrp="1"/>
          </p:cNvSpPr>
          <p:nvPr/>
        </p:nvSpPr>
        <p:spPr>
          <a:xfrm>
            <a:off x="9094175" y="3838576"/>
            <a:ext cx="1169066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00" b="0" i="0">
                <a:solidFill>
                  <a:srgbClr val="687887"/>
                </a:solidFill>
              </a:defRPr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PM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03A45A0-F14A-15BA-8173-065DE50C1BD5}"/>
              </a:ext>
            </a:extLst>
          </p:cNvPr>
          <p:cNvSpPr>
            <a:spLocks noGrp="1"/>
          </p:cNvSpPr>
          <p:nvPr/>
        </p:nvSpPr>
        <p:spPr>
          <a:xfrm>
            <a:off x="10176252" y="3838576"/>
            <a:ext cx="1630039" cy="1714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1200" b="1" i="0">
                <a:solidFill>
                  <a:srgbClr val="C65B43"/>
                </a:solidFill>
              </a:defRPr>
            </a:pPr>
            <a:r>
              <a:rPr lang="en-US" sz="2000" b="1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60</a:t>
            </a:r>
            <a:endParaRPr sz="2000" b="1" i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63767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1D871F-AB1D-54A0-6E44-2DDA1F895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3EB2E0D4-8ED0-8960-EB62-C3BA348821DE}"/>
              </a:ext>
            </a:extLst>
          </p:cNvPr>
          <p:cNvSpPr>
            <a:spLocks noGrp="1"/>
          </p:cNvSpPr>
          <p:nvPr/>
        </p:nvSpPr>
        <p:spPr>
          <a:xfrm>
            <a:off x="685800" y="323850"/>
            <a:ext cx="438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 i="0">
                <a:solidFill>
                  <a:srgbClr val="197C78"/>
                </a:solidFill>
              </a:defRPr>
            </a:pPr>
            <a:r>
              <a:rPr sz="900" b="1" i="0">
                <a:solidFill>
                  <a:srgbClr val="197C78"/>
                </a:solidFill>
              </a:rPr>
              <a:t>RESULTS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84796C5-2911-A2C2-4153-CCF7AD6DD94C}"/>
              </a:ext>
            </a:extLst>
          </p:cNvPr>
          <p:cNvSpPr>
            <a:spLocks noGrp="1"/>
          </p:cNvSpPr>
          <p:nvPr/>
        </p:nvSpPr>
        <p:spPr>
          <a:xfrm>
            <a:off x="685800" y="571500"/>
            <a:ext cx="10287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 i="0">
                <a:solidFill>
                  <a:srgbClr val="17324D"/>
                </a:solidFill>
              </a:defRPr>
            </a:pPr>
            <a:r>
              <a:rPr sz="2625" b="1" i="0" dirty="0">
                <a:solidFill>
                  <a:srgbClr val="17324D"/>
                </a:solidFill>
              </a:rPr>
              <a:t>AC simulation</a:t>
            </a:r>
            <a:r>
              <a:rPr lang="en-US" sz="2625" b="1" i="0" dirty="0">
                <a:solidFill>
                  <a:srgbClr val="17324D"/>
                </a:solidFill>
              </a:rPr>
              <a:t> (ICMR=2.3V)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49CD94C2-489B-B2CF-4501-491AF7B807C6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10820400" cy="0"/>
          </a:xfrm>
          <a:prstGeom prst="line">
            <a:avLst/>
          </a:prstGeom>
          <a:noFill/>
          <a:ln w="9525">
            <a:solidFill>
              <a:srgbClr val="D6DEE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D2599B1-5DB7-A81A-F514-E246CEFF652A}"/>
              </a:ext>
            </a:extLst>
          </p:cNvPr>
          <p:cNvSpPr>
            <a:spLocks noGrp="1"/>
          </p:cNvSpPr>
          <p:nvPr/>
        </p:nvSpPr>
        <p:spPr>
          <a:xfrm>
            <a:off x="11001375" y="333375"/>
            <a:ext cx="5048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75" b="1" i="0">
                <a:solidFill>
                  <a:srgbClr val="687887"/>
                </a:solidFill>
              </a:defRPr>
            </a:pPr>
            <a:r>
              <a:rPr lang="en-US" sz="975" b="1" i="0" dirty="0">
                <a:solidFill>
                  <a:srgbClr val="687887"/>
                </a:solidFill>
              </a:rPr>
              <a:t>08</a:t>
            </a:r>
            <a:endParaRPr sz="975" b="1" i="0" dirty="0">
              <a:solidFill>
                <a:srgbClr val="687887"/>
              </a:solidFill>
            </a:endParaRPr>
          </a:p>
        </p:txBody>
      </p:sp>
      <p:sp>
        <p:nvSpPr>
          <p:cNvPr id="18" name="直接连接符 17">
            <a:extLst>
              <a:ext uri="{FF2B5EF4-FFF2-40B4-BE49-F238E27FC236}">
                <a16:creationId xmlns:a16="http://schemas.microsoft.com/office/drawing/2014/main" id="{6D3ABC76-FA0D-1D31-2AF0-CA1DC38FF541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10820400" cy="0"/>
          </a:xfrm>
          <a:prstGeom prst="line">
            <a:avLst/>
          </a:prstGeom>
          <a:noFill/>
          <a:ln w="9525">
            <a:solidFill>
              <a:srgbClr val="D6DEE5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D888017-A5C4-F54C-4A3D-988AB8666AA7}"/>
              </a:ext>
            </a:extLst>
          </p:cNvPr>
          <p:cNvSpPr>
            <a:spLocks noGrp="1"/>
          </p:cNvSpPr>
          <p:nvPr/>
        </p:nvSpPr>
        <p:spPr>
          <a:xfrm>
            <a:off x="685800" y="6505575"/>
            <a:ext cx="6667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 i="0">
                <a:solidFill>
                  <a:srgbClr val="687887"/>
                </a:solidFill>
              </a:defRPr>
            </a:pPr>
            <a:r>
              <a:rPr sz="750" b="0" i="0">
                <a:solidFill>
                  <a:srgbClr val="687887"/>
                </a:solidFill>
              </a:rPr>
              <a:t>Analog CMOS · RC-compensated two-stage OPAMP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863B737F-33E4-86B2-29B0-3111AACC12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027" r="1199"/>
          <a:stretch>
            <a:fillRect/>
          </a:stretch>
        </p:blipFill>
        <p:spPr>
          <a:xfrm>
            <a:off x="763675" y="1266825"/>
            <a:ext cx="7968343" cy="5058830"/>
          </a:xfrm>
          <a:prstGeom prst="rect">
            <a:avLst/>
          </a:prstGeom>
        </p:spPr>
      </p:pic>
      <p:sp>
        <p:nvSpPr>
          <p:cNvPr id="9" name="矩形: 圆角 8">
            <a:extLst>
              <a:ext uri="{FF2B5EF4-FFF2-40B4-BE49-F238E27FC236}">
                <a16:creationId xmlns:a16="http://schemas.microsoft.com/office/drawing/2014/main" id="{832904B1-EAA9-F542-8EFC-5573B63B1B4C}"/>
              </a:ext>
            </a:extLst>
          </p:cNvPr>
          <p:cNvSpPr>
            <a:spLocks noGrp="1"/>
          </p:cNvSpPr>
          <p:nvPr/>
        </p:nvSpPr>
        <p:spPr>
          <a:xfrm>
            <a:off x="9094175" y="1876426"/>
            <a:ext cx="3035965" cy="2666999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9525">
            <a:solidFill>
              <a:srgbClr val="D6DEE5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9799FA1-CAD8-3AF7-5280-4BF714D776BE}"/>
              </a:ext>
            </a:extLst>
          </p:cNvPr>
          <p:cNvSpPr>
            <a:spLocks noGrp="1"/>
          </p:cNvSpPr>
          <p:nvPr/>
        </p:nvSpPr>
        <p:spPr>
          <a:xfrm>
            <a:off x="10176252" y="2133602"/>
            <a:ext cx="1948443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 i="0">
                <a:solidFill>
                  <a:srgbClr val="17324D"/>
                </a:solidFill>
              </a:defRPr>
            </a:pPr>
            <a:r>
              <a:rPr lang="en-US" sz="2000" b="1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SPEC</a:t>
            </a:r>
            <a:endParaRPr sz="2000" b="1" i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B08254E-5F1E-0A35-1067-28D65848A1D9}"/>
              </a:ext>
            </a:extLst>
          </p:cNvPr>
          <p:cNvSpPr>
            <a:spLocks noGrp="1"/>
          </p:cNvSpPr>
          <p:nvPr/>
        </p:nvSpPr>
        <p:spPr>
          <a:xfrm>
            <a:off x="9094175" y="2847976"/>
            <a:ext cx="1169066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00" b="0" i="0">
                <a:solidFill>
                  <a:srgbClr val="687887"/>
                </a:solidFill>
              </a:defRPr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DC </a:t>
            </a:r>
            <a:r>
              <a:rPr lang="en-US" altLang="zh-CN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gain</a:t>
            </a:r>
            <a:endParaRPr sz="2000" b="0" i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14E9C9B-79DF-00C5-03BB-416D5C667107}"/>
              </a:ext>
            </a:extLst>
          </p:cNvPr>
          <p:cNvSpPr>
            <a:spLocks noGrp="1"/>
          </p:cNvSpPr>
          <p:nvPr/>
        </p:nvSpPr>
        <p:spPr>
          <a:xfrm>
            <a:off x="10176252" y="2847976"/>
            <a:ext cx="1630039" cy="1714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1200" b="1" i="0">
                <a:solidFill>
                  <a:srgbClr val="C65B43"/>
                </a:solidFill>
              </a:defRPr>
            </a:pPr>
            <a:r>
              <a:rPr lang="en-US" sz="2000" b="1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75</a:t>
            </a:r>
            <a:r>
              <a:rPr lang="en-US" altLang="zh-CN" sz="2000" b="1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db</a:t>
            </a:r>
            <a:endParaRPr sz="2000" b="1" i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665E789-EABF-15CF-2571-9A18F3FDA280}"/>
              </a:ext>
            </a:extLst>
          </p:cNvPr>
          <p:cNvSpPr>
            <a:spLocks noGrp="1"/>
          </p:cNvSpPr>
          <p:nvPr/>
        </p:nvSpPr>
        <p:spPr>
          <a:xfrm>
            <a:off x="9094175" y="3343276"/>
            <a:ext cx="1169066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00" b="0" i="0">
                <a:solidFill>
                  <a:srgbClr val="687887"/>
                </a:solidFill>
              </a:defRPr>
            </a:pPr>
            <a:r>
              <a:rPr lang="en-US" sz="200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UGBW</a:t>
            </a:r>
            <a:endParaRPr sz="2000" b="0" i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2542C6B-D475-A8B3-CA33-A78315AA3674}"/>
              </a:ext>
            </a:extLst>
          </p:cNvPr>
          <p:cNvSpPr>
            <a:spLocks noGrp="1"/>
          </p:cNvSpPr>
          <p:nvPr/>
        </p:nvSpPr>
        <p:spPr>
          <a:xfrm>
            <a:off x="10176252" y="3343276"/>
            <a:ext cx="1630039" cy="1714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1200" b="1" i="0">
                <a:solidFill>
                  <a:srgbClr val="C65B43"/>
                </a:solidFill>
              </a:defRPr>
            </a:pPr>
            <a:r>
              <a:rPr lang="el-GR" altLang="zh-CN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2π · 15 </a:t>
            </a:r>
            <a:r>
              <a:rPr lang="en-US" altLang="zh-CN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MHz</a:t>
            </a:r>
            <a:endParaRPr sz="2000" b="1" i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F7D5D94-85EE-F07D-3FF4-709AF70C7F21}"/>
              </a:ext>
            </a:extLst>
          </p:cNvPr>
          <p:cNvSpPr>
            <a:spLocks noGrp="1"/>
          </p:cNvSpPr>
          <p:nvPr/>
        </p:nvSpPr>
        <p:spPr>
          <a:xfrm>
            <a:off x="9094175" y="3838576"/>
            <a:ext cx="1169066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00" b="0" i="0">
                <a:solidFill>
                  <a:srgbClr val="687887"/>
                </a:solidFill>
              </a:defRPr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PM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5675952-D270-A13C-A996-89B8EA6CA98C}"/>
              </a:ext>
            </a:extLst>
          </p:cNvPr>
          <p:cNvSpPr>
            <a:spLocks noGrp="1"/>
          </p:cNvSpPr>
          <p:nvPr/>
        </p:nvSpPr>
        <p:spPr>
          <a:xfrm>
            <a:off x="10176252" y="3838576"/>
            <a:ext cx="1630039" cy="1714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1200" b="1" i="0">
                <a:solidFill>
                  <a:srgbClr val="C65B43"/>
                </a:solidFill>
              </a:defRPr>
            </a:pPr>
            <a:r>
              <a:rPr lang="en-US" sz="2000" b="1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60</a:t>
            </a:r>
            <a:endParaRPr sz="2000" b="1" i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10445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8CE10295-CADD-4936-A7D2-AEAAA95142E0}"/>
              </a:ext>
            </a:extLst>
          </p:cNvPr>
          <p:cNvSpPr>
            <a:spLocks noGrp="1"/>
          </p:cNvSpPr>
          <p:nvPr/>
        </p:nvSpPr>
        <p:spPr>
          <a:xfrm>
            <a:off x="685800" y="323850"/>
            <a:ext cx="438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 i="0">
                <a:solidFill>
                  <a:srgbClr val="197C78"/>
                </a:solidFill>
              </a:defRPr>
            </a:pPr>
            <a:r>
              <a:rPr sz="900" b="1" i="0">
                <a:solidFill>
                  <a:srgbClr val="197C78"/>
                </a:solidFill>
              </a:rPr>
              <a:t>RESULTS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30F60CD-BD21-403B-8583-89F436002FC1}"/>
              </a:ext>
            </a:extLst>
          </p:cNvPr>
          <p:cNvSpPr>
            <a:spLocks noGrp="1"/>
          </p:cNvSpPr>
          <p:nvPr/>
        </p:nvSpPr>
        <p:spPr>
          <a:xfrm>
            <a:off x="685800" y="571500"/>
            <a:ext cx="10287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 i="0">
                <a:solidFill>
                  <a:srgbClr val="17324D"/>
                </a:solidFill>
              </a:defRPr>
            </a:pPr>
            <a:r>
              <a:rPr lang="en-US" sz="2625" b="1" i="0" dirty="0">
                <a:solidFill>
                  <a:srgbClr val="17324D"/>
                </a:solidFill>
              </a:rPr>
              <a:t>SR</a:t>
            </a:r>
            <a:endParaRPr sz="2625" b="1" i="0" dirty="0">
              <a:solidFill>
                <a:srgbClr val="17324D"/>
              </a:solidFill>
            </a:endParaRP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3F52D4A7-40C5-42A8-A711-542CE8492E2D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10820400" cy="0"/>
          </a:xfrm>
          <a:prstGeom prst="line">
            <a:avLst/>
          </a:prstGeom>
          <a:noFill/>
          <a:ln w="9525">
            <a:solidFill>
              <a:srgbClr val="D6DEE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4E40E0A-A9F1-45E1-8F0D-0429FC9B80E5}"/>
              </a:ext>
            </a:extLst>
          </p:cNvPr>
          <p:cNvSpPr>
            <a:spLocks noGrp="1"/>
          </p:cNvSpPr>
          <p:nvPr/>
        </p:nvSpPr>
        <p:spPr>
          <a:xfrm>
            <a:off x="11001375" y="333375"/>
            <a:ext cx="5048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75" b="1" i="0">
                <a:solidFill>
                  <a:srgbClr val="687887"/>
                </a:solidFill>
              </a:defRPr>
            </a:pPr>
            <a:r>
              <a:rPr sz="975" b="1" i="0" dirty="0">
                <a:solidFill>
                  <a:srgbClr val="687887"/>
                </a:solidFill>
              </a:rPr>
              <a:t>0</a:t>
            </a:r>
            <a:r>
              <a:rPr lang="en-US" sz="975" b="1" i="0" dirty="0">
                <a:solidFill>
                  <a:srgbClr val="687887"/>
                </a:solidFill>
              </a:rPr>
              <a:t>9</a:t>
            </a:r>
            <a:endParaRPr sz="975" b="1" i="0" dirty="0">
              <a:solidFill>
                <a:srgbClr val="687887"/>
              </a:solidFill>
            </a:endParaRPr>
          </a:p>
        </p:txBody>
      </p:sp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B9C7BDA4-F891-437C-ACB9-BC72195825F7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10820400" cy="0"/>
          </a:xfrm>
          <a:prstGeom prst="line">
            <a:avLst/>
          </a:prstGeom>
          <a:noFill/>
          <a:ln w="9525">
            <a:solidFill>
              <a:srgbClr val="D6DEE5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16E3894-6ACE-4F0C-B7C7-7A4B4C3B01DB}"/>
              </a:ext>
            </a:extLst>
          </p:cNvPr>
          <p:cNvSpPr>
            <a:spLocks noGrp="1"/>
          </p:cNvSpPr>
          <p:nvPr/>
        </p:nvSpPr>
        <p:spPr>
          <a:xfrm>
            <a:off x="685800" y="6505575"/>
            <a:ext cx="6667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 i="0">
                <a:solidFill>
                  <a:srgbClr val="687887"/>
                </a:solidFill>
              </a:defRPr>
            </a:pPr>
            <a:r>
              <a:rPr sz="750" b="0" i="0">
                <a:solidFill>
                  <a:srgbClr val="687887"/>
                </a:solidFill>
              </a:rPr>
              <a:t>Analog CMOS · RC-compensated two-stage OPAMP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7746F6BC-D254-863C-B843-26D62493FB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446" y="1233488"/>
            <a:ext cx="6237514" cy="2718591"/>
          </a:xfrm>
          <a:prstGeom prst="rect">
            <a:avLst/>
          </a:prstGeom>
        </p:spPr>
      </p:pic>
      <p:sp>
        <p:nvSpPr>
          <p:cNvPr id="18" name="文本框 17">
            <a:extLst>
              <a:ext uri="{FF2B5EF4-FFF2-40B4-BE49-F238E27FC236}">
                <a16:creationId xmlns:a16="http://schemas.microsoft.com/office/drawing/2014/main" id="{C609B5BF-5BD2-2755-7F47-A26AF3F41DBB}"/>
              </a:ext>
            </a:extLst>
          </p:cNvPr>
          <p:cNvSpPr txBox="1"/>
          <p:nvPr/>
        </p:nvSpPr>
        <p:spPr>
          <a:xfrm>
            <a:off x="8078875" y="2052147"/>
            <a:ext cx="2572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17324D"/>
                </a:solidFill>
              </a:rPr>
              <a:t>ICMR=1V</a:t>
            </a:r>
            <a:endParaRPr lang="zh-CN" altLang="en-US" dirty="0"/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CDE7E31D-4D55-10D6-4874-1743750FEA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446" y="3924897"/>
            <a:ext cx="6237514" cy="2514003"/>
          </a:xfrm>
          <a:prstGeom prst="rect">
            <a:avLst/>
          </a:prstGeom>
        </p:spPr>
      </p:pic>
      <p:sp>
        <p:nvSpPr>
          <p:cNvPr id="21" name="文本框 20">
            <a:extLst>
              <a:ext uri="{FF2B5EF4-FFF2-40B4-BE49-F238E27FC236}">
                <a16:creationId xmlns:a16="http://schemas.microsoft.com/office/drawing/2014/main" id="{DCB61DF2-67ED-1B48-F736-682237DAF43B}"/>
              </a:ext>
            </a:extLst>
          </p:cNvPr>
          <p:cNvSpPr txBox="1"/>
          <p:nvPr/>
        </p:nvSpPr>
        <p:spPr>
          <a:xfrm>
            <a:off x="8078875" y="4070267"/>
            <a:ext cx="2572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17324D"/>
                </a:solidFill>
              </a:rPr>
              <a:t>ICMR=2.3V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189995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AF355D1B-82F7-4CE0-A9FF-4F030E415EE9}"/>
              </a:ext>
            </a:extLst>
          </p:cNvPr>
          <p:cNvSpPr>
            <a:spLocks noGrp="1"/>
          </p:cNvSpPr>
          <p:nvPr/>
        </p:nvSpPr>
        <p:spPr>
          <a:xfrm>
            <a:off x="685800" y="323850"/>
            <a:ext cx="438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 i="0">
                <a:solidFill>
                  <a:srgbClr val="197C78"/>
                </a:solidFill>
              </a:defRPr>
            </a:pPr>
            <a:r>
              <a:rPr sz="900" b="1" i="0">
                <a:solidFill>
                  <a:srgbClr val="197C78"/>
                </a:solidFill>
              </a:rPr>
              <a:t>ROBUSTNESS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DC323E1-3ED7-4754-A5C5-930BF92A57D5}"/>
              </a:ext>
            </a:extLst>
          </p:cNvPr>
          <p:cNvSpPr>
            <a:spLocks noGrp="1"/>
          </p:cNvSpPr>
          <p:nvPr/>
        </p:nvSpPr>
        <p:spPr>
          <a:xfrm>
            <a:off x="685800" y="571500"/>
            <a:ext cx="10287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625" b="1" i="0">
                <a:solidFill>
                  <a:srgbClr val="17324D"/>
                </a:solidFill>
              </a:defRPr>
            </a:pPr>
            <a:r>
              <a:rPr sz="2625" b="1" i="0">
                <a:solidFill>
                  <a:srgbClr val="17324D"/>
                </a:solidFill>
              </a:rPr>
              <a:t>Monte Carlo simulation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94BF7DA6-2938-400F-8FCB-1FD0C235341B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10820400" cy="0"/>
          </a:xfrm>
          <a:prstGeom prst="line">
            <a:avLst/>
          </a:prstGeom>
          <a:noFill/>
          <a:ln w="9525">
            <a:solidFill>
              <a:srgbClr val="D6DEE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88329F6-6381-480A-8BBF-200B33BCD729}"/>
              </a:ext>
            </a:extLst>
          </p:cNvPr>
          <p:cNvSpPr>
            <a:spLocks noGrp="1"/>
          </p:cNvSpPr>
          <p:nvPr/>
        </p:nvSpPr>
        <p:spPr>
          <a:xfrm>
            <a:off x="11001375" y="333375"/>
            <a:ext cx="5048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75" b="1" i="0">
                <a:solidFill>
                  <a:srgbClr val="687887"/>
                </a:solidFill>
              </a:defRPr>
            </a:pPr>
            <a:r>
              <a:rPr lang="en-US" sz="975" b="1" dirty="0">
                <a:solidFill>
                  <a:srgbClr val="687887"/>
                </a:solidFill>
              </a:rPr>
              <a:t>10</a:t>
            </a:r>
          </a:p>
        </p:txBody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F6BF402E-B98B-4D7C-B661-B414CBB3AB75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10820400" cy="0"/>
          </a:xfrm>
          <a:prstGeom prst="line">
            <a:avLst/>
          </a:prstGeom>
          <a:noFill/>
          <a:ln w="9525">
            <a:solidFill>
              <a:srgbClr val="D6DEE5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F68206F-3109-45A3-8F43-6A4C94A2BC83}"/>
              </a:ext>
            </a:extLst>
          </p:cNvPr>
          <p:cNvSpPr>
            <a:spLocks noGrp="1"/>
          </p:cNvSpPr>
          <p:nvPr/>
        </p:nvSpPr>
        <p:spPr>
          <a:xfrm>
            <a:off x="685800" y="6505575"/>
            <a:ext cx="6667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750" b="0" i="0">
                <a:solidFill>
                  <a:srgbClr val="687887"/>
                </a:solidFill>
              </a:defRPr>
            </a:pPr>
            <a:r>
              <a:rPr sz="750" b="0" i="0">
                <a:solidFill>
                  <a:srgbClr val="687887"/>
                </a:solidFill>
              </a:rPr>
              <a:t>Analog CMOS · RC-compensated two-stage OPAMP</a:t>
            </a: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A7277EF7-E556-9BF7-127A-2E6D65BC36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55" t="2262" r="13031" b="5449"/>
          <a:stretch>
            <a:fillRect/>
          </a:stretch>
        </p:blipFill>
        <p:spPr>
          <a:xfrm>
            <a:off x="0" y="1374963"/>
            <a:ext cx="4471517" cy="2581122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A99F98C2-F57B-A60E-5E2F-008DBCCF30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3835" y="1374963"/>
            <a:ext cx="7392041" cy="5159187"/>
          </a:xfrm>
          <a:prstGeom prst="rect">
            <a:avLst/>
          </a:prstGeom>
        </p:spPr>
      </p:pic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427E23F-4C44-265A-719D-655B7330E3CB}"/>
              </a:ext>
            </a:extLst>
          </p:cNvPr>
          <p:cNvSpPr>
            <a:spLocks noGrp="1"/>
          </p:cNvSpPr>
          <p:nvPr/>
        </p:nvSpPr>
        <p:spPr>
          <a:xfrm>
            <a:off x="685800" y="4435536"/>
            <a:ext cx="3035965" cy="1422646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9525">
            <a:solidFill>
              <a:srgbClr val="D6DEE5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D4978BC-DC24-1692-D84C-BE7CBCA9858B}"/>
              </a:ext>
            </a:extLst>
          </p:cNvPr>
          <p:cNvSpPr>
            <a:spLocks noGrp="1"/>
          </p:cNvSpPr>
          <p:nvPr/>
        </p:nvSpPr>
        <p:spPr>
          <a:xfrm>
            <a:off x="1902328" y="4678632"/>
            <a:ext cx="1948443" cy="2761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 i="0">
                <a:solidFill>
                  <a:srgbClr val="17324D"/>
                </a:solidFill>
              </a:defRPr>
            </a:pPr>
            <a:r>
              <a:rPr lang="en-US" sz="2000" b="1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SPEC</a:t>
            </a:r>
            <a:endParaRPr sz="2000" b="1" i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8AFC583-A3CF-1702-84E4-7B7416130054}"/>
              </a:ext>
            </a:extLst>
          </p:cNvPr>
          <p:cNvSpPr>
            <a:spLocks noGrp="1"/>
          </p:cNvSpPr>
          <p:nvPr/>
        </p:nvSpPr>
        <p:spPr>
          <a:xfrm>
            <a:off x="685800" y="4766744"/>
            <a:ext cx="3202912" cy="109143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125" b="0" i="0">
                <a:solidFill>
                  <a:srgbClr val="1E2935"/>
                </a:solidFill>
              </a:defRPr>
            </a:pPr>
            <a:r>
              <a:rPr lang="el-GR" altLang="zh-CN" sz="2000" dirty="0">
                <a:solidFill>
                  <a:srgbClr val="1E2935"/>
                </a:solidFill>
              </a:rPr>
              <a:t>|Vos| ≤ 200 µV; σ ≤ 1.33 mV</a:t>
            </a:r>
          </a:p>
        </p:txBody>
      </p:sp>
    </p:spTree>
    <p:extLst>
      <p:ext uri="{BB962C8B-B14F-4D97-AF65-F5344CB8AC3E}">
        <p14:creationId xmlns:p14="http://schemas.microsoft.com/office/powerpoint/2010/main" val="15249273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B13E2-CE4D-84C4-CC69-F8A8A06BF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575CF275-8FFF-ECDC-CDA8-6D063056BA94}"/>
              </a:ext>
            </a:extLst>
          </p:cNvPr>
          <p:cNvSpPr>
            <a:spLocks noGrp="1"/>
          </p:cNvSpPr>
          <p:nvPr/>
        </p:nvSpPr>
        <p:spPr>
          <a:xfrm>
            <a:off x="685800" y="2257425"/>
            <a:ext cx="666750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900" b="1" i="0">
                <a:solidFill>
                  <a:srgbClr val="17324D"/>
                </a:solidFill>
              </a:defRPr>
            </a:pPr>
            <a:r>
              <a:rPr lang="en-US" sz="6600" b="1" i="0" dirty="0">
                <a:solidFill>
                  <a:srgbClr val="17324D"/>
                </a:solidFill>
              </a:rPr>
              <a:t>Thank you </a:t>
            </a:r>
            <a:endParaRPr sz="6600" b="1" i="0" dirty="0">
              <a:solidFill>
                <a:srgbClr val="17324D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C105920-7701-8204-15EE-45EF9E9F905B}"/>
              </a:ext>
            </a:extLst>
          </p:cNvPr>
          <p:cNvSpPr>
            <a:spLocks noGrp="1"/>
          </p:cNvSpPr>
          <p:nvPr/>
        </p:nvSpPr>
        <p:spPr>
          <a:xfrm>
            <a:off x="828675" y="4448175"/>
            <a:ext cx="7343775" cy="1790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687887"/>
                </a:solidFill>
              </a:defRPr>
            </a:pPr>
            <a:r>
              <a:rPr lang="en-US" sz="2000" dirty="0" err="1"/>
              <a:t>Z</a:t>
            </a:r>
            <a:r>
              <a:rPr lang="en-US" altLang="zh-CN" sz="2000" dirty="0" err="1"/>
              <a:t>hanyu</a:t>
            </a:r>
            <a:r>
              <a:rPr lang="en-US" altLang="zh-CN" sz="2000" dirty="0"/>
              <a:t> Dong 6159975</a:t>
            </a:r>
          </a:p>
          <a:p>
            <a:pPr>
              <a:defRPr sz="1350" b="0" i="0">
                <a:solidFill>
                  <a:srgbClr val="687887"/>
                </a:solidFill>
              </a:defRPr>
            </a:pPr>
            <a:r>
              <a:rPr lang="en-US" altLang="zh-CN" sz="2000" dirty="0"/>
              <a:t>Sumit Kumar Patel 6992625</a:t>
            </a:r>
          </a:p>
        </p:txBody>
      </p:sp>
    </p:spTree>
    <p:extLst>
      <p:ext uri="{BB962C8B-B14F-4D97-AF65-F5344CB8AC3E}">
        <p14:creationId xmlns:p14="http://schemas.microsoft.com/office/powerpoint/2010/main" val="382658137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591</Words>
  <Application>Microsoft Office PowerPoint</Application>
  <DocSecurity>0</DocSecurity>
  <PresentationFormat>宽屏</PresentationFormat>
  <Paragraphs>128</Paragraphs>
  <Slides>11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3" baseType="lpstr"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 d</cp:lastModifiedBy>
  <cp:revision>2</cp:revision>
  <dcterms:created xsi:type="dcterms:W3CDTF">2026-08-23T09:10:58Z</dcterms:created>
  <dcterms:modified xsi:type="dcterms:W3CDTF">2026-08-25T18:06:56Z</dcterms:modified>
</cp:coreProperties>
</file>