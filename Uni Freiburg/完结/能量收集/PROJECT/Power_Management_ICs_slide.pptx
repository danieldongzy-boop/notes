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1d7b2a44554f2c" /><Relationship Type="http://schemas.openxmlformats.org/officeDocument/2006/relationships/extended-properties" Target="/docProps/app.xml" Id="Rafd49262df29498c" /><Relationship Type="http://schemas.openxmlformats.org/officeDocument/2006/relationships/officeDocument" Target="/ppt/presentation.xml" Id="R885f8dd995a140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e8388b3309478b"/>
  </p:sldMasterIdLst>
  <p:notesMasterIdLst>
    <p:notesMasterId xmlns:r="http://schemas.openxmlformats.org/officeDocument/2006/relationships" r:id="R6f9792542b5a4f74"/>
  </p:notesMasterIdLst>
  <p:sldIdLst>
    <p:sldId xmlns:r="http://schemas.openxmlformats.org/officeDocument/2006/relationships" id="256" r:id="Ra7762eafcb054e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2dac90634040be" /><Relationship Type="http://schemas.openxmlformats.org/officeDocument/2006/relationships/slideMaster" Target="/ppt/slideMasters/slideMaster1.xml" Id="Reee8388b3309478b" /><Relationship Type="http://schemas.openxmlformats.org/officeDocument/2006/relationships/notesMaster" Target="/ppt/notesMasters/notesMaster1.xml" Id="R6f9792542b5a4f74" /><Relationship Type="http://schemas.openxmlformats.org/officeDocument/2006/relationships/presProps" Target="/ppt/presProps.xml" Id="R9fe6734332dd41e7" /><Relationship Type="http://schemas.openxmlformats.org/officeDocument/2006/relationships/tableStyles" Target="/ppt/tableStyles.xml" Id="Rd58bb2761c454152" /><Relationship Type="http://schemas.openxmlformats.org/officeDocument/2006/relationships/slide" Target="/ppt/slides/slide1.xml" Id="Ra7762eafcb054e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8926e76b934b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c2732dbf6041e0" /><Relationship Type="http://schemas.openxmlformats.org/officeDocument/2006/relationships/notesMaster" Target="/ppt/notesMasters/notesMaster1.xml" Id="R3aa2bc1f54c8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f0f37a4774f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a45c3317634b0e" /><Relationship Type="http://schemas.openxmlformats.org/officeDocument/2006/relationships/slideLayout" Target="/ppt/slideLayouts/slideLayout1.xml" Id="R7ba2b1975ab149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2b1975ab149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cfc6bbb80427e" /><Relationship Type="http://schemas.openxmlformats.org/officeDocument/2006/relationships/chart" Target="/ppt/slides/charts/chart1.xml" Id="R26310ecb020d4dba" /><Relationship Type="http://schemas.openxmlformats.org/officeDocument/2006/relationships/image" Target="/ppt/media/image.png" Id="Rb30bfc4edadb4c39" /><Relationship Type="http://schemas.openxmlformats.org/officeDocument/2006/relationships/notesSlide" Target="/ppt/notesSlides/notesSlide1.xml" Id="Rc8000ae908c248dd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Reported Efficiency (%)</a:t>
            </a:r>
          </a:p>
        </c:rich>
      </c:tx>
    </c:title>
    <c:plotArea>
      <c:barChart>
        <c:barDir val="col"/>
        <c:varyColors val="0"/>
        <c:ser>
          <c:idx val="0"/>
          <c:order val="0"/>
          <c:tx>
            <c:v>Efficiency</c:v>
          </c:tx>
          <c:spPr>
            <a:solidFill xmlns:a="http://schemas.openxmlformats.org/drawingml/2006/main">
              <a:srgbClr val="4472C4"/>
            </a:solidFill>
          </c:spPr>
          <c:cat>
            <c:strLit>
              <c:ptCount val="3"/>
              <c:pt idx="0">
                <c:v>AEM30940</c:v>
              </c:pt>
              <c:pt idx="1">
                <c:v>BQ25505</c:v>
              </c:pt>
              <c:pt idx="2">
                <c:v>LTC3108-1</c:v>
              </c:pt>
            </c:strLit>
          </c:cat>
          <c:val>
            <c:numLit>
              <c:formatCode>General</c:formatCode>
              <c:ptCount val="3"/>
              <c:pt idx="0">
                <c:v>85</c:v>
              </c:pt>
              <c:pt idx="1">
                <c:v>85</c:v>
              </c:pt>
              <c:pt idx="2">
                <c:v>30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Power-management IC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Efficiency (%)</a:t>
                </a:r>
              </a:p>
            </c:rich>
          </c:tx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  <c:majorUnit val="20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left-rail">
            <a:extLst xmlns:a="http://schemas.openxmlformats.org/drawingml/2006/main">
              <a:ext uri="{FF2B5EF4-FFF2-40B4-BE49-F238E27FC236}">
                <a16:creationId xmlns:a16="http://schemas.microsoft.com/office/drawing/2014/main" id="{AB10BFE6-4503-41AD-B725-8433C735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eft-rule">
            <a:extLst xmlns:a="http://schemas.openxmlformats.org/drawingml/2006/main">
              <a:ext uri="{FF2B5EF4-FFF2-40B4-BE49-F238E27FC236}">
                <a16:creationId xmlns:a16="http://schemas.microsoft.com/office/drawing/2014/main" id="{9457772D-E65A-45EE-A031-F5DB04050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42875"/>
            <a:ext cx="0" cy="509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A779E8F-E0B7-4DA2-A930-924D4252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484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340E26-5C80-474A-BC3E-224869CE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175" b="1" i="1">
                <a:solidFill>
                  <a:srgbClr val="111111"/>
                </a:solidFill>
              </a:defRPr>
            </a:pPr>
            <a:r>
              <a:rPr sz="2175" b="1" i="1">
                <a:solidFill>
                  <a:srgbClr val="111111"/>
                </a:solidFill>
              </a:rPr>
              <a:t>Power Management ICs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3413744D-A159-441A-9E25-D628CCB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14375"/>
            <a:ext cx="676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B5B5B"/>
            </a:solidFill>
            <a:prstDash val="solid"/>
          </a:ln>
        </p:spPr>
      </p:sp>
      <p:sp>
        <p:nvSpPr>
          <p:cNvPr id="6" name="component-heading">
            <a:extLst xmlns:a="http://schemas.openxmlformats.org/drawingml/2006/main">
              <a:ext uri="{FF2B5EF4-FFF2-40B4-BE49-F238E27FC236}">
                <a16:creationId xmlns:a16="http://schemas.microsoft.com/office/drawing/2014/main" id="{0535522C-D6A9-4A49-8456-F755E364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85825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➢  Energy-harvesting PMIC comparison</a:t>
            </a:r>
          </a:p>
        </p:txBody>
      </p:sp>
      <p:sp>
        <p:nvSpPr>
          <p:cNvPr id="7" name="summary">
            <a:extLst xmlns:a="http://schemas.openxmlformats.org/drawingml/2006/main">
              <a:ext uri="{FF2B5EF4-FFF2-40B4-BE49-F238E27FC236}">
                <a16:creationId xmlns:a16="http://schemas.microsoft.com/office/drawing/2014/main" id="{D9C8C212-84D0-48D9-A0BC-54D15F37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00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3333"/>
                </a:solidFill>
              </a:defRPr>
            </a:pPr>
            <a:r>
              <a:rPr sz="1200">
                <a:solidFill>
                  <a:srgbClr val="333333"/>
                </a:solidFill>
              </a:rPr>
              <a:t>Cold-start capability  |  Regulated outputs  |  Conversion efficiency</a:t>
            </a:r>
          </a:p>
        </p:txBody>
      </p:sp>
      <p:sp>
        <p:nvSpPr>
          <p:cNvPr id="8" name="header-0">
            <a:extLst xmlns:a="http://schemas.openxmlformats.org/drawingml/2006/main">
              <a:ext uri="{FF2B5EF4-FFF2-40B4-BE49-F238E27FC236}">
                <a16:creationId xmlns:a16="http://schemas.microsoft.com/office/drawing/2014/main" id="{4EBEAF57-72CA-418A-B5F4-D868A193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Device</a:t>
            </a:r>
          </a:p>
        </p:txBody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43CC9A28-1561-4423-89FA-9CA12850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573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Cold-Start Input</a:t>
            </a:r>
          </a:p>
        </p:txBody>
      </p:sp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25FD4427-8F28-4B03-9E3A-CE8CF121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Regulated Outputs</a:t>
            </a:r>
          </a:p>
        </p:txBody>
      </p:sp>
      <p:sp>
        <p:nvSpPr>
          <p:cNvPr id="11" name="header-3">
            <a:extLst xmlns:a="http://schemas.openxmlformats.org/drawingml/2006/main">
              <a:ext uri="{FF2B5EF4-FFF2-40B4-BE49-F238E27FC236}">
                <a16:creationId xmlns:a16="http://schemas.microsoft.com/office/drawing/2014/main" id="{2D850272-D2C4-4059-A6DD-50451B91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573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Efficiency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89176BE4-6B55-45C5-8A24-C702427D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e-peas DS-AEM30940</a:t>
            </a:r>
          </a:p>
        </p:txBody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51B3C6B8-BA2A-4B0E-9C54-D84183B6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2098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380 mV at 3 µW</a:t>
            </a:r>
          </a:p>
        </p:txBody>
      </p:sp>
      <p:sp>
        <p:nvSpPr>
          <p:cNvPr id="14" name="cell-0-2">
            <a:extLst xmlns:a="http://schemas.openxmlformats.org/drawingml/2006/main">
              <a:ext uri="{FF2B5EF4-FFF2-40B4-BE49-F238E27FC236}">
                <a16:creationId xmlns:a16="http://schemas.microsoft.com/office/drawing/2014/main" id="{9E4B00AB-ADAE-403B-9461-10E10644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098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1.2/1.8 V LV LDO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1.8-4.1 V HV LDO</a:t>
            </a:r>
          </a:p>
        </p:txBody>
      </p:sp>
      <p:sp>
        <p:nvSpPr>
          <p:cNvPr id="15" name="cell-0-3">
            <a:extLst xmlns:a="http://schemas.openxmlformats.org/drawingml/2006/main">
              <a:ext uri="{FF2B5EF4-FFF2-40B4-BE49-F238E27FC236}">
                <a16:creationId xmlns:a16="http://schemas.microsoft.com/office/drawing/2014/main" id="{41F7BCF3-B18C-4008-A6A1-40A09EE4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80-90%</a:t>
            </a:r>
          </a:p>
        </p:txBody>
      </p:sp>
      <p:sp>
        <p:nvSpPr>
          <p:cNvPr id="16" name="cell-1-0">
            <a:extLst xmlns:a="http://schemas.openxmlformats.org/drawingml/2006/main">
              <a:ext uri="{FF2B5EF4-FFF2-40B4-BE49-F238E27FC236}">
                <a16:creationId xmlns:a16="http://schemas.microsoft.com/office/drawing/2014/main" id="{786CC20C-C68E-43AB-ADE8-EA46A028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Texas Instruments BQ25505</a:t>
            </a:r>
          </a:p>
        </p:txBody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B17CE866-3D8C-4455-ADE1-E5AFD3B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622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≥ 600 mV</a:t>
            </a:r>
          </a:p>
        </p:txBody>
      </p:sp>
      <p:sp>
        <p:nvSpPr>
          <p:cNvPr id="18" name="cell-1-2">
            <a:extLst xmlns:a="http://schemas.openxmlformats.org/drawingml/2006/main">
              <a:ext uri="{FF2B5EF4-FFF2-40B4-BE49-F238E27FC236}">
                <a16:creationId xmlns:a16="http://schemas.microsoft.com/office/drawing/2014/main" id="{83B5F108-04E8-48C2-80B8-729237BD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622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2.0-5.5 V battery output</a:t>
            </a:r>
          </a:p>
        </p:txBody>
      </p:sp>
      <p:sp>
        <p:nvSpPr>
          <p:cNvPr id="19" name="cell-1-3">
            <a:extLst xmlns:a="http://schemas.openxmlformats.org/drawingml/2006/main">
              <a:ext uri="{FF2B5EF4-FFF2-40B4-BE49-F238E27FC236}">
                <a16:creationId xmlns:a16="http://schemas.microsoft.com/office/drawing/2014/main" id="{12D4EC5E-EEE8-4911-BA45-7E519F0C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80-90%</a:t>
            </a:r>
          </a:p>
        </p:txBody>
      </p:sp>
      <p:sp>
        <p:nvSpPr>
          <p:cNvPr id="20" name="cell-2-0">
            <a:extLst xmlns:a="http://schemas.openxmlformats.org/drawingml/2006/main">
              <a:ext uri="{FF2B5EF4-FFF2-40B4-BE49-F238E27FC236}">
                <a16:creationId xmlns:a16="http://schemas.microsoft.com/office/drawing/2014/main" id="{7725775B-9DF6-4952-ABE1-FE849FD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11111"/>
                </a:solidFill>
              </a:defRPr>
            </a:pPr>
            <a:r>
              <a:rPr sz="975" b="0">
                <a:solidFill>
                  <a:srgbClr val="111111"/>
                </a:solidFill>
              </a:rPr>
              <a:t>Linear Technology LTC3108-1</a:t>
            </a:r>
          </a:p>
        </p:txBody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1479EE3A-A91C-4434-8A38-BFAFC7F8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3147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20 mV</a:t>
            </a:r>
          </a:p>
        </p:txBody>
      </p:sp>
      <p:sp>
        <p:nvSpPr>
          <p:cNvPr id="22" name="cell-2-2">
            <a:extLst xmlns:a="http://schemas.openxmlformats.org/drawingml/2006/main">
              <a:ext uri="{FF2B5EF4-FFF2-40B4-BE49-F238E27FC236}">
                <a16:creationId xmlns:a16="http://schemas.microsoft.com/office/drawing/2014/main" id="{BA463A77-3BB2-44B9-876D-308954A9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2.5/3.0/3.7/4.5 V VOUT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2.2 V LDO</a:t>
            </a:r>
          </a:p>
        </p:txBody>
      </p:sp>
      <p:sp>
        <p:nvSpPr>
          <p:cNvPr id="23" name="cell-2-3">
            <a:extLst xmlns:a="http://schemas.openxmlformats.org/drawingml/2006/main">
              <a:ext uri="{FF2B5EF4-FFF2-40B4-BE49-F238E27FC236}">
                <a16:creationId xmlns:a16="http://schemas.microsoft.com/office/drawing/2014/main" id="{2B2D8C06-1A69-4553-BAC9-2AAEE7EF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470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30%</a:t>
            </a:r>
          </a:p>
        </p:txBody>
      </p:sp>
      <p:sp>
        <p:nvSpPr>
          <p:cNvPr id="24" name="key-label">
            <a:extLst xmlns:a="http://schemas.openxmlformats.org/drawingml/2006/main">
              <a:ext uri="{FF2B5EF4-FFF2-40B4-BE49-F238E27FC236}">
                <a16:creationId xmlns:a16="http://schemas.microsoft.com/office/drawing/2014/main" id="{490C314E-EEA6-4720-93D0-FDFF601E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Key integration advantage</a:t>
            </a:r>
          </a:p>
        </p:txBody>
      </p:sp>
      <p:sp>
        <p:nvSpPr>
          <p:cNvPr id="25" name="key-value">
            <a:extLst xmlns:a="http://schemas.openxmlformats.org/drawingml/2006/main">
              <a:ext uri="{FF2B5EF4-FFF2-40B4-BE49-F238E27FC236}">
                <a16:creationId xmlns:a16="http://schemas.microsoft.com/office/drawing/2014/main" id="{A536673F-D668-4A04-AB23-3CFB07FE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2100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5597"/>
                </a:solidFill>
              </a:defRPr>
            </a:pPr>
            <a:r>
              <a:rPr sz="1650" b="1">
                <a:solidFill>
                  <a:srgbClr val="2F5597"/>
                </a:solidFill>
              </a:rPr>
              <a:t>Dual regulated LDO outputs</a:t>
            </a:r>
          </a:p>
        </p:txBody>
      </p:sp>
      <p:sp>
        <p:nvSpPr>
          <p:cNvPr id="26" name="efficiency-note">
            <a:extLst xmlns:a="http://schemas.openxmlformats.org/drawingml/2006/main">
              <a:ext uri="{FF2B5EF4-FFF2-40B4-BE49-F238E27FC236}">
                <a16:creationId xmlns:a16="http://schemas.microsoft.com/office/drawing/2014/main" id="{455247A4-561A-4AAA-AE04-3C5FB08B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55555"/>
                </a:solidFill>
              </a:defRPr>
            </a:pPr>
            <a:r>
              <a:rPr sz="1050">
                <a:solidFill>
                  <a:srgbClr val="555555"/>
                </a:solidFill>
              </a:rPr>
              <a:t>The selected AEM30940 combines 80-90% reported efficiency with separate low- and high-voltage rails.</a:t>
            </a:r>
          </a:p>
        </p:txBody>
      </p:sp>
      <p:graphicFrame>
        <p:nvGraphicFramePr>
          <p:cNvPr id="58" name="Chart"/>
          <p:cNvGraphicFramePr/>
          <p:nvPr/>
        </p:nvGraphicFramePr>
        <p:xfrm>
          <a:off xmlns:a="http://schemas.openxmlformats.org/drawingml/2006/main" x="7858125" y="914400"/>
          <a:ext xmlns:a="http://schemas.openxmlformats.org/drawingml/2006/main" cx="3857625" cy="2524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310ecb020d4dba"/>
          </a:graphicData>
        </a:graphic>
      </p:graphicFrame>
      <p:sp>
        <p:nvSpPr>
          <p:cNvPr id="28" name="chart-note">
            <a:extLst xmlns:a="http://schemas.openxmlformats.org/drawingml/2006/main">
              <a:ext uri="{FF2B5EF4-FFF2-40B4-BE49-F238E27FC236}">
                <a16:creationId xmlns:a16="http://schemas.microsoft.com/office/drawing/2014/main" id="{E98D2B63-F14C-4F7C-A6A3-9B9A0B92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66666"/>
                </a:solidFill>
              </a:defRPr>
            </a:pPr>
            <a:r>
              <a:rPr sz="900">
                <a:solidFill>
                  <a:srgbClr val="666666"/>
                </a:solidFill>
              </a:rPr>
              <a:t>80-90% ranges plotted at their midpoint.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bfc4edadb4c39"/>
          <a:stretch xmlns:a="http://schemas.openxmlformats.org/drawingml/2006/main"/>
        </p:blipFill>
        <p:spPr>
          <a:xfrm xmlns:a="http://schemas.openxmlformats.org/drawingml/2006/main">
            <a:off x="8805198" y="3638550"/>
            <a:ext cx="1772979" cy="1657350"/>
          </a:xfrm>
          <a:prstGeom xmlns:a="http://schemas.openxmlformats.org/drawingml/2006/main" prst="rect">
            <a:avLst/>
          </a:prstGeom>
        </p:spPr>
      </p:pic>
      <p:sp>
        <p:nvSpPr>
          <p:cNvPr id="30" name="aem30940-caption">
            <a:extLst xmlns:a="http://schemas.openxmlformats.org/drawingml/2006/main">
              <a:ext uri="{FF2B5EF4-FFF2-40B4-BE49-F238E27FC236}">
                <a16:creationId xmlns:a16="http://schemas.microsoft.com/office/drawing/2014/main" id="{E8D129EB-8802-47FD-A971-C04589FB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76850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555555"/>
                </a:solidFill>
              </a:defRPr>
            </a:pPr>
            <a:r>
              <a:rPr sz="975">
                <a:solidFill>
                  <a:srgbClr val="555555"/>
                </a:solidFill>
              </a:rPr>
              <a:t>e-peas AEM30940</a:t>
            </a:r>
          </a:p>
        </p:txBody>
      </p:sp>
      <p:sp>
        <p:nvSpPr>
          <p:cNvPr id="31" name="selected-module">
            <a:extLst xmlns:a="http://schemas.openxmlformats.org/drawingml/2006/main">
              <a:ext uri="{FF2B5EF4-FFF2-40B4-BE49-F238E27FC236}">
                <a16:creationId xmlns:a16="http://schemas.microsoft.com/office/drawing/2014/main" id="{7004E950-6557-4D1E-AE49-B1B96FA5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76875"/>
            <a:ext cx="4762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C9C9C9"/>
          </a:solidFill>
          <a:ln xmlns:a="http://schemas.openxmlformats.org/drawingml/2006/main" w="11430">
            <a:solidFill>
              <a:srgbClr val="33333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Selected PMIC: DS-AEM30940</a:t>
            </a:r>
          </a:p>
        </p:txBody>
      </p:sp>
    </p:spTree>
    <p:extLst>
      <p:ext uri="{BB962C8B-B14F-4D97-AF65-F5344CB8AC3E}">
        <p14:creationId xmlns:p14="http://schemas.microsoft.com/office/powerpoint/2010/main" val="17923378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2026-07-21T14:34:39.9000000Z</dcterms:created>
  <dcterms:modified xsi:type="dcterms:W3CDTF">2026-07-21T14:34:39.9000000Z</dcterms:modified>
</coreProperties>
</file>