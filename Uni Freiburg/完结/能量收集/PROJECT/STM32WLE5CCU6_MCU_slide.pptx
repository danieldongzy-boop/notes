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2efc73ddf94744" /><Relationship Type="http://schemas.openxmlformats.org/officeDocument/2006/relationships/extended-properties" Target="/docProps/app.xml" Id="Ra8ae57b8343e4cf4" /><Relationship Type="http://schemas.openxmlformats.org/officeDocument/2006/relationships/officeDocument" Target="/ppt/presentation.xml" Id="R2a7a3e7367984f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dd16e1f0944322"/>
  </p:sldMasterIdLst>
  <p:notesMasterIdLst>
    <p:notesMasterId xmlns:r="http://schemas.openxmlformats.org/officeDocument/2006/relationships" r:id="R85029778548c4add"/>
  </p:notesMasterIdLst>
  <p:sldIdLst>
    <p:sldId xmlns:r="http://schemas.openxmlformats.org/officeDocument/2006/relationships" id="256" r:id="R6f81609fb4d34c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589c0781a74cc0" /><Relationship Type="http://schemas.openxmlformats.org/officeDocument/2006/relationships/slideMaster" Target="/ppt/slideMasters/slideMaster1.xml" Id="R81dd16e1f0944322" /><Relationship Type="http://schemas.openxmlformats.org/officeDocument/2006/relationships/notesMaster" Target="/ppt/notesMasters/notesMaster1.xml" Id="R85029778548c4add" /><Relationship Type="http://schemas.openxmlformats.org/officeDocument/2006/relationships/presProps" Target="/ppt/presProps.xml" Id="Rda56e6d5446b4b86" /><Relationship Type="http://schemas.openxmlformats.org/officeDocument/2006/relationships/tableStyles" Target="/ppt/tableStyles.xml" Id="R0b21e7960b2845fc" /><Relationship Type="http://schemas.openxmlformats.org/officeDocument/2006/relationships/slide" Target="/ppt/slides/slide1.xml" Id="R6f81609fb4d34c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817fb52dd645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01bb8129424a9b" /><Relationship Type="http://schemas.openxmlformats.org/officeDocument/2006/relationships/notesMaster" Target="/ppt/notesMasters/notesMaster1.xml" Id="Re3d44826ec304d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328837a3845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7551d4d70640d2" /><Relationship Type="http://schemas.openxmlformats.org/officeDocument/2006/relationships/slideLayout" Target="/ppt/slideLayouts/slideLayout1.xml" Id="R720e2e365b8f46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0e2e365b8f46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3310606294636" /><Relationship Type="http://schemas.openxmlformats.org/officeDocument/2006/relationships/chart" Target="/ppt/slides/charts/chart1.xml" Id="R2d061a57286844d6" /><Relationship Type="http://schemas.openxmlformats.org/officeDocument/2006/relationships/image" Target="/ppt/media/image.jpeg" Id="R0c47f8254816485a" /><Relationship Type="http://schemas.openxmlformats.org/officeDocument/2006/relationships/notesSlide" Target="/ppt/notesSlides/notesSlide1.xml" Id="R023dd9d814f54dc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Active Power (mW)</a:t>
            </a:r>
          </a:p>
        </c:rich>
      </c:tx>
    </c:title>
    <c:plotArea>
      <c:barChart>
        <c:barDir val="col"/>
        <c:varyColors val="0"/>
        <c:ser>
          <c:idx val="0"/>
          <c:order val="0"/>
          <c:tx>
            <c:v>Power</c:v>
          </c:tx>
          <c:spPr>
            <a:solidFill xmlns:a="http://schemas.openxmlformats.org/drawingml/2006/main">
              <a:srgbClr val="4472C4"/>
            </a:solidFill>
          </c:spPr>
          <c:cat>
            <c:strLit>
              <c:ptCount val="4"/>
              <c:pt idx="0">
                <c:v>LP Run</c:v>
              </c:pt>
              <c:pt idx="1">
                <c:v>48 MHz</c:v>
              </c:pt>
              <c:pt idx="2">
                <c:v>LoRa RX</c:v>
              </c:pt>
              <c:pt idx="3">
                <c:v>LoRa TX</c:v>
              </c:pt>
            </c:strLit>
          </c:cat>
          <c:val>
            <c:numLit>
              <c:formatCode>General</c:formatCode>
              <c:ptCount val="4"/>
              <c:pt idx="0">
                <c:v>0.66</c:v>
              </c:pt>
              <c:pt idx="1">
                <c:v>10.35</c:v>
              </c:pt>
              <c:pt idx="2">
                <c:v>14.46</c:v>
              </c:pt>
              <c:pt idx="3">
                <c:v>85.8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Operating mode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Power (mW)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left-rail">
            <a:extLst xmlns:a="http://schemas.openxmlformats.org/drawingml/2006/main">
              <a:ext uri="{FF2B5EF4-FFF2-40B4-BE49-F238E27FC236}">
                <a16:creationId xmlns:a16="http://schemas.microsoft.com/office/drawing/2014/main" id="{A4F221DE-1FB6-41DD-B00A-D0CE5C59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ule">
            <a:extLst xmlns:a="http://schemas.openxmlformats.org/drawingml/2006/main">
              <a:ext uri="{FF2B5EF4-FFF2-40B4-BE49-F238E27FC236}">
                <a16:creationId xmlns:a16="http://schemas.microsoft.com/office/drawing/2014/main" id="{4E6DE3C0-223B-42E6-83D1-0D3C5722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0" cy="509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7EB3BA0-B9E5-4C97-B301-BEF9D8A0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48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A42A5F-E291-46D7-9033-99461DA0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 i="1">
                <a:solidFill>
                  <a:srgbClr val="111111"/>
                </a:solidFill>
              </a:defRPr>
            </a:pPr>
            <a:r>
              <a:rPr sz="2175" b="1" i="1">
                <a:solidFill>
                  <a:srgbClr val="111111"/>
                </a:solidFill>
              </a:rPr>
              <a:t>Microcontroller and LoRa SoC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06A671EC-D651-40F7-9BAD-0287AF56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B5B"/>
            </a:solidFill>
            <a:prstDash val="solid"/>
          </a:ln>
        </p:spPr>
      </p:sp>
      <p:sp>
        <p:nvSpPr>
          <p:cNvPr id="6" name="component-heading">
            <a:extLst xmlns:a="http://schemas.openxmlformats.org/drawingml/2006/main">
              <a:ext uri="{FF2B5EF4-FFF2-40B4-BE49-F238E27FC236}">
                <a16:creationId xmlns:a16="http://schemas.microsoft.com/office/drawing/2014/main" id="{DD56D177-FF81-4ADF-B5D4-22C332DC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58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➢  STMicroelectronics STM32WLE5CCU6</a:t>
            </a:r>
          </a:p>
        </p:txBody>
      </p:sp>
      <p:sp>
        <p:nvSpPr>
          <p:cNvPr id="7" name="summary">
            <a:extLst xmlns:a="http://schemas.openxmlformats.org/drawingml/2006/main">
              <a:ext uri="{FF2B5EF4-FFF2-40B4-BE49-F238E27FC236}">
                <a16:creationId xmlns:a16="http://schemas.microsoft.com/office/drawing/2014/main" id="{109B0374-6751-4569-8821-E54BD85E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00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48 MHz Arm Cortex-M4  |  Integrated sub-GHz LoRa  |  UFQFPN48: 7 × 7 × 0.6 mm</a:t>
            </a:r>
          </a:p>
        </p:txBody>
      </p:sp>
      <p:sp>
        <p:nvSpPr>
          <p:cNvPr id="8" name="header-0">
            <a:extLst xmlns:a="http://schemas.openxmlformats.org/drawingml/2006/main">
              <a:ext uri="{FF2B5EF4-FFF2-40B4-BE49-F238E27FC236}">
                <a16:creationId xmlns:a16="http://schemas.microsoft.com/office/drawing/2014/main" id="{481665D0-E8AD-4E7C-9A63-C6200E27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Operating Mode</a:t>
            </a:r>
          </a:p>
        </p:txBody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66BE85E2-D78F-4B69-BAB7-33EC549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573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Typical Current</a:t>
            </a:r>
          </a:p>
        </p:txBody>
      </p:sp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FCA41EC2-DF92-4254-8D69-F5110FC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57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Approx. Power</a:t>
            </a:r>
          </a:p>
        </p:txBody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E57E1D65-91C0-4219-B218-887F2EAC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Stop 2 with RTC</a:t>
            </a:r>
          </a:p>
        </p:txBody>
      </p:sp>
      <p:sp>
        <p:nvSpPr>
          <p:cNvPr id="12" name="cell-0-1">
            <a:extLst xmlns:a="http://schemas.openxmlformats.org/drawingml/2006/main">
              <a:ext uri="{FF2B5EF4-FFF2-40B4-BE49-F238E27FC236}">
                <a16:creationId xmlns:a16="http://schemas.microsoft.com/office/drawing/2014/main" id="{03778BC9-C7FC-4315-A453-A298B8FF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574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1.07 µA @ 3.0 V</a:t>
            </a:r>
          </a:p>
        </p:txBody>
      </p:sp>
      <p:sp>
        <p:nvSpPr>
          <p:cNvPr id="13" name="cell-0-2">
            <a:extLst xmlns:a="http://schemas.openxmlformats.org/drawingml/2006/main">
              <a:ext uri="{FF2B5EF4-FFF2-40B4-BE49-F238E27FC236}">
                <a16:creationId xmlns:a16="http://schemas.microsoft.com/office/drawing/2014/main" id="{AED06BDB-D799-48BD-8A44-AECFFD72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574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3.21 µW</a:t>
            </a:r>
          </a:p>
        </p:txBody>
      </p:sp>
      <p:sp>
        <p:nvSpPr>
          <p:cNvPr id="14" name="cell-1-0">
            <a:extLst xmlns:a="http://schemas.openxmlformats.org/drawingml/2006/main">
              <a:ext uri="{FF2B5EF4-FFF2-40B4-BE49-F238E27FC236}">
                <a16:creationId xmlns:a16="http://schemas.microsoft.com/office/drawing/2014/main" id="{FA2A2792-B309-4712-B167-0A91B01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Low-Power Run @ 2 MHz</a:t>
            </a:r>
          </a:p>
        </p:txBody>
      </p:sp>
      <p:sp>
        <p:nvSpPr>
          <p:cNvPr id="15" name="cell-1-1">
            <a:extLst xmlns:a="http://schemas.openxmlformats.org/drawingml/2006/main">
              <a:ext uri="{FF2B5EF4-FFF2-40B4-BE49-F238E27FC236}">
                <a16:creationId xmlns:a16="http://schemas.microsoft.com/office/drawing/2014/main" id="{FA8F58EC-C155-4438-8CEB-59E114AD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574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220 µA @ 3.0 V</a:t>
            </a:r>
          </a:p>
        </p:txBody>
      </p:sp>
      <p:sp>
        <p:nvSpPr>
          <p:cNvPr id="16" name="cell-1-2">
            <a:extLst xmlns:a="http://schemas.openxmlformats.org/drawingml/2006/main">
              <a:ext uri="{FF2B5EF4-FFF2-40B4-BE49-F238E27FC236}">
                <a16:creationId xmlns:a16="http://schemas.microsoft.com/office/drawing/2014/main" id="{59FC2428-7C27-4F0E-8DDB-CDFDE95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0.66 mW</a:t>
            </a:r>
          </a:p>
        </p:txBody>
      </p:sp>
      <p:sp>
        <p:nvSpPr>
          <p:cNvPr id="17" name="cell-2-0">
            <a:extLst xmlns:a="http://schemas.openxmlformats.org/drawingml/2006/main">
              <a:ext uri="{FF2B5EF4-FFF2-40B4-BE49-F238E27FC236}">
                <a16:creationId xmlns:a16="http://schemas.microsoft.com/office/drawing/2014/main" id="{4A0990EF-25AE-4D6B-B42F-5909DF0F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Run @ 48 MHz (SMPS)</a:t>
            </a:r>
          </a:p>
        </p:txBody>
      </p:sp>
      <p:sp>
        <p:nvSpPr>
          <p:cNvPr id="18" name="cell-2-1">
            <a:extLst xmlns:a="http://schemas.openxmlformats.org/drawingml/2006/main">
              <a:ext uri="{FF2B5EF4-FFF2-40B4-BE49-F238E27FC236}">
                <a16:creationId xmlns:a16="http://schemas.microsoft.com/office/drawing/2014/main" id="{EE40FFE3-2CFD-4807-9FE4-41D25769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575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3.45 mA @ 3.0 V</a:t>
            </a:r>
          </a:p>
        </p:txBody>
      </p:sp>
      <p:sp>
        <p:nvSpPr>
          <p:cNvPr id="19" name="cell-2-2">
            <a:extLst xmlns:a="http://schemas.openxmlformats.org/drawingml/2006/main">
              <a:ext uri="{FF2B5EF4-FFF2-40B4-BE49-F238E27FC236}">
                <a16:creationId xmlns:a16="http://schemas.microsoft.com/office/drawing/2014/main" id="{A9CFD00E-D08F-4AA6-9F12-8BA02BD3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10.35 mW</a:t>
            </a:r>
          </a:p>
        </p:txBody>
      </p:sp>
      <p:sp>
        <p:nvSpPr>
          <p:cNvPr id="20" name="cell-3-0">
            <a:extLst xmlns:a="http://schemas.openxmlformats.org/drawingml/2006/main">
              <a:ext uri="{FF2B5EF4-FFF2-40B4-BE49-F238E27FC236}">
                <a16:creationId xmlns:a16="http://schemas.microsoft.com/office/drawing/2014/main" id="{B0C93B70-C6D3-4399-A882-7B4CA4B8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LoRa Receive</a:t>
            </a:r>
          </a:p>
        </p:txBody>
      </p:sp>
      <p:sp>
        <p:nvSpPr>
          <p:cNvPr id="21" name="cell-3-1">
            <a:extLst xmlns:a="http://schemas.openxmlformats.org/drawingml/2006/main">
              <a:ext uri="{FF2B5EF4-FFF2-40B4-BE49-F238E27FC236}">
                <a16:creationId xmlns:a16="http://schemas.microsoft.com/office/drawing/2014/main" id="{A1127B14-0D53-4AB5-BD19-DE6AD8D3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575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4.82 mA @ 3.0 V</a:t>
            </a:r>
          </a:p>
        </p:txBody>
      </p:sp>
      <p:sp>
        <p:nvSpPr>
          <p:cNvPr id="22" name="cell-3-2">
            <a:extLst xmlns:a="http://schemas.openxmlformats.org/drawingml/2006/main">
              <a:ext uri="{FF2B5EF4-FFF2-40B4-BE49-F238E27FC236}">
                <a16:creationId xmlns:a16="http://schemas.microsoft.com/office/drawing/2014/main" id="{4C0BB46C-E1F1-4A5E-B7C8-00B277C4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14.46 mW</a:t>
            </a:r>
          </a:p>
        </p:txBody>
      </p:sp>
      <p:sp>
        <p:nvSpPr>
          <p:cNvPr id="23" name="cell-4-0">
            <a:extLst xmlns:a="http://schemas.openxmlformats.org/drawingml/2006/main">
              <a:ext uri="{FF2B5EF4-FFF2-40B4-BE49-F238E27FC236}">
                <a16:creationId xmlns:a16="http://schemas.microsoft.com/office/drawing/2014/main" id="{49060F80-19FF-45BE-B55B-256A39CD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LoRa TX @ +14 dBm</a:t>
            </a:r>
          </a:p>
        </p:txBody>
      </p:sp>
      <p:sp>
        <p:nvSpPr>
          <p:cNvPr id="24" name="cell-4-1">
            <a:extLst xmlns:a="http://schemas.openxmlformats.org/drawingml/2006/main">
              <a:ext uri="{FF2B5EF4-FFF2-40B4-BE49-F238E27FC236}">
                <a16:creationId xmlns:a16="http://schemas.microsoft.com/office/drawing/2014/main" id="{F4D99C00-E6C8-40E5-8AA0-3C366409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576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26 mA @ 3.3 V</a:t>
            </a:r>
          </a:p>
        </p:txBody>
      </p:sp>
      <p:sp>
        <p:nvSpPr>
          <p:cNvPr id="25" name="cell-4-2">
            <a:extLst xmlns:a="http://schemas.openxmlformats.org/drawingml/2006/main">
              <a:ext uri="{FF2B5EF4-FFF2-40B4-BE49-F238E27FC236}">
                <a16:creationId xmlns:a16="http://schemas.microsoft.com/office/drawing/2014/main" id="{BF6F9E46-3657-4786-9E62-10B00D72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576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85.8 mW</a:t>
            </a:r>
          </a:p>
        </p:txBody>
      </p:sp>
      <p:sp>
        <p:nvSpPr>
          <p:cNvPr id="26" name="energy-callout-label">
            <a:extLst xmlns:a="http://schemas.openxmlformats.org/drawingml/2006/main">
              <a:ext uri="{FF2B5EF4-FFF2-40B4-BE49-F238E27FC236}">
                <a16:creationId xmlns:a16="http://schemas.microsoft.com/office/drawing/2014/main" id="{63C2979A-9BC0-44F6-B05B-E73BD33D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MCU energy per 1-minute cycle</a:t>
            </a:r>
          </a:p>
        </p:txBody>
      </p:sp>
      <p:sp>
        <p:nvSpPr>
          <p:cNvPr id="27" name="energy-callout-value">
            <a:extLst xmlns:a="http://schemas.openxmlformats.org/drawingml/2006/main">
              <a:ext uri="{FF2B5EF4-FFF2-40B4-BE49-F238E27FC236}">
                <a16:creationId xmlns:a16="http://schemas.microsoft.com/office/drawing/2014/main" id="{84F13BC0-663E-472D-B3A4-046CA46A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100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≈ 0.71 mJ/min</a:t>
            </a:r>
          </a:p>
        </p:txBody>
      </p:sp>
      <p:sp>
        <p:nvSpPr>
          <p:cNvPr id="28" name="cycle-assumption">
            <a:extLst xmlns:a="http://schemas.openxmlformats.org/drawingml/2006/main">
              <a:ext uri="{FF2B5EF4-FFF2-40B4-BE49-F238E27FC236}">
                <a16:creationId xmlns:a16="http://schemas.microsoft.com/office/drawing/2014/main" id="{C3C3C283-A236-4580-B1CB-E7E08CAB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Assumption: 50 ms at 48 MHz; remaining 59.95 s in Stop 2 with RTC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7858125" y="914400"/>
          <a:ext xmlns:a="http://schemas.openxmlformats.org/drawingml/2006/main" cx="3857625" cy="2524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061a57286844d6"/>
          </a:graphicData>
        </a:graphic>
      </p:graphicFrame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7f8254816485a"/>
          <a:stretch xmlns:a="http://schemas.openxmlformats.org/drawingml/2006/main"/>
        </p:blipFill>
        <p:spPr>
          <a:xfrm xmlns:a="http://schemas.openxmlformats.org/drawingml/2006/main">
            <a:off x="8739188" y="352425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1" name="package-caption">
            <a:extLst xmlns:a="http://schemas.openxmlformats.org/drawingml/2006/main">
              <a:ext uri="{FF2B5EF4-FFF2-40B4-BE49-F238E27FC236}">
                <a16:creationId xmlns:a16="http://schemas.microsoft.com/office/drawing/2014/main" id="{D4702E51-A4A3-462E-9BA6-72B951FB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91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UFQFPN48 package</a:t>
            </a:r>
          </a:p>
        </p:txBody>
      </p:sp>
      <p:sp>
        <p:nvSpPr>
          <p:cNvPr id="32" name="selected-module">
            <a:extLst xmlns:a="http://schemas.openxmlformats.org/drawingml/2006/main">
              <a:ext uri="{FF2B5EF4-FFF2-40B4-BE49-F238E27FC236}">
                <a16:creationId xmlns:a16="http://schemas.microsoft.com/office/drawing/2014/main" id="{455ED7AC-1C23-4EB1-AAC2-5A23FCC5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4762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9C9C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Selected SoC: STM32WLE5CCU6 — MCU + LoRa in one chip</a:t>
            </a:r>
          </a:p>
        </p:txBody>
      </p:sp>
    </p:spTree>
    <p:extLst>
      <p:ext uri="{BB962C8B-B14F-4D97-AF65-F5344CB8AC3E}">
        <p14:creationId xmlns:p14="http://schemas.microsoft.com/office/powerpoint/2010/main" val="845119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2026-07-19T09:25:04.4710000Z</dcterms:created>
  <dcterms:modified xsi:type="dcterms:W3CDTF">2026-07-19T09:25:04.4710000Z</dcterms:modified>
</coreProperties>
</file>