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53e0c69f014492" /><Relationship Type="http://schemas.openxmlformats.org/officeDocument/2006/relationships/extended-properties" Target="/docProps/app.xml" Id="R3bd59337057449ee" /><Relationship Type="http://schemas.openxmlformats.org/officeDocument/2006/relationships/officeDocument" Target="/ppt/presentation.xml" Id="Ra51566bb285641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4bc19cc0be49ce"/>
  </p:sldMasterIdLst>
  <p:notesMasterIdLst>
    <p:notesMasterId xmlns:r="http://schemas.openxmlformats.org/officeDocument/2006/relationships" r:id="Rcaaed030c76f4041"/>
  </p:notesMasterIdLst>
  <p:sldIdLst>
    <p:sldId xmlns:r="http://schemas.openxmlformats.org/officeDocument/2006/relationships" id="256" r:id="R056bc5b007e946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efd72ab6994e1a" /><Relationship Type="http://schemas.openxmlformats.org/officeDocument/2006/relationships/slideMaster" Target="/ppt/slideMasters/slideMaster1.xml" Id="R3b4bc19cc0be49ce" /><Relationship Type="http://schemas.openxmlformats.org/officeDocument/2006/relationships/notesMaster" Target="/ppt/notesMasters/notesMaster1.xml" Id="Rcaaed030c76f4041" /><Relationship Type="http://schemas.openxmlformats.org/officeDocument/2006/relationships/presProps" Target="/ppt/presProps.xml" Id="R02038dd70de94725" /><Relationship Type="http://schemas.openxmlformats.org/officeDocument/2006/relationships/tableStyles" Target="/ppt/tableStyles.xml" Id="Re7d14d18b3b7465f" /><Relationship Type="http://schemas.openxmlformats.org/officeDocument/2006/relationships/slide" Target="/ppt/slides/slide1.xml" Id="R056bc5b007e946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1c955750fb41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f9d5b346ee425a" /><Relationship Type="http://schemas.openxmlformats.org/officeDocument/2006/relationships/notesMaster" Target="/ppt/notesMasters/notesMaster1.xml" Id="Rd1b9374bfba542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f0af72cb044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1e9ef86ef94966" /><Relationship Type="http://schemas.openxmlformats.org/officeDocument/2006/relationships/slideLayout" Target="/ppt/slideLayouts/slideLayout1.xml" Id="R28002022f8f849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002022f8f849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432a74a014c5a" /><Relationship Type="http://schemas.openxmlformats.org/officeDocument/2006/relationships/notesSlide" Target="/ppt/notesSlides/notesSlide1.xml" Id="R006acfad08984c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left-rail">
            <a:extLst xmlns:a="http://schemas.openxmlformats.org/drawingml/2006/main">
              <a:ext uri="{FF2B5EF4-FFF2-40B4-BE49-F238E27FC236}">
                <a16:creationId xmlns:a16="http://schemas.microsoft.com/office/drawing/2014/main" id="{5EEF15B7-B701-43DC-B34E-8940D7F1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ft-rule">
            <a:extLst xmlns:a="http://schemas.openxmlformats.org/drawingml/2006/main">
              <a:ext uri="{FF2B5EF4-FFF2-40B4-BE49-F238E27FC236}">
                <a16:creationId xmlns:a16="http://schemas.microsoft.com/office/drawing/2014/main" id="{51398EDA-C024-4E4B-B4D1-EBC58236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42875"/>
            <a:ext cx="0" cy="509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51B8A2A-A3DD-49CC-91E6-0008C82B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4484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CC6436-A006-46F0-BEB9-D8828EE0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 i="1">
                <a:solidFill>
                  <a:srgbClr val="111111"/>
                </a:solidFill>
              </a:defRPr>
            </a:pPr>
            <a:r>
              <a:rPr sz="2175" b="1" i="1">
                <a:solidFill>
                  <a:srgbClr val="111111"/>
                </a:solidFill>
              </a:rPr>
              <a:t>System Operation Flowchart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C54ABA2-7B3B-4616-B32B-C5A36400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B5B"/>
            </a:solidFill>
            <a:prstDash val="solid"/>
          </a:ln>
        </p:spPr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F5DCC56-7EEC-4982-968B-2F9E45F1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Power conversion path and 1-minute task schedule</a:t>
            </a:r>
          </a:p>
        </p:txBody>
      </p:sp>
      <p:sp>
        <p:nvSpPr>
          <p:cNvPr id="7" name="power-label">
            <a:extLst xmlns:a="http://schemas.openxmlformats.org/drawingml/2006/main">
              <a:ext uri="{FF2B5EF4-FFF2-40B4-BE49-F238E27FC236}">
                <a16:creationId xmlns:a16="http://schemas.microsoft.com/office/drawing/2014/main" id="{248B77C8-900E-460B-AF11-44E5B4BA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48235"/>
                </a:solidFill>
              </a:defRPr>
            </a:pPr>
            <a:r>
              <a:rPr sz="900" b="1">
                <a:solidFill>
                  <a:srgbClr val="548235"/>
                </a:solidFill>
              </a:rPr>
              <a:t>POWER PATH</a:t>
            </a:r>
          </a:p>
        </p:txBody>
      </p:sp>
      <p:sp>
        <p:nvSpPr>
          <p:cNvPr id="8" name="teg">
            <a:extLst xmlns:a="http://schemas.openxmlformats.org/drawingml/2006/main">
              <a:ext uri="{FF2B5EF4-FFF2-40B4-BE49-F238E27FC236}">
                <a16:creationId xmlns:a16="http://schemas.microsoft.com/office/drawing/2014/main" id="{3D7BAE2A-E9AC-4CEE-9ADE-BD682569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9526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5x TEG Array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1MD06-097-05</a:t>
            </a:r>
          </a:p>
        </p:txBody>
      </p:sp>
      <p:sp>
        <p:nvSpPr>
          <p:cNvPr id="9" name="boost">
            <a:extLst xmlns:a="http://schemas.openxmlformats.org/drawingml/2006/main">
              <a:ext uri="{FF2B5EF4-FFF2-40B4-BE49-F238E27FC236}">
                <a16:creationId xmlns:a16="http://schemas.microsoft.com/office/drawing/2014/main" id="{669CA94A-6728-44BE-B266-9F3914D6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504950"/>
            <a:ext cx="19526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Boost Converter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LTC3108-1</a:t>
            </a:r>
          </a:p>
        </p:txBody>
      </p:sp>
      <p:sp>
        <p:nvSpPr>
          <p:cNvPr id="10" name="storage">
            <a:extLst xmlns:a="http://schemas.openxmlformats.org/drawingml/2006/main">
              <a:ext uri="{FF2B5EF4-FFF2-40B4-BE49-F238E27FC236}">
                <a16:creationId xmlns:a16="http://schemas.microsoft.com/office/drawing/2014/main" id="{327D8951-82BB-4EA3-8230-934B61AD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04950"/>
            <a:ext cx="2095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Energy Storage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0.22 F Supercapacitor</a:t>
            </a:r>
          </a:p>
        </p:txBody>
      </p:sp>
      <p:sp>
        <p:nvSpPr>
          <p:cNvPr id="11" name="buck">
            <a:extLst xmlns:a="http://schemas.openxmlformats.org/drawingml/2006/main">
              <a:ext uri="{FF2B5EF4-FFF2-40B4-BE49-F238E27FC236}">
                <a16:creationId xmlns:a16="http://schemas.microsoft.com/office/drawing/2014/main" id="{0BD5573B-57A3-4D72-B9A4-B911CE38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04950"/>
            <a:ext cx="23336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14288">
            <a:solidFill>
              <a:srgbClr val="2F559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Buck Converter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Regulated System Supply</a:t>
            </a:r>
          </a:p>
        </p:txBody>
      </p: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95575" y="18478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219700" y="18478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86700" y="18478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5597"/>
            </a:solidFill>
            <a:prstDash val="solid"/>
            <a:tailEnd type="arrow" w="med" len="med"/>
          </a:ln>
        </p:spPr>
      </p:cxnSp>
      <p:sp>
        <p:nvSpPr>
          <p:cNvPr id="15" name="power-note">
            <a:extLst xmlns:a="http://schemas.openxmlformats.org/drawingml/2006/main">
              <a:ext uri="{FF2B5EF4-FFF2-40B4-BE49-F238E27FC236}">
                <a16:creationId xmlns:a16="http://schemas.microsoft.com/office/drawing/2014/main" id="{C6932753-5AE5-400A-9419-54FA28E9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i="1">
                <a:solidFill>
                  <a:srgbClr val="555555"/>
                </a:solidFill>
              </a:defRPr>
            </a:pPr>
            <a:r>
              <a:rPr sz="900" i="1">
                <a:solidFill>
                  <a:srgbClr val="555555"/>
                </a:solidFill>
              </a:rPr>
              <a:t>Boost charges the storage element; buck conversion supplies a stable rail to the loads below</a:t>
            </a:r>
          </a:p>
        </p:txBody>
      </p:sp>
      <p:sp>
        <p:nvSpPr>
          <p:cNvPr id="16" name="task-label">
            <a:extLst xmlns:a="http://schemas.openxmlformats.org/drawingml/2006/main">
              <a:ext uri="{FF2B5EF4-FFF2-40B4-BE49-F238E27FC236}">
                <a16:creationId xmlns:a16="http://schemas.microsoft.com/office/drawing/2014/main" id="{6CE75DD2-2A04-49B0-ADC2-4DEB9AF3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5597"/>
                </a:solidFill>
              </a:defRPr>
            </a:pPr>
            <a:r>
              <a:rPr sz="900" b="1">
                <a:solidFill>
                  <a:srgbClr val="2F5597"/>
                </a:solidFill>
              </a:rPr>
              <a:t>1-MINUTE TASK FLOW</a:t>
            </a:r>
          </a:p>
        </p:txBody>
      </p:sp>
      <p:sp>
        <p:nvSpPr>
          <p:cNvPr id="17" name="wake">
            <a:extLst xmlns:a="http://schemas.openxmlformats.org/drawingml/2006/main">
              <a:ext uri="{FF2B5EF4-FFF2-40B4-BE49-F238E27FC236}">
                <a16:creationId xmlns:a16="http://schemas.microsoft.com/office/drawing/2014/main" id="{FB160148-15EE-4EFF-B538-BCA72439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524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14288">
            <a:solidFill>
              <a:srgbClr val="2F559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RTC / MCU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Start Cycle</a:t>
            </a:r>
          </a:p>
        </p:txBody>
      </p:sp>
      <p:sp>
        <p:nvSpPr>
          <p:cNvPr id="18" name="activity">
            <a:extLst xmlns:a="http://schemas.openxmlformats.org/drawingml/2006/main">
              <a:ext uri="{FF2B5EF4-FFF2-40B4-BE49-F238E27FC236}">
                <a16:creationId xmlns:a16="http://schemas.microsoft.com/office/drawing/2014/main" id="{A61FFF88-8BF6-4F62-A0CD-32B1E071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24250"/>
            <a:ext cx="1524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4288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Read ADXL362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Activity</a:t>
            </a:r>
          </a:p>
        </p:txBody>
      </p:sp>
      <p:sp>
        <p:nvSpPr>
          <p:cNvPr id="19" name="gnss">
            <a:extLst xmlns:a="http://schemas.openxmlformats.org/drawingml/2006/main">
              <a:ext uri="{FF2B5EF4-FFF2-40B4-BE49-F238E27FC236}">
                <a16:creationId xmlns:a16="http://schemas.microsoft.com/office/drawing/2014/main" id="{550B6D1F-A067-4942-9506-9D7DE8D3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1524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4288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Acquire LC76G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GNSS Fix</a:t>
            </a:r>
          </a:p>
        </p:txBody>
      </p:sp>
      <p:sp>
        <p:nvSpPr>
          <p:cNvPr id="20" name="store">
            <a:extLst xmlns:a="http://schemas.openxmlformats.org/drawingml/2006/main">
              <a:ext uri="{FF2B5EF4-FFF2-40B4-BE49-F238E27FC236}">
                <a16:creationId xmlns:a16="http://schemas.microsoft.com/office/drawing/2014/main" id="{DA8E6042-D9CA-4C4E-8826-CFCEDC93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1524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14288">
            <a:solidFill>
              <a:srgbClr val="2F559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Process and Store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Activity + Position</a:t>
            </a:r>
          </a:p>
        </p:txBody>
      </p:sp>
      <p:sp>
        <p:nvSpPr>
          <p:cNvPr id="21" name="radio">
            <a:extLst xmlns:a="http://schemas.openxmlformats.org/drawingml/2006/main">
              <a:ext uri="{FF2B5EF4-FFF2-40B4-BE49-F238E27FC236}">
                <a16:creationId xmlns:a16="http://schemas.microsoft.com/office/drawing/2014/main" id="{E21988CA-86C2-4592-A7FC-34A918CF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1524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2F3"/>
          </a:solidFill>
          <a:ln xmlns:a="http://schemas.openxmlformats.org/drawingml/2006/main" w="14288">
            <a:solidFill>
              <a:srgbClr val="2F559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SX1261 LoRa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Transmission</a:t>
            </a:r>
          </a:p>
        </p:txBody>
      </p:sp>
      <p:sp>
        <p:nvSpPr>
          <p:cNvPr id="22" name="sleep">
            <a:extLst xmlns:a="http://schemas.openxmlformats.org/drawingml/2006/main">
              <a:ext uri="{FF2B5EF4-FFF2-40B4-BE49-F238E27FC236}">
                <a16:creationId xmlns:a16="http://schemas.microsoft.com/office/drawing/2014/main" id="{825347C2-556F-4558-B281-39EFD67B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24250"/>
            <a:ext cx="15240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E6E6"/>
          </a:solidFill>
          <a:ln xmlns:a="http://schemas.openxmlformats.org/drawingml/2006/main" w="14288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Return to Sleep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Next 60 s Cycle</a:t>
            </a:r>
          </a:p>
        </p:txBody>
      </p:sp>
      <p:cxnSp>
        <p:nvCxnSpPr>
          <p:cNvPr id="59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190750" y="3867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95750" y="3867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00750" y="3867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905750" y="3867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810750" y="3867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22" idx="2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H="1">
            <a:off x="1428750" y="4210050"/>
            <a:ext cx="952500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F7F7F"/>
            </a:solidFill>
            <a:prstDash val="dash"/>
            <a:tailEnd type="arrow" w="med" len="med"/>
          </a:ln>
        </p:spPr>
      </p:cxnSp>
      <p:sp>
        <p:nvSpPr>
          <p:cNvPr id="29" name="time-70">
            <a:extLst xmlns:a="http://schemas.openxmlformats.org/drawingml/2006/main">
              <a:ext uri="{FF2B5EF4-FFF2-40B4-BE49-F238E27FC236}">
                <a16:creationId xmlns:a16="http://schemas.microsoft.com/office/drawing/2014/main" id="{85581DF5-6602-4CD6-8BC1-3739D277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Cycle start</a:t>
            </a:r>
          </a:p>
        </p:txBody>
      </p:sp>
      <p:sp>
        <p:nvSpPr>
          <p:cNvPr id="30" name="time-270">
            <a:extLst xmlns:a="http://schemas.openxmlformats.org/drawingml/2006/main">
              <a:ext uri="{FF2B5EF4-FFF2-40B4-BE49-F238E27FC236}">
                <a16:creationId xmlns:a16="http://schemas.microsoft.com/office/drawing/2014/main" id="{CEEAD09A-CC20-422C-B88E-DF0D1213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0-0.04 s</a:t>
            </a:r>
          </a:p>
        </p:txBody>
      </p:sp>
      <p:sp>
        <p:nvSpPr>
          <p:cNvPr id="31" name="time-470">
            <a:extLst xmlns:a="http://schemas.openxmlformats.org/drawingml/2006/main">
              <a:ext uri="{FF2B5EF4-FFF2-40B4-BE49-F238E27FC236}">
                <a16:creationId xmlns:a16="http://schemas.microsoft.com/office/drawing/2014/main" id="{BC78BCF0-A02F-42AB-8720-CA1DB19B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30-45 s</a:t>
            </a:r>
          </a:p>
        </p:txBody>
      </p:sp>
      <p:sp>
        <p:nvSpPr>
          <p:cNvPr id="32" name="time-670">
            <a:extLst xmlns:a="http://schemas.openxmlformats.org/drawingml/2006/main">
              <a:ext uri="{FF2B5EF4-FFF2-40B4-BE49-F238E27FC236}">
                <a16:creationId xmlns:a16="http://schemas.microsoft.com/office/drawing/2014/main" id="{CEB0869F-8140-4B44-8FCE-E87156BB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After GNSS</a:t>
            </a:r>
          </a:p>
        </p:txBody>
      </p:sp>
      <p:sp>
        <p:nvSpPr>
          <p:cNvPr id="33" name="time-870">
            <a:extLst xmlns:a="http://schemas.openxmlformats.org/drawingml/2006/main">
              <a:ext uri="{FF2B5EF4-FFF2-40B4-BE49-F238E27FC236}">
                <a16:creationId xmlns:a16="http://schemas.microsoft.com/office/drawing/2014/main" id="{D358796B-DAD3-4D4B-9458-18034FB1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55 s / 75 ms</a:t>
            </a:r>
          </a:p>
        </p:txBody>
      </p:sp>
      <p:sp>
        <p:nvSpPr>
          <p:cNvPr id="34" name="time-1070">
            <a:extLst xmlns:a="http://schemas.openxmlformats.org/drawingml/2006/main">
              <a:ext uri="{FF2B5EF4-FFF2-40B4-BE49-F238E27FC236}">
                <a16:creationId xmlns:a16="http://schemas.microsoft.com/office/drawing/2014/main" id="{E64478CB-0BA0-4154-80BA-D87728AA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00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6666"/>
                </a:solidFill>
              </a:defRPr>
            </a:pPr>
            <a:r>
              <a:rPr sz="825" b="1">
                <a:solidFill>
                  <a:srgbClr val="666666"/>
                </a:solidFill>
              </a:rPr>
              <a:t>Until 60 s</a:t>
            </a:r>
          </a:p>
        </p:txBody>
      </p:sp>
      <p:sp>
        <p:nvSpPr>
          <p:cNvPr id="35" name="loop-note">
            <a:extLst xmlns:a="http://schemas.openxmlformats.org/drawingml/2006/main">
              <a:ext uri="{FF2B5EF4-FFF2-40B4-BE49-F238E27FC236}">
                <a16:creationId xmlns:a16="http://schemas.microsoft.com/office/drawing/2014/main" id="{541DB27E-E4B8-48E1-B9A8-FC319E6D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76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i="1">
                <a:solidFill>
                  <a:srgbClr val="666666"/>
                </a:solidFill>
              </a:defRPr>
            </a:pPr>
            <a:r>
              <a:rPr sz="900" i="1">
                <a:solidFill>
                  <a:srgbClr val="666666"/>
                </a:solidFill>
              </a:rPr>
              <a:t>Dashed arrow: RTC starts the next scheduled cycle</a:t>
            </a:r>
          </a:p>
        </p:txBody>
      </p:sp>
      <p:sp>
        <p:nvSpPr>
          <p:cNvPr id="36" name="summary-callout">
            <a:extLst xmlns:a="http://schemas.openxmlformats.org/drawingml/2006/main">
              <a:ext uri="{FF2B5EF4-FFF2-40B4-BE49-F238E27FC236}">
                <a16:creationId xmlns:a16="http://schemas.microsoft.com/office/drawing/2014/main" id="{1C0DBF29-03B2-402A-B71D-F1C32DC9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6477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1430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111"/>
                </a:solidFill>
              </a:defRPr>
            </a:pPr>
            <a:r>
              <a:rPr sz="1125">
                <a:solidFill>
                  <a:srgbClr val="111111"/>
                </a:solidFill>
              </a:rPr>
              <a:t>Energy is converted and buffered first; sensing, GNSS and LoRa tasks then run sequentially.</a:t>
            </a:r>
          </a:p>
        </p:txBody>
      </p:sp>
    </p:spTree>
    <p:extLst>
      <p:ext uri="{BB962C8B-B14F-4D97-AF65-F5344CB8AC3E}">
        <p14:creationId xmlns:p14="http://schemas.microsoft.com/office/powerpoint/2010/main" val="397769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2026-07-21T10:17:06.8380000Z</dcterms:created>
  <dcterms:modified xsi:type="dcterms:W3CDTF">2026-07-21T10:17:06.8380000Z</dcterms:modified>
</coreProperties>
</file>