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1ff31b3ea48ef" /><Relationship Type="http://schemas.openxmlformats.org/officeDocument/2006/relationships/extended-properties" Target="/docProps/app.xml" Id="R6c3d6ad414c441cb" /><Relationship Type="http://schemas.openxmlformats.org/officeDocument/2006/relationships/officeDocument" Target="/ppt/presentation.xml" Id="Rebb5aa29605c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190669309b4a62"/>
  </p:sldMasterIdLst>
  <p:notesMasterIdLst>
    <p:notesMasterId xmlns:r="http://schemas.openxmlformats.org/officeDocument/2006/relationships" r:id="Re124d731ca0f4bcd"/>
  </p:notesMasterIdLst>
  <p:sldIdLst>
    <p:sldId xmlns:r="http://schemas.openxmlformats.org/officeDocument/2006/relationships" id="256" r:id="Raaf517f6111942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8368afda854df5" /><Relationship Type="http://schemas.openxmlformats.org/officeDocument/2006/relationships/slideMaster" Target="/ppt/slideMasters/slideMaster1.xml" Id="Rfc190669309b4a62" /><Relationship Type="http://schemas.openxmlformats.org/officeDocument/2006/relationships/notesMaster" Target="/ppt/notesMasters/notesMaster1.xml" Id="Re124d731ca0f4bcd" /><Relationship Type="http://schemas.openxmlformats.org/officeDocument/2006/relationships/presProps" Target="/ppt/presProps.xml" Id="R065ab6a697ff47bc" /><Relationship Type="http://schemas.openxmlformats.org/officeDocument/2006/relationships/tableStyles" Target="/ppt/tableStyles.xml" Id="Rdfd124c281ea4866" /><Relationship Type="http://schemas.openxmlformats.org/officeDocument/2006/relationships/slide" Target="/ppt/slides/slide1.xml" Id="Raaf517f61119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ff53bb7d841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d81ca2e1b94361" /><Relationship Type="http://schemas.openxmlformats.org/officeDocument/2006/relationships/notesMaster" Target="/ppt/notesMasters/notesMaster1.xml" Id="R2ec422353d3d4b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b3f97e42c44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6406f7e3744ffa" /><Relationship Type="http://schemas.openxmlformats.org/officeDocument/2006/relationships/slideLayout" Target="/ppt/slideLayouts/slideLayout1.xml" Id="Rb4327c7a76174a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27c7a76174a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ba2b68fa74370" /><Relationship Type="http://schemas.openxmlformats.org/officeDocument/2006/relationships/chart" Target="/ppt/slides/charts/chart1.xml" Id="Rfc2d46e9dca04455" /><Relationship Type="http://schemas.openxmlformats.org/officeDocument/2006/relationships/image" Target="/ppt/media/image.png" Id="R47127146c93845c2" /><Relationship Type="http://schemas.openxmlformats.org/officeDocument/2006/relationships/notesSlide" Target="/ppt/notesSlides/notesSlide1.xml" Id="R935512e48b7c438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Nominal Stored Energy (J)</a:t>
            </a:r>
          </a:p>
        </c:rich>
      </c:tx>
    </c:title>
    <c:plotArea>
      <c:barChart>
        <c:barDir val="col"/>
        <c:varyColors val="0"/>
        <c:ser>
          <c:idx val="0"/>
          <c:order val="0"/>
          <c:tx>
            <c:v>Energy</c:v>
          </c:tx>
          <c:spPr>
            <a:solidFill xmlns:a="http://schemas.openxmlformats.org/drawingml/2006/main">
              <a:srgbClr val="4472C4"/>
            </a:solidFill>
          </c:spPr>
          <c:cat>
            <c:strLit>
              <c:ptCount val="3"/>
              <c:pt idx="0">
                <c:v>NEXT 0.1 F</c:v>
              </c:pt>
              <c:pt idx="1">
                <c:v>BZ015 0.06 F</c:v>
              </c:pt>
              <c:pt idx="2">
                <c:v>LIR2032</c:v>
              </c:pt>
            </c:strLit>
          </c:cat>
          <c:val>
            <c:numLit>
              <c:formatCode>General</c:formatCode>
              <c:ptCount val="3"/>
              <c:pt idx="0">
                <c:v>1.51</c:v>
              </c:pt>
              <c:pt idx="1">
                <c:v>0.91</c:v>
              </c:pt>
              <c:pt idx="2">
                <c:v>583.2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Storage device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Energy (J)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eft-rail">
            <a:extLst xmlns:a="http://schemas.openxmlformats.org/drawingml/2006/main">
              <a:ext uri="{FF2B5EF4-FFF2-40B4-BE49-F238E27FC236}">
                <a16:creationId xmlns:a16="http://schemas.microsoft.com/office/drawing/2014/main" id="{969367CE-9FBD-44FD-8043-64966151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ule">
            <a:extLst xmlns:a="http://schemas.openxmlformats.org/drawingml/2006/main">
              <a:ext uri="{FF2B5EF4-FFF2-40B4-BE49-F238E27FC236}">
                <a16:creationId xmlns:a16="http://schemas.microsoft.com/office/drawing/2014/main" id="{62363FAB-7FF4-469F-BD1A-656E2F58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0" cy="509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D0001C6-3BB5-45CB-B86E-F05E7162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48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F37999-45E0-4003-ADC7-92BCAB6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 i="1">
                <a:solidFill>
                  <a:srgbClr val="111111"/>
                </a:solidFill>
              </a:defRPr>
            </a:pPr>
            <a:r>
              <a:rPr sz="2175" b="1" i="1">
                <a:solidFill>
                  <a:srgbClr val="111111"/>
                </a:solidFill>
              </a:rPr>
              <a:t>Energy Storage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733C30-30FE-4C0D-AF2A-2F1631FC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B5B"/>
            </a:solidFill>
            <a:prstDash val="solid"/>
          </a:ln>
        </p:spPr>
      </p:sp>
      <p:sp>
        <p:nvSpPr>
          <p:cNvPr id="6" name="component-heading">
            <a:extLst xmlns:a="http://schemas.openxmlformats.org/drawingml/2006/main">
              <a:ext uri="{FF2B5EF4-FFF2-40B4-BE49-F238E27FC236}">
                <a16:creationId xmlns:a16="http://schemas.microsoft.com/office/drawing/2014/main" id="{08EB067D-C3A6-4FC1-AD9F-DDF081C8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58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➢  Candidate storage devices</a:t>
            </a:r>
          </a:p>
        </p:txBody>
      </p:sp>
      <p:sp>
        <p:nvSpPr>
          <p:cNvPr id="7" name="summary">
            <a:extLst xmlns:a="http://schemas.openxmlformats.org/drawingml/2006/main">
              <a:ext uri="{FF2B5EF4-FFF2-40B4-BE49-F238E27FC236}">
                <a16:creationId xmlns:a16="http://schemas.microsoft.com/office/drawing/2014/main" id="{542087CC-23F8-4D72-9D3B-316C59E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Supercapacitors and rechargeable button-cell battery</a:t>
            </a:r>
          </a:p>
        </p:txBody>
      </p:sp>
      <p:sp>
        <p:nvSpPr>
          <p:cNvPr id="8" name="header-0">
            <a:extLst xmlns:a="http://schemas.openxmlformats.org/drawingml/2006/main">
              <a:ext uri="{FF2B5EF4-FFF2-40B4-BE49-F238E27FC236}">
                <a16:creationId xmlns:a16="http://schemas.microsoft.com/office/drawing/2014/main" id="{7DE13830-454E-4BA6-8707-31F6EC50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Device</a:t>
            </a:r>
          </a:p>
        </p:txBody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26467259-A1F7-403D-B594-F223F099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573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Capacity</a:t>
            </a:r>
          </a:p>
        </p:txBody>
      </p:sp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C65F2BD6-B852-4A52-9020-A2B1CB03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Max./Nominal Voltage</a:t>
            </a:r>
          </a:p>
        </p:txBody>
      </p:sp>
      <p:sp>
        <p:nvSpPr>
          <p:cNvPr id="11" name="header-3">
            <a:extLst xmlns:a="http://schemas.openxmlformats.org/drawingml/2006/main">
              <a:ext uri="{FF2B5EF4-FFF2-40B4-BE49-F238E27FC236}">
                <a16:creationId xmlns:a16="http://schemas.microsoft.com/office/drawing/2014/main" id="{28DB047D-5ADF-4841-84C1-07CA5284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573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Key Property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E99B73B5-EE2A-430F-908A-546C8A9B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NEXT 104Z5.5V11.5X8.5F</a:t>
            </a:r>
          </a:p>
        </p:txBody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C2ED10A4-3AA5-4751-8003-3334DCAF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0.1 F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BBF39D8D-B3BC-4E94-998F-C80A67F7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5.5 VDC</a:t>
            </a:r>
          </a:p>
        </p:txBody>
      </p:sp>
      <p:sp>
        <p:nvSpPr>
          <p:cNvPr id="15" name="cell-0-3">
            <a:extLst xmlns:a="http://schemas.openxmlformats.org/drawingml/2006/main">
              <a:ext uri="{FF2B5EF4-FFF2-40B4-BE49-F238E27FC236}">
                <a16:creationId xmlns:a16="http://schemas.microsoft.com/office/drawing/2014/main" id="{386FCCDB-F64F-4106-A477-41A50274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ESR &lt; 16 Ω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Leakage 0.14 mA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6C484A4A-D556-408E-8A7A-493460D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BZ015B603ZSB</a:t>
            </a:r>
          </a:p>
        </p:txBody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55B94EF2-6C02-4149-A2C0-2B1BC3E9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622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0.06 F</a:t>
            </a:r>
          </a:p>
        </p:txBody>
      </p:sp>
      <p:sp>
        <p:nvSpPr>
          <p:cNvPr id="18" name="cell-1-2">
            <a:extLst xmlns:a="http://schemas.openxmlformats.org/drawingml/2006/main">
              <a:ext uri="{FF2B5EF4-FFF2-40B4-BE49-F238E27FC236}">
                <a16:creationId xmlns:a16="http://schemas.microsoft.com/office/drawing/2014/main" id="{E0983C7C-20E1-442A-8E0B-4630355F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5.5 VDC</a:t>
            </a:r>
          </a:p>
        </p:txBody>
      </p:sp>
      <p:sp>
        <p:nvSpPr>
          <p:cNvPr id="19" name="cell-1-3">
            <a:extLst xmlns:a="http://schemas.openxmlformats.org/drawingml/2006/main">
              <a:ext uri="{FF2B5EF4-FFF2-40B4-BE49-F238E27FC236}">
                <a16:creationId xmlns:a16="http://schemas.microsoft.com/office/drawing/2014/main" id="{F9DCFA2E-10FC-4971-8BA2-6843B78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ESR 80 mΩ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Leakage 10 µA</a:t>
            </a:r>
          </a:p>
        </p:txBody>
      </p:sp>
      <p:sp>
        <p:nvSpPr>
          <p:cNvPr id="20" name="cell-2-0">
            <a:extLst xmlns:a="http://schemas.openxmlformats.org/drawingml/2006/main">
              <a:ext uri="{FF2B5EF4-FFF2-40B4-BE49-F238E27FC236}">
                <a16:creationId xmlns:a16="http://schemas.microsoft.com/office/drawing/2014/main" id="{F8AAB10E-48E1-4ADB-B706-9FC5F25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VOLTCRAFT LIR2032</a:t>
            </a:r>
          </a:p>
        </p:txBody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E3030963-0958-4CF2-BB37-CA5097D3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45 mAh</a:t>
            </a:r>
          </a:p>
        </p:txBody>
      </p:sp>
      <p:sp>
        <p:nvSpPr>
          <p:cNvPr id="22" name="cell-2-2">
            <a:extLst xmlns:a="http://schemas.openxmlformats.org/drawingml/2006/main">
              <a:ext uri="{FF2B5EF4-FFF2-40B4-BE49-F238E27FC236}">
                <a16:creationId xmlns:a16="http://schemas.microsoft.com/office/drawing/2014/main" id="{C4822FB3-AC59-4E93-A692-E3D40FC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3.6 V</a:t>
            </a:r>
          </a:p>
        </p:txBody>
      </p:sp>
      <p:sp>
        <p:nvSpPr>
          <p:cNvPr id="23" name="cell-2-3">
            <a:extLst xmlns:a="http://schemas.openxmlformats.org/drawingml/2006/main">
              <a:ext uri="{FF2B5EF4-FFF2-40B4-BE49-F238E27FC236}">
                <a16:creationId xmlns:a16="http://schemas.microsoft.com/office/drawing/2014/main" id="{AFB481CB-F0E7-4A34-B114-C4532507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Rechargeable lithium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&lt; 400 cycles</a:t>
            </a:r>
          </a:p>
        </p:txBody>
      </p:sp>
      <p:sp>
        <p:nvSpPr>
          <p:cNvPr id="24" name="energy-label">
            <a:extLst xmlns:a="http://schemas.openxmlformats.org/drawingml/2006/main">
              <a:ext uri="{FF2B5EF4-FFF2-40B4-BE49-F238E27FC236}">
                <a16:creationId xmlns:a16="http://schemas.microsoft.com/office/drawing/2014/main" id="{8D614647-2529-480A-9786-F5B87A6E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Estimated nominal stored energy</a:t>
            </a:r>
          </a:p>
        </p:txBody>
      </p:sp>
      <p:sp>
        <p:nvSpPr>
          <p:cNvPr id="25" name="energy-value">
            <a:extLst xmlns:a="http://schemas.openxmlformats.org/drawingml/2006/main">
              <a:ext uri="{FF2B5EF4-FFF2-40B4-BE49-F238E27FC236}">
                <a16:creationId xmlns:a16="http://schemas.microsoft.com/office/drawing/2014/main" id="{0455B36C-90B2-433E-8E3F-9E9978A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1005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5597"/>
                </a:solidFill>
              </a:defRPr>
            </a:pPr>
            <a:r>
              <a:rPr sz="1650" b="1">
                <a:solidFill>
                  <a:srgbClr val="2F5597"/>
                </a:solidFill>
              </a:rPr>
              <a:t>LIR2032: ≈ 583 J</a:t>
            </a:r>
          </a:p>
        </p:txBody>
      </p:sp>
      <p:sp>
        <p:nvSpPr>
          <p:cNvPr id="26" name="energy-note">
            <a:extLst xmlns:a="http://schemas.openxmlformats.org/drawingml/2006/main">
              <a:ext uri="{FF2B5EF4-FFF2-40B4-BE49-F238E27FC236}">
                <a16:creationId xmlns:a16="http://schemas.microsoft.com/office/drawing/2014/main" id="{A4940D57-0356-4DC7-B3F8-1BC7D2D9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Battery energy uses capacity × nominal voltage; supercapacitor energy uses ½CV².</a:t>
            </a:r>
          </a:p>
        </p:txBody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7858125" y="914400"/>
          <a:ext xmlns:a="http://schemas.openxmlformats.org/drawingml/2006/main" cx="3857625" cy="2524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2d46e9dca04455"/>
          </a:graphicData>
        </a:graphic>
      </p:graphicFrame>
      <p:sp>
        <p:nvSpPr>
          <p:cNvPr id="28" name="chart-note">
            <a:extLst xmlns:a="http://schemas.openxmlformats.org/drawingml/2006/main">
              <a:ext uri="{FF2B5EF4-FFF2-40B4-BE49-F238E27FC236}">
                <a16:creationId xmlns:a16="http://schemas.microsoft.com/office/drawing/2014/main" id="{ED2616D7-7F9F-4E39-8477-F9E8DE96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8137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</a:defRPr>
            </a:pPr>
            <a:r>
              <a:rPr sz="900">
                <a:solidFill>
                  <a:srgbClr val="666666"/>
                </a:solidFill>
              </a:rPr>
              <a:t>NEXT 1.51 J  |  BZ015 0.91 J  |  LIR2032 583.2 J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27146c93845c2"/>
          <a:stretch xmlns:a="http://schemas.openxmlformats.org/drawingml/2006/main"/>
        </p:blipFill>
        <p:spPr>
          <a:xfrm xmlns:a="http://schemas.openxmlformats.org/drawingml/2006/main">
            <a:off x="8842801" y="3638550"/>
            <a:ext cx="1697773" cy="1657350"/>
          </a:xfrm>
          <a:prstGeom xmlns:a="http://schemas.openxmlformats.org/drawingml/2006/main" prst="rect">
            <a:avLst/>
          </a:prstGeom>
        </p:spPr>
      </p:pic>
      <p:sp>
        <p:nvSpPr>
          <p:cNvPr id="30" name="lir2032-caption">
            <a:extLst xmlns:a="http://schemas.openxmlformats.org/drawingml/2006/main">
              <a:ext uri="{FF2B5EF4-FFF2-40B4-BE49-F238E27FC236}">
                <a16:creationId xmlns:a16="http://schemas.microsoft.com/office/drawing/2014/main" id="{BAFFF525-7762-4D17-9FCE-EC24E8D0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76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VOLTCRAFT LIR2032</a:t>
            </a:r>
          </a:p>
        </p:txBody>
      </p:sp>
      <p:sp>
        <p:nvSpPr>
          <p:cNvPr id="31" name="selected-module">
            <a:extLst xmlns:a="http://schemas.openxmlformats.org/drawingml/2006/main">
              <a:ext uri="{FF2B5EF4-FFF2-40B4-BE49-F238E27FC236}">
                <a16:creationId xmlns:a16="http://schemas.microsoft.com/office/drawing/2014/main" id="{22AEBB84-80BF-45CC-A76B-0720CEA0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4762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9C9C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Selected storage device: LIR2032</a:t>
            </a:r>
          </a:p>
        </p:txBody>
      </p:sp>
    </p:spTree>
    <p:extLst>
      <p:ext uri="{BB962C8B-B14F-4D97-AF65-F5344CB8AC3E}">
        <p14:creationId xmlns:p14="http://schemas.microsoft.com/office/powerpoint/2010/main" val="482742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2026-07-21T14:34:42.7120000Z</dcterms:created>
  <dcterms:modified xsi:type="dcterms:W3CDTF">2026-07-21T14:34:42.7120000Z</dcterms:modified>
</coreProperties>
</file>