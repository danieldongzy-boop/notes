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adac8175ee43b5" /><Relationship Type="http://schemas.openxmlformats.org/officeDocument/2006/relationships/extended-properties" Target="/docProps/app.xml" Id="R4d8e86dbf5e24de8" /><Relationship Type="http://schemas.openxmlformats.org/officeDocument/2006/relationships/officeDocument" Target="/ppt/presentation.xml" Id="R4d845a727caa48c2" /></Relationships>
</file>

<file path=ppt/presentation.xml><?xml version="1.0" encoding="utf-8"?>
<p:presentation xmlns:p="http://schemas.openxmlformats.org/presentationml/2006/main">
  <p:sldMasterIdLst>
    <p:sldMasterId xmlns:r="http://schemas.openxmlformats.org/officeDocument/2006/relationships" id="2147483648" r:id="Ra030bbab81be4a4e"/>
  </p:sldMasterIdLst>
  <p:notesMasterIdLst>
    <p:notesMasterId xmlns:r="http://schemas.openxmlformats.org/officeDocument/2006/relationships" r:id="R9e79a4670f324ed9"/>
  </p:notesMasterIdLst>
  <p:sldIdLst>
    <p:sldId xmlns:r="http://schemas.openxmlformats.org/officeDocument/2006/relationships" id="256" r:id="Re43854584be54e85"/>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d101cad30a4b02" /><Relationship Type="http://schemas.openxmlformats.org/officeDocument/2006/relationships/slideMaster" Target="/ppt/slideMasters/slideMaster1.xml" Id="Ra030bbab81be4a4e" /><Relationship Type="http://schemas.openxmlformats.org/officeDocument/2006/relationships/notesMaster" Target="/ppt/notesMasters/notesMaster1.xml" Id="R9e79a4670f324ed9" /><Relationship Type="http://schemas.openxmlformats.org/officeDocument/2006/relationships/presProps" Target="/ppt/presProps.xml" Id="Rdfd971deb0944d5a" /><Relationship Type="http://schemas.openxmlformats.org/officeDocument/2006/relationships/tableStyles" Target="/ppt/tableStyles.xml" Id="R98d0737e6ab14444" /><Relationship Type="http://schemas.openxmlformats.org/officeDocument/2006/relationships/slide" Target="/ppt/slides/slide1.xml" Id="Re43854584be54e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47acc2c29c4a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e0e6dd41804577" /><Relationship Type="http://schemas.openxmlformats.org/officeDocument/2006/relationships/notesMaster" Target="/ppt/notesMasters/notesMaster1.xml" Id="R16383bd8d0c746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references are primarily manufacturer datasheets and official product pages. They provide the electrical limits, operating currents, start-up conditions, package sizes, and storage specifications used in our comparisons and energy calculations. We use distributor pages only where a manufacturer page is not readily available for the exact commercial storage component. The key result is that the proposed system is electrically energy-positive at the assumed five-kelvin temperature difference: about 13.2 milliwatts is available after conversion, compared with an estimated average system demand of about 8.3 milliwatts. However, the temperature difference must exist across the TEG itself. Therefore, the thermal interface and outdoor validation remain the most important practical risks.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25c754732c47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9e2dbfc986498e" /><Relationship Type="http://schemas.openxmlformats.org/officeDocument/2006/relationships/slideLayout" Target="/ppt/slideLayouts/slideLayout1.xml" Id="R21a0a5d250734a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a0a5d250734a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1f08514d0b4fc9" /><Relationship Type="http://schemas.openxmlformats.org/officeDocument/2006/relationships/hyperlink" Target="https://www.edn.com/wp-content/uploads/bst-bma280-ds000.pdf" TargetMode="External" Id="R61249a985b214ed5" /><Relationship Type="http://schemas.openxmlformats.org/officeDocument/2006/relationships/hyperlink" Target="https://www.st.com/resource/en/datasheet/lis2dh12.pdf" TargetMode="External" Id="Rc2829a3025ec4cab" /><Relationship Type="http://schemas.openxmlformats.org/officeDocument/2006/relationships/hyperlink" Target="https://www.analog.com/media/en/technical-documentation/data-sheets/ADXL362.pdf" TargetMode="External" Id="R789745bf8e27425f" /><Relationship Type="http://schemas.openxmlformats.org/officeDocument/2006/relationships/hyperlink" Target="https://www.quectel.com/product/gnss-lc76g-series/" TargetMode="External" Id="Ra6fa98368a3e4eb4" /><Relationship Type="http://schemas.openxmlformats.org/officeDocument/2006/relationships/hyperlink" Target="https://www.u-blox.com/en/product/max-m10-series" TargetMode="External" Id="Rd394c159a8e2463d" /><Relationship Type="http://schemas.openxmlformats.org/officeDocument/2006/relationships/hyperlink" Target="https://www.semtech.com/products/wireless-rf/lora-connect/sx1261" TargetMode="External" Id="Rb5101ac35edc43a2" /><Relationship Type="http://schemas.openxmlformats.org/officeDocument/2006/relationships/hyperlink" Target="https://www.st.com/resource/en/datasheet/stm32wle5cc.pdf" TargetMode="External" Id="R33fc724c4b194ce8" /><Relationship Type="http://schemas.openxmlformats.org/officeDocument/2006/relationships/hyperlink" Target="https://www.tec-microsystems.com/product/1md06-097-05/" TargetMode="External" Id="R1883aecba6664b53" /><Relationship Type="http://schemas.openxmlformats.org/officeDocument/2006/relationships/hyperlink" Target="https://e-peas.com/product/aem30940/" TargetMode="External" Id="R1d20145def6d49fb" /><Relationship Type="http://schemas.openxmlformats.org/officeDocument/2006/relationships/hyperlink" Target="https://www.ti.com/product/BQ25505" TargetMode="External" Id="R5edb814b69ae439e" /><Relationship Type="http://schemas.openxmlformats.org/officeDocument/2006/relationships/hyperlink" Target="https://www.analog.com/en/products/ltc3108-1.html" TargetMode="External" Id="R0c86330a3fd644e3" /><Relationship Type="http://schemas.openxmlformats.org/officeDocument/2006/relationships/hyperlink" Target="https://de.rs-online.com/web/p/superkondensatoren/7374430" TargetMode="External" Id="R0f7e66143f3142a0" /><Relationship Type="http://schemas.openxmlformats.org/officeDocument/2006/relationships/hyperlink" Target="https://www.digikey.com/en/products/detail/kyocera-avx/BZ015B603ZSB/2506228" TargetMode="External" Id="R696b393c3d634afe" /><Relationship Type="http://schemas.openxmlformats.org/officeDocument/2006/relationships/hyperlink" Target="https://www.conrad.com/en/p/voltcraft-lir2032-button-cell-rechargeable-lir2032-lithium-45-mah-3-6-v-1-pc-s-2542816.html" TargetMode="External" Id="R888624a788054c20" /><Relationship Type="http://schemas.openxmlformats.org/officeDocument/2006/relationships/notesSlide" Target="/ppt/notesSlides/notesSlide1.xml" Id="R4249f225137f447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left-rail">
            <a:extLst xmlns:a="http://schemas.openxmlformats.org/drawingml/2006/main">
              <a:ext uri="{FF2B5EF4-FFF2-40B4-BE49-F238E27FC236}">
                <a16:creationId xmlns:a16="http://schemas.microsoft.com/office/drawing/2014/main" id="{AB10BFE6-4503-41AD-B725-8433C7351EAA}"/>
              </a:ext>
            </a:extLst>
          </p:cNvPr>
          <p:cNvSpPr>
            <a:spLocks xmlns:a="http://schemas.openxmlformats.org/drawingml/2006/main" noGrp="1"/>
          </p:cNvSpPr>
          <p:nvPr/>
        </p:nvSpPr>
        <p:spPr>
          <a:xfrm xmlns:a="http://schemas.openxmlformats.org/drawingml/2006/main">
            <a:off x="76200" y="0"/>
            <a:ext cx="266700" cy="6858000"/>
          </a:xfrm>
          <a:prstGeom xmlns:a="http://schemas.openxmlformats.org/drawingml/2006/main" prst="rect">
            <a:avLst/>
          </a:prstGeom>
          <a:solidFill xmlns:a="http://schemas.openxmlformats.org/drawingml/2006/main">
            <a:srgbClr val="E6E6E6"/>
          </a:solidFill>
          <a:ln xmlns:a="http://schemas.openxmlformats.org/drawingml/2006/main" w="0">
            <a:noFill/>
            <a:prstDash val="solid"/>
          </a:ln>
        </p:spPr>
      </p:sp>
      <p:sp>
        <p:nvSpPr>
          <p:cNvPr id="2" name="left-rule">
            <a:extLst xmlns:a="http://schemas.openxmlformats.org/drawingml/2006/main">
              <a:ext uri="{FF2B5EF4-FFF2-40B4-BE49-F238E27FC236}">
                <a16:creationId xmlns:a16="http://schemas.microsoft.com/office/drawing/2014/main" id="{9457772D-E65A-45EE-A031-F5DB0405022A}"/>
              </a:ext>
            </a:extLst>
          </p:cNvPr>
          <p:cNvSpPr>
            <a:spLocks xmlns:a="http://schemas.openxmlformats.org/drawingml/2006/main" noGrp="1"/>
          </p:cNvSpPr>
          <p:nvPr/>
        </p:nvSpPr>
        <p:spPr>
          <a:xfrm xmlns:a="http://schemas.openxmlformats.org/drawingml/2006/main">
            <a:off x="276225" y="142875"/>
            <a:ext cx="0" cy="5095875"/>
          </a:xfrm>
          <a:prstGeom xmlns:a="http://schemas.openxmlformats.org/drawingml/2006/main" prst="line">
            <a:avLst/>
          </a:prstGeom>
          <a:noFill xmlns:a="http://schemas.openxmlformats.org/drawingml/2006/main"/>
          <a:ln xmlns:a="http://schemas.openxmlformats.org/drawingml/2006/main" w="9525">
            <a:solidFill>
              <a:srgbClr val="111111"/>
            </a:solidFill>
            <a:prstDash val="solid"/>
          </a:ln>
        </p:spPr>
      </p:sp>
      <p:sp>
        <p:nvSpPr>
          <p:cNvPr id="3" name="footer-rule">
            <a:extLst xmlns:a="http://schemas.openxmlformats.org/drawingml/2006/main">
              <a:ext uri="{FF2B5EF4-FFF2-40B4-BE49-F238E27FC236}">
                <a16:creationId xmlns:a16="http://schemas.microsoft.com/office/drawing/2014/main" id="{4A779E8F-E0B7-4DA2-A930-924D42521DB0}"/>
              </a:ext>
            </a:extLst>
          </p:cNvPr>
          <p:cNvSpPr>
            <a:spLocks xmlns:a="http://schemas.openxmlformats.org/drawingml/2006/main" noGrp="1"/>
          </p:cNvSpPr>
          <p:nvPr/>
        </p:nvSpPr>
        <p:spPr>
          <a:xfrm xmlns:a="http://schemas.openxmlformats.org/drawingml/2006/main">
            <a:off x="6000750" y="6448425"/>
            <a:ext cx="6191250" cy="0"/>
          </a:xfrm>
          <a:prstGeom xmlns:a="http://schemas.openxmlformats.org/drawingml/2006/main" prst="line">
            <a:avLst/>
          </a:prstGeom>
          <a:noFill xmlns:a="http://schemas.openxmlformats.org/drawingml/2006/main"/>
          <a:ln xmlns:a="http://schemas.openxmlformats.org/drawingml/2006/main" w="9525">
            <a:solidFill>
              <a:srgbClr val="111111"/>
            </a:solidFill>
            <a:prstDash val="solid"/>
          </a:ln>
        </p:spPr>
      </p:sp>
      <p:sp>
        <p:nvSpPr>
          <p:cNvPr id="4" name="title">
            <a:extLst xmlns:a="http://schemas.openxmlformats.org/drawingml/2006/main">
              <a:ext uri="{FF2B5EF4-FFF2-40B4-BE49-F238E27FC236}">
                <a16:creationId xmlns:a16="http://schemas.microsoft.com/office/drawing/2014/main" id="{3D340E26-5C80-474A-BC3E-224869CE9D0A}"/>
              </a:ext>
            </a:extLst>
          </p:cNvPr>
          <p:cNvSpPr>
            <a:spLocks xmlns:a="http://schemas.openxmlformats.org/drawingml/2006/main" noGrp="1"/>
          </p:cNvSpPr>
          <p:nvPr/>
        </p:nvSpPr>
        <p:spPr>
          <a:xfrm xmlns:a="http://schemas.openxmlformats.org/drawingml/2006/main">
            <a:off x="666750" y="2476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2175" b="1" i="1">
                <a:solidFill>
                  <a:srgbClr val="111111"/>
                </a:solidFill>
              </a:defRPr>
            </a:pPr>
            <a:r>
              <a:rPr sz="2175" b="1" i="1">
                <a:solidFill>
                  <a:srgbClr val="111111"/>
                </a:solidFill>
              </a:rPr>
              <a:t>References</a:t>
            </a:r>
          </a:p>
        </p:txBody>
      </p:sp>
      <p:sp>
        <p:nvSpPr>
          <p:cNvPr id="5" name="title-rule">
            <a:extLst xmlns:a="http://schemas.openxmlformats.org/drawingml/2006/main">
              <a:ext uri="{FF2B5EF4-FFF2-40B4-BE49-F238E27FC236}">
                <a16:creationId xmlns:a16="http://schemas.microsoft.com/office/drawing/2014/main" id="{3413744D-A159-441A-9E25-D628CCB8D573}"/>
              </a:ext>
            </a:extLst>
          </p:cNvPr>
          <p:cNvSpPr>
            <a:spLocks xmlns:a="http://schemas.openxmlformats.org/drawingml/2006/main" noGrp="1"/>
          </p:cNvSpPr>
          <p:nvPr/>
        </p:nvSpPr>
        <p:spPr>
          <a:xfrm xmlns:a="http://schemas.openxmlformats.org/drawingml/2006/main">
            <a:off x="666750" y="714375"/>
            <a:ext cx="6762750" cy="0"/>
          </a:xfrm>
          <a:prstGeom xmlns:a="http://schemas.openxmlformats.org/drawingml/2006/main" prst="line">
            <a:avLst/>
          </a:prstGeom>
          <a:noFill xmlns:a="http://schemas.openxmlformats.org/drawingml/2006/main"/>
          <a:ln xmlns:a="http://schemas.openxmlformats.org/drawingml/2006/main" w="19050">
            <a:solidFill>
              <a:srgbClr val="5B5B5B"/>
            </a:solidFill>
            <a:prstDash val="solid"/>
          </a:ln>
        </p:spPr>
      </p:sp>
      <p:sp>
        <p:nvSpPr>
          <p:cNvPr id="6" name="component-heading">
            <a:extLst xmlns:a="http://schemas.openxmlformats.org/drawingml/2006/main">
              <a:ext uri="{FF2B5EF4-FFF2-40B4-BE49-F238E27FC236}">
                <a16:creationId xmlns:a16="http://schemas.microsoft.com/office/drawing/2014/main" id="{0535522C-D6A9-4A49-8456-F755E3641BF4}"/>
              </a:ext>
            </a:extLst>
          </p:cNvPr>
          <p:cNvSpPr>
            <a:spLocks xmlns:a="http://schemas.openxmlformats.org/drawingml/2006/main" noGrp="1"/>
          </p:cNvSpPr>
          <p:nvPr/>
        </p:nvSpPr>
        <p:spPr>
          <a:xfrm xmlns:a="http://schemas.openxmlformats.org/drawingml/2006/main">
            <a:off x="838200" y="87630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275" b="1">
                <a:solidFill>
                  <a:srgbClr val="1F1F1F"/>
                </a:solidFill>
                <a:latin typeface="Calibri"/>
                <a:ea typeface="Calibri"/>
                <a:cs typeface="Calibri"/>
              </a:defRPr>
            </a:pPr>
            <a:r>
              <a:rPr sz="1275" b="1">
                <a:solidFill>
                  <a:srgbClr val="1F1F1F"/>
                </a:solidFill>
                <a:latin typeface="Calibri"/>
                <a:ea typeface="Calibri"/>
                <a:cs typeface="Calibri"/>
              </a:rPr>
              <a:t>Component data sheets and commercial product sources</a:t>
            </a:r>
          </a:p>
        </p:txBody>
      </p:sp>
      <p:sp>
        <p:nvSpPr>
          <p:cNvPr id="7" name="summary">
            <a:extLst xmlns:a="http://schemas.openxmlformats.org/drawingml/2006/main">
              <a:ext uri="{FF2B5EF4-FFF2-40B4-BE49-F238E27FC236}">
                <a16:creationId xmlns:a16="http://schemas.microsoft.com/office/drawing/2014/main" id="{D9C8C212-84D0-48D9-A0BC-54D15F37FAD1}"/>
              </a:ext>
            </a:extLst>
          </p:cNvPr>
          <p:cNvSpPr>
            <a:spLocks xmlns:a="http://schemas.openxmlformats.org/drawingml/2006/main" noGrp="1"/>
          </p:cNvSpPr>
          <p:nvPr/>
        </p:nvSpPr>
        <p:spPr>
          <a:xfrm xmlns:a="http://schemas.openxmlformats.org/drawingml/2006/main">
            <a:off x="838200" y="115252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975" b="0">
                <a:solidFill>
                  <a:srgbClr val="595959"/>
                </a:solidFill>
                <a:latin typeface="Calibri"/>
                <a:ea typeface="Calibri"/>
                <a:cs typeface="Calibri"/>
              </a:defRPr>
            </a:pPr>
            <a:r>
              <a:rPr sz="975" b="0">
                <a:solidFill>
                  <a:srgbClr val="595959"/>
                </a:solidFill>
                <a:latin typeface="Calibri"/>
                <a:ea typeface="Calibri"/>
                <a:cs typeface="Calibri"/>
              </a:rPr>
              <a:t>Primary manufacturer sources are used wherever available.</a:t>
            </a:r>
          </a:p>
        </p:txBody>
      </p:sp>
      <p:sp>
        <p:nvSpPr>
          <p:cNvPr id="8" name="header-0">
            <a:extLst xmlns:a="http://schemas.openxmlformats.org/drawingml/2006/main">
              <a:ext uri="{FF2B5EF4-FFF2-40B4-BE49-F238E27FC236}">
                <a16:creationId xmlns:a16="http://schemas.microsoft.com/office/drawing/2014/main" id="{4EBEAF57-72CA-418A-B5F4-D868A193BB83}"/>
              </a:ext>
            </a:extLst>
          </p:cNvPr>
          <p:cNvSpPr>
            <a:spLocks xmlns:a="http://schemas.openxmlformats.org/drawingml/2006/main" noGrp="1"/>
          </p:cNvSpPr>
          <p:nvPr/>
        </p:nvSpPr>
        <p:spPr>
          <a:xfrm xmlns:a="http://schemas.openxmlformats.org/drawingml/2006/main">
            <a:off x="838200" y="15240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61249a985b214ed5"/>
              </a:rPr>
              <a:t>1. Bosch Sensortec - BMA280 data sheet</a:t>
            </a:r>
          </a:p>
        </p:txBody>
      </p:sp>
      <p:sp>
        <p:nvSpPr>
          <p:cNvPr id="9" name="header-1">
            <a:extLst xmlns:a="http://schemas.openxmlformats.org/drawingml/2006/main">
              <a:ext uri="{FF2B5EF4-FFF2-40B4-BE49-F238E27FC236}">
                <a16:creationId xmlns:a16="http://schemas.microsoft.com/office/drawing/2014/main" id="{43CC9A28-1561-4423-89FA-9CA1285055BA}"/>
              </a:ext>
            </a:extLst>
          </p:cNvPr>
          <p:cNvSpPr>
            <a:spLocks xmlns:a="http://schemas.openxmlformats.org/drawingml/2006/main" noGrp="1"/>
          </p:cNvSpPr>
          <p:nvPr/>
        </p:nvSpPr>
        <p:spPr>
          <a:xfrm xmlns:a="http://schemas.openxmlformats.org/drawingml/2006/main">
            <a:off x="838200" y="20574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c2829a3025ec4cab"/>
              </a:rPr>
              <a:t>2. STMicroelectronics - LIS2DH12 data sheet</a:t>
            </a:r>
          </a:p>
        </p:txBody>
      </p:sp>
      <p:sp>
        <p:nvSpPr>
          <p:cNvPr id="10" name="header-2">
            <a:extLst xmlns:a="http://schemas.openxmlformats.org/drawingml/2006/main">
              <a:ext uri="{FF2B5EF4-FFF2-40B4-BE49-F238E27FC236}">
                <a16:creationId xmlns:a16="http://schemas.microsoft.com/office/drawing/2014/main" id="{25FD4427-8F28-4B03-9E3A-CE8CF121F527}"/>
              </a:ext>
            </a:extLst>
          </p:cNvPr>
          <p:cNvSpPr>
            <a:spLocks xmlns:a="http://schemas.openxmlformats.org/drawingml/2006/main" noGrp="1"/>
          </p:cNvSpPr>
          <p:nvPr/>
        </p:nvSpPr>
        <p:spPr>
          <a:xfrm xmlns:a="http://schemas.openxmlformats.org/drawingml/2006/main">
            <a:off x="838200" y="25908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789745bf8e27425f"/>
              </a:rPr>
              <a:t>3. Analog Devices - ADXL362 data sheet</a:t>
            </a:r>
          </a:p>
        </p:txBody>
      </p:sp>
      <p:sp>
        <p:nvSpPr>
          <p:cNvPr id="11" name="header-3">
            <a:extLst xmlns:a="http://schemas.openxmlformats.org/drawingml/2006/main">
              <a:ext uri="{FF2B5EF4-FFF2-40B4-BE49-F238E27FC236}">
                <a16:creationId xmlns:a16="http://schemas.microsoft.com/office/drawing/2014/main" id="{2D850272-D2C4-4059-A6DD-50451B919E96}"/>
              </a:ext>
            </a:extLst>
          </p:cNvPr>
          <p:cNvSpPr>
            <a:spLocks xmlns:a="http://schemas.openxmlformats.org/drawingml/2006/main" noGrp="1"/>
          </p:cNvSpPr>
          <p:nvPr/>
        </p:nvSpPr>
        <p:spPr>
          <a:xfrm xmlns:a="http://schemas.openxmlformats.org/drawingml/2006/main">
            <a:off x="838200" y="31242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a6fa98368a3e4eb4"/>
              </a:rPr>
              <a:t>4. Quectel - LC76G GNSS series</a:t>
            </a:r>
          </a:p>
        </p:txBody>
      </p:sp>
      <p:sp>
        <p:nvSpPr>
          <p:cNvPr id="12" name="cell-0-0">
            <a:extLst xmlns:a="http://schemas.openxmlformats.org/drawingml/2006/main">
              <a:ext uri="{FF2B5EF4-FFF2-40B4-BE49-F238E27FC236}">
                <a16:creationId xmlns:a16="http://schemas.microsoft.com/office/drawing/2014/main" id="{89176BE4-6B55-45C5-8A24-C702427DEF2C}"/>
              </a:ext>
            </a:extLst>
          </p:cNvPr>
          <p:cNvSpPr>
            <a:spLocks xmlns:a="http://schemas.openxmlformats.org/drawingml/2006/main" noGrp="1"/>
          </p:cNvSpPr>
          <p:nvPr/>
        </p:nvSpPr>
        <p:spPr>
          <a:xfrm xmlns:a="http://schemas.openxmlformats.org/drawingml/2006/main">
            <a:off x="838200" y="36576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d394c159a8e2463d"/>
              </a:rPr>
              <a:t>5. u-blox - MAX-M10 GNSS series</a:t>
            </a:r>
          </a:p>
        </p:txBody>
      </p:sp>
      <p:sp>
        <p:nvSpPr>
          <p:cNvPr id="13" name="cell-0-1">
            <a:extLst xmlns:a="http://schemas.openxmlformats.org/drawingml/2006/main">
              <a:ext uri="{FF2B5EF4-FFF2-40B4-BE49-F238E27FC236}">
                <a16:creationId xmlns:a16="http://schemas.microsoft.com/office/drawing/2014/main" id="{51B3C6B8-BA2A-4B0E-9C54-D84183B67AB3}"/>
              </a:ext>
            </a:extLst>
          </p:cNvPr>
          <p:cNvSpPr>
            <a:spLocks xmlns:a="http://schemas.openxmlformats.org/drawingml/2006/main" noGrp="1"/>
          </p:cNvSpPr>
          <p:nvPr/>
        </p:nvSpPr>
        <p:spPr>
          <a:xfrm xmlns:a="http://schemas.openxmlformats.org/drawingml/2006/main">
            <a:off x="838200" y="41910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b5101ac35edc43a2"/>
              </a:rPr>
              <a:t>6. Semtech - SX1261 LoRa transceiver</a:t>
            </a:r>
          </a:p>
        </p:txBody>
      </p:sp>
      <p:sp>
        <p:nvSpPr>
          <p:cNvPr id="14" name="cell-0-2">
            <a:extLst xmlns:a="http://schemas.openxmlformats.org/drawingml/2006/main">
              <a:ext uri="{FF2B5EF4-FFF2-40B4-BE49-F238E27FC236}">
                <a16:creationId xmlns:a16="http://schemas.microsoft.com/office/drawing/2014/main" id="{9E4B00AB-ADAE-403B-9461-10E106449612}"/>
              </a:ext>
            </a:extLst>
          </p:cNvPr>
          <p:cNvSpPr>
            <a:spLocks xmlns:a="http://schemas.openxmlformats.org/drawingml/2006/main" noGrp="1"/>
          </p:cNvSpPr>
          <p:nvPr/>
        </p:nvSpPr>
        <p:spPr>
          <a:xfrm xmlns:a="http://schemas.openxmlformats.org/drawingml/2006/main">
            <a:off x="838200" y="47244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33fc724c4b194ce8"/>
              </a:rPr>
              <a:t>7. STMicroelectronics - STM32WLE5CC data sheet</a:t>
            </a:r>
          </a:p>
        </p:txBody>
      </p:sp>
      <p:sp>
        <p:nvSpPr>
          <p:cNvPr id="15" name="cell-0-3">
            <a:extLst xmlns:a="http://schemas.openxmlformats.org/drawingml/2006/main">
              <a:ext uri="{FF2B5EF4-FFF2-40B4-BE49-F238E27FC236}">
                <a16:creationId xmlns:a16="http://schemas.microsoft.com/office/drawing/2014/main" id="{41F7BCF3-B18C-4008-A6A1-40A09EE4FDCB}"/>
              </a:ext>
            </a:extLst>
          </p:cNvPr>
          <p:cNvSpPr>
            <a:spLocks xmlns:a="http://schemas.openxmlformats.org/drawingml/2006/main" noGrp="1"/>
          </p:cNvSpPr>
          <p:nvPr/>
        </p:nvSpPr>
        <p:spPr>
          <a:xfrm xmlns:a="http://schemas.openxmlformats.org/drawingml/2006/main">
            <a:off x="6400800" y="15240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1883aecba6664b53"/>
              </a:rPr>
              <a:t>8. TEC Microsystems - 1MD06-097-05 TEG</a:t>
            </a:r>
          </a:p>
        </p:txBody>
      </p:sp>
      <p:sp>
        <p:nvSpPr>
          <p:cNvPr id="16" name="cell-1-0">
            <a:extLst xmlns:a="http://schemas.openxmlformats.org/drawingml/2006/main">
              <a:ext uri="{FF2B5EF4-FFF2-40B4-BE49-F238E27FC236}">
                <a16:creationId xmlns:a16="http://schemas.microsoft.com/office/drawing/2014/main" id="{786CC20C-C68E-43AB-ADE8-EA46A028AE4A}"/>
              </a:ext>
            </a:extLst>
          </p:cNvPr>
          <p:cNvSpPr>
            <a:spLocks xmlns:a="http://schemas.openxmlformats.org/drawingml/2006/main" noGrp="1"/>
          </p:cNvSpPr>
          <p:nvPr/>
        </p:nvSpPr>
        <p:spPr>
          <a:xfrm xmlns:a="http://schemas.openxmlformats.org/drawingml/2006/main">
            <a:off x="6400800" y="20574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1d20145def6d49fb"/>
              </a:rPr>
              <a:t>9. e-peas - AEM30940 energy-harvesting PMIC</a:t>
            </a:r>
          </a:p>
        </p:txBody>
      </p:sp>
      <p:sp>
        <p:nvSpPr>
          <p:cNvPr id="17" name="cell-1-1">
            <a:extLst xmlns:a="http://schemas.openxmlformats.org/drawingml/2006/main">
              <a:ext uri="{FF2B5EF4-FFF2-40B4-BE49-F238E27FC236}">
                <a16:creationId xmlns:a16="http://schemas.microsoft.com/office/drawing/2014/main" id="{B17CE866-3D8C-4455-ADE1-E5AFD3B670F3}"/>
              </a:ext>
            </a:extLst>
          </p:cNvPr>
          <p:cNvSpPr>
            <a:spLocks xmlns:a="http://schemas.openxmlformats.org/drawingml/2006/main" noGrp="1"/>
          </p:cNvSpPr>
          <p:nvPr/>
        </p:nvSpPr>
        <p:spPr>
          <a:xfrm xmlns:a="http://schemas.openxmlformats.org/drawingml/2006/main">
            <a:off x="6400800" y="25908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5edb814b69ae439e"/>
              </a:rPr>
              <a:t>10. Texas Instruments - BQ25505 battery manager</a:t>
            </a:r>
          </a:p>
        </p:txBody>
      </p:sp>
      <p:sp>
        <p:nvSpPr>
          <p:cNvPr id="18" name="cell-1-2">
            <a:extLst xmlns:a="http://schemas.openxmlformats.org/drawingml/2006/main">
              <a:ext uri="{FF2B5EF4-FFF2-40B4-BE49-F238E27FC236}">
                <a16:creationId xmlns:a16="http://schemas.microsoft.com/office/drawing/2014/main" id="{83B5F108-04E8-48C2-80B8-729237BD8BD4}"/>
              </a:ext>
            </a:extLst>
          </p:cNvPr>
          <p:cNvSpPr>
            <a:spLocks xmlns:a="http://schemas.openxmlformats.org/drawingml/2006/main" noGrp="1"/>
          </p:cNvSpPr>
          <p:nvPr/>
        </p:nvSpPr>
        <p:spPr>
          <a:xfrm xmlns:a="http://schemas.openxmlformats.org/drawingml/2006/main">
            <a:off x="6400800" y="31242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0c86330a3fd644e3"/>
              </a:rPr>
              <a:t>11. Analog Devices - LTC3108-1 converter</a:t>
            </a:r>
          </a:p>
        </p:txBody>
      </p:sp>
      <p:sp>
        <p:nvSpPr>
          <p:cNvPr id="19" name="cell-1-3">
            <a:extLst xmlns:a="http://schemas.openxmlformats.org/drawingml/2006/main">
              <a:ext uri="{FF2B5EF4-FFF2-40B4-BE49-F238E27FC236}">
                <a16:creationId xmlns:a16="http://schemas.microsoft.com/office/drawing/2014/main" id="{12D4EC5E-EEE8-4911-BA45-7E519F0C3E59}"/>
              </a:ext>
            </a:extLst>
          </p:cNvPr>
          <p:cNvSpPr>
            <a:spLocks xmlns:a="http://schemas.openxmlformats.org/drawingml/2006/main" noGrp="1"/>
          </p:cNvSpPr>
          <p:nvPr/>
        </p:nvSpPr>
        <p:spPr>
          <a:xfrm xmlns:a="http://schemas.openxmlformats.org/drawingml/2006/main">
            <a:off x="6400800" y="36576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0f7e66143f3142a0"/>
              </a:rPr>
              <a:t>12. RS - NEXT104Z5.5V11.5X8.5F supercapacitor</a:t>
            </a:r>
          </a:p>
        </p:txBody>
      </p:sp>
      <p:sp>
        <p:nvSpPr>
          <p:cNvPr id="20" name="cell-2-0">
            <a:extLst xmlns:a="http://schemas.openxmlformats.org/drawingml/2006/main">
              <a:ext uri="{FF2B5EF4-FFF2-40B4-BE49-F238E27FC236}">
                <a16:creationId xmlns:a16="http://schemas.microsoft.com/office/drawing/2014/main" id="{7725775B-9DF6-4952-ABE1-FE849FD74519}"/>
              </a:ext>
            </a:extLst>
          </p:cNvPr>
          <p:cNvSpPr>
            <a:spLocks xmlns:a="http://schemas.openxmlformats.org/drawingml/2006/main" noGrp="1"/>
          </p:cNvSpPr>
          <p:nvPr/>
        </p:nvSpPr>
        <p:spPr>
          <a:xfrm xmlns:a="http://schemas.openxmlformats.org/drawingml/2006/main">
            <a:off x="6400800" y="41910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696b393c3d634afe"/>
              </a:rPr>
              <a:t>13. KYOCERA AVX - BZ015B603ZSB supercapacitor</a:t>
            </a:r>
          </a:p>
        </p:txBody>
      </p:sp>
      <p:sp>
        <p:nvSpPr>
          <p:cNvPr id="21" name="cell-2-1">
            <a:extLst xmlns:a="http://schemas.openxmlformats.org/drawingml/2006/main">
              <a:ext uri="{FF2B5EF4-FFF2-40B4-BE49-F238E27FC236}">
                <a16:creationId xmlns:a16="http://schemas.microsoft.com/office/drawing/2014/main" id="{1479EE3A-A91C-4434-8A38-BFAFC7F88D1A}"/>
              </a:ext>
            </a:extLst>
          </p:cNvPr>
          <p:cNvSpPr>
            <a:spLocks xmlns:a="http://schemas.openxmlformats.org/drawingml/2006/main" noGrp="1"/>
          </p:cNvSpPr>
          <p:nvPr/>
        </p:nvSpPr>
        <p:spPr>
          <a:xfrm xmlns:a="http://schemas.openxmlformats.org/drawingml/2006/main">
            <a:off x="6400800" y="47244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1013" b="0" u="sng">
                <a:solidFill>
                  <a:srgbClr val="2F5597"/>
                </a:solidFill>
                <a:latin typeface="Calibri"/>
                <a:ea typeface="Calibri"/>
                <a:cs typeface="Calibri"/>
              </a:defRPr>
            </a:pPr>
            <a:r>
              <a:rPr sz="1013" b="0" u="sng">
                <a:solidFill>
                  <a:srgbClr val="2F5597"/>
                </a:solidFill>
                <a:latin typeface="Calibri"/>
                <a:ea typeface="Calibri"/>
                <a:cs typeface="Calibri"/>
                <a:hlinkClick xmlns:r="http://schemas.openxmlformats.org/officeDocument/2006/relationships" r:id="R888624a788054c20"/>
              </a:rPr>
              <a:t>14. VOLTCRAFT - LIR2032 rechargeable cell</a:t>
            </a:r>
          </a:p>
        </p:txBody>
      </p:sp>
      <p:sp>
        <p:nvSpPr>
          <p:cNvPr id="31" name="selected-module">
            <a:extLst xmlns:a="http://schemas.openxmlformats.org/drawingml/2006/main">
              <a:ext uri="{FF2B5EF4-FFF2-40B4-BE49-F238E27FC236}">
                <a16:creationId xmlns:a16="http://schemas.microsoft.com/office/drawing/2014/main" id="{7004E950-6557-4D1E-AE49-B1B96FA51CFD}"/>
              </a:ext>
            </a:extLst>
          </p:cNvPr>
          <p:cNvSpPr>
            <a:spLocks xmlns:a="http://schemas.openxmlformats.org/drawingml/2006/main" noGrp="1"/>
          </p:cNvSpPr>
          <p:nvPr/>
        </p:nvSpPr>
        <p:spPr>
          <a:xfrm xmlns:a="http://schemas.openxmlformats.org/drawingml/2006/main">
            <a:off x="838200" y="5381625"/>
            <a:ext cx="10477500" cy="266700"/>
          </a:xfrm>
          <a:prstGeom xmlns:a="http://schemas.openxmlformats.org/drawingml/2006/main" prst="roundRect">
            <a:avLst>
              <a:gd name="adj" fmla="val 11538"/>
            </a:avLst>
          </a:prstGeom>
          <a:noFill xmlns:a="http://schemas.openxmlformats.org/drawingml/2006/main"/>
          <a:ln xmlns:a="http://schemas.openxmlformats.org/drawingml/2006/main" w="0">
            <a:noFill/>
            <a:prstDash val="solid"/>
          </a:ln>
        </p:spPr>
        <p:txBody>
          <a:bodyPr xmlns:a="http://schemas.openxmlformats.org/drawingml/2006/main" wrap="square" lIns="0" tIns="0" rIns="38100" bIns="0" anchor="ctr">
            <a:noAutofit/>
          </a:bodyPr>
          <a:lstStyle xmlns:a="http://schemas.openxmlformats.org/drawingml/2006/main"/>
          <a:p xmlns:a="http://schemas.openxmlformats.org/drawingml/2006/main">
            <a:pPr algn="l">
              <a:buNone/>
              <a:defRPr sz="863" b="0">
                <a:solidFill>
                  <a:srgbClr val="666666"/>
                </a:solidFill>
                <a:latin typeface="Calibri"/>
                <a:ea typeface="Calibri"/>
                <a:cs typeface="Calibri"/>
              </a:defRPr>
            </a:pPr>
            <a:r>
              <a:rPr sz="863" b="0">
                <a:solidFill>
                  <a:srgbClr val="666666"/>
                </a:solidFill>
                <a:latin typeface="Calibri"/>
                <a:ea typeface="Calibri"/>
                <a:cs typeface="Calibri"/>
              </a:rPr>
              <a:t>Accessed 22 July 2026 | Calculated system-level values are derived from these component specifications.</a:t>
            </a:r>
          </a:p>
        </p:txBody>
      </p:sp>
    </p:spTree>
    <p:extLst>
      <p:ext uri="{BB962C8B-B14F-4D97-AF65-F5344CB8AC3E}">
        <p14:creationId xmlns:p14="http://schemas.microsoft.com/office/powerpoint/2010/main" val="17923378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2026-07-22T17:04:26.6160000Z</dcterms:created>
  <dcterms:modified xsi:type="dcterms:W3CDTF">2026-07-22T17:04:26.6170000Z</dcterms:modified>
</coreProperties>
</file>