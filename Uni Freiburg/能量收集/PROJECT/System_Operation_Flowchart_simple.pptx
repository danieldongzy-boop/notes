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2f4803d98b4690" /><Relationship Type="http://schemas.openxmlformats.org/officeDocument/2006/relationships/extended-properties" Target="/docProps/app.xml" Id="R0fda587235d54ea6" /><Relationship Type="http://schemas.openxmlformats.org/officeDocument/2006/relationships/officeDocument" Target="/ppt/presentation.xml" Id="R6cf899faac7b4f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59461a285244ea"/>
  </p:sldMasterIdLst>
  <p:notesMasterIdLst>
    <p:notesMasterId xmlns:r="http://schemas.openxmlformats.org/officeDocument/2006/relationships" r:id="R3906a279f33048e4"/>
  </p:notesMasterIdLst>
  <p:sldIdLst>
    <p:sldId xmlns:r="http://schemas.openxmlformats.org/officeDocument/2006/relationships" id="256" r:id="R36ff66e76b6f45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fc3dbfd7b84550" /><Relationship Type="http://schemas.openxmlformats.org/officeDocument/2006/relationships/slideMaster" Target="/ppt/slideMasters/slideMaster1.xml" Id="R0259461a285244ea" /><Relationship Type="http://schemas.openxmlformats.org/officeDocument/2006/relationships/notesMaster" Target="/ppt/notesMasters/notesMaster1.xml" Id="R3906a279f33048e4" /><Relationship Type="http://schemas.openxmlformats.org/officeDocument/2006/relationships/presProps" Target="/ppt/presProps.xml" Id="R5d5b3d984a2e44d5" /><Relationship Type="http://schemas.openxmlformats.org/officeDocument/2006/relationships/tableStyles" Target="/ppt/tableStyles.xml" Id="R827a985cf8a346ad" /><Relationship Type="http://schemas.openxmlformats.org/officeDocument/2006/relationships/slide" Target="/ppt/slides/slide1.xml" Id="R36ff66e76b6f45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a4cfe291cf41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45f4ecb44d45af" /><Relationship Type="http://schemas.openxmlformats.org/officeDocument/2006/relationships/notesMaster" Target="/ppt/notesMasters/notesMaster1.xml" Id="R6d58082b54ec4c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5264c2a7b40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c5366a4e8c4232" /><Relationship Type="http://schemas.openxmlformats.org/officeDocument/2006/relationships/slideLayout" Target="/ppt/slideLayouts/slideLayout1.xml" Id="R56b614102de945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614102de945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e69e02c9a1476f" /><Relationship Type="http://schemas.openxmlformats.org/officeDocument/2006/relationships/notesSlide" Target="/ppt/notesSlides/notesSlide1.xml" Id="Re52700a671d043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left-rail">
            <a:extLst xmlns:a="http://schemas.openxmlformats.org/drawingml/2006/main">
              <a:ext uri="{FF2B5EF4-FFF2-40B4-BE49-F238E27FC236}">
                <a16:creationId xmlns:a16="http://schemas.microsoft.com/office/drawing/2014/main" id="{8FE8A13E-8D60-4515-89EE-DEF5ABB9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413E9DB4-D74E-46A9-ACF8-77008903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37387AF-111B-4E01-9D7A-DBA1DF2F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BD974B-EEEB-49CD-B750-81CD2C53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System Operation Flowchart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B4B8E8-E78A-4808-AB7E-82CB07E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C8720B7-8A3A-4FF1-9197-B08E866A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Normal sensing cycle and periodic data upload</a:t>
            </a:r>
          </a:p>
        </p:txBody>
      </p:sp>
      <p:sp>
        <p:nvSpPr>
          <p:cNvPr id="7" name="continuous-label">
            <a:extLst xmlns:a="http://schemas.openxmlformats.org/drawingml/2006/main">
              <a:ext uri="{FF2B5EF4-FFF2-40B4-BE49-F238E27FC236}">
                <a16:creationId xmlns:a16="http://schemas.microsoft.com/office/drawing/2014/main" id="{21A469E2-9659-4493-B2F0-278F8FDE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48235"/>
                </a:solidFill>
              </a:defRPr>
            </a:pPr>
            <a:r>
              <a:rPr sz="900" b="1">
                <a:solidFill>
                  <a:srgbClr val="548235"/>
                </a:solidFill>
              </a:rPr>
              <a:t>CONTINUOUS</a:t>
            </a:r>
          </a:p>
        </p:txBody>
      </p:sp>
      <p:sp>
        <p:nvSpPr>
          <p:cNvPr id="8" name="minute-label">
            <a:extLst xmlns:a="http://schemas.openxmlformats.org/drawingml/2006/main">
              <a:ext uri="{FF2B5EF4-FFF2-40B4-BE49-F238E27FC236}">
                <a16:creationId xmlns:a16="http://schemas.microsoft.com/office/drawing/2014/main" id="{AAD9CFC3-5040-47C7-948F-4A2710D4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428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597"/>
                </a:solidFill>
              </a:defRPr>
            </a:pPr>
            <a:r>
              <a:rPr sz="900" b="1">
                <a:solidFill>
                  <a:srgbClr val="2F5597"/>
                </a:solidFill>
              </a:rPr>
              <a:t>EVERY MINUTE</a:t>
            </a:r>
          </a:p>
        </p:txBody>
      </p:sp>
      <p:sp>
        <p:nvSpPr>
          <p:cNvPr id="9" name="harvest">
            <a:extLst xmlns:a="http://schemas.openxmlformats.org/drawingml/2006/main">
              <a:ext uri="{FF2B5EF4-FFF2-40B4-BE49-F238E27FC236}">
                <a16:creationId xmlns:a16="http://schemas.microsoft.com/office/drawing/2014/main" id="{C1AA40AE-372D-47F3-919F-528CEBF2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TEG + LTC3108-1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Harvest Energy</a:t>
            </a:r>
          </a:p>
        </p:txBody>
      </p:sp>
      <p:sp>
        <p:nvSpPr>
          <p:cNvPr id="10" name="storage">
            <a:extLst xmlns:a="http://schemas.openxmlformats.org/drawingml/2006/main">
              <a:ext uri="{FF2B5EF4-FFF2-40B4-BE49-F238E27FC236}">
                <a16:creationId xmlns:a16="http://schemas.microsoft.com/office/drawing/2014/main" id="{652A75B7-03AF-479A-9B34-A7BA2D5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Charge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Supercapacitor</a:t>
            </a:r>
          </a:p>
        </p:txBody>
      </p:sp>
      <p:sp>
        <p:nvSpPr>
          <p:cNvPr id="11" name="wake">
            <a:extLst xmlns:a="http://schemas.openxmlformats.org/drawingml/2006/main">
              <a:ext uri="{FF2B5EF4-FFF2-40B4-BE49-F238E27FC236}">
                <a16:creationId xmlns:a16="http://schemas.microsoft.com/office/drawing/2014/main" id="{5AB5CEC4-E505-47A9-9724-4CC75E1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05000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RTC Wakes</a:t>
            </a:r>
          </a:p>
          <a:p xmlns:a="http://schemas.openxmlformats.org/drawingml/2006/main"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STM32WLE5</a:t>
            </a:r>
          </a:p>
        </p:txBody>
      </p:sp>
      <p:sp>
        <p:nvSpPr>
          <p:cNvPr id="12" name="collect">
            <a:extLst xmlns:a="http://schemas.openxmlformats.org/drawingml/2006/main">
              <a:ext uri="{FF2B5EF4-FFF2-40B4-BE49-F238E27FC236}">
                <a16:creationId xmlns:a16="http://schemas.microsoft.com/office/drawing/2014/main" id="{793D9487-BA7B-4A16-80B9-A5974C88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0500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Read ADXL362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Acquire LC76G Fix</a:t>
            </a:r>
          </a:p>
        </p:txBody>
      </p:sp>
      <p:sp>
        <p:nvSpPr>
          <p:cNvPr id="13" name="store">
            <a:extLst xmlns:a="http://schemas.openxmlformats.org/drawingml/2006/main">
              <a:ext uri="{FF2B5EF4-FFF2-40B4-BE49-F238E27FC236}">
                <a16:creationId xmlns:a16="http://schemas.microsoft.com/office/drawing/2014/main" id="{FABF3605-717A-40DC-A680-6CFBB0F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0500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Process and Store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Activity + Position</a:t>
            </a:r>
          </a:p>
        </p:txBody>
      </p:sp>
      <p:sp>
        <p:nvSpPr>
          <p:cNvPr id="14" name="upload-due">
            <a:extLst xmlns:a="http://schemas.openxmlformats.org/drawingml/2006/main">
              <a:ext uri="{FF2B5EF4-FFF2-40B4-BE49-F238E27FC236}">
                <a16:creationId xmlns:a16="http://schemas.microsoft.com/office/drawing/2014/main" id="{E827F60B-5B3D-4E15-9130-433239F1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38500"/>
            <a:ext cx="1524000" cy="895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7F6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Upload Interval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Reached?</a:t>
            </a:r>
          </a:p>
        </p:txBody>
      </p:sp>
      <p:sp>
        <p:nvSpPr>
          <p:cNvPr id="15" name="transmit">
            <a:extLst xmlns:a="http://schemas.openxmlformats.org/drawingml/2006/main">
              <a:ext uri="{FF2B5EF4-FFF2-40B4-BE49-F238E27FC236}">
                <a16:creationId xmlns:a16="http://schemas.microsoft.com/office/drawing/2014/main" id="{4608907C-9DF5-4D32-B945-E8AE9EDB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43275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2F3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Send Buffered Data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via Integrated LoRa</a:t>
            </a:r>
          </a:p>
        </p:txBody>
      </p:sp>
      <p:sp>
        <p:nvSpPr>
          <p:cNvPr id="16" name="sleep">
            <a:extLst xmlns:a="http://schemas.openxmlformats.org/drawingml/2006/main">
              <a:ext uri="{FF2B5EF4-FFF2-40B4-BE49-F238E27FC236}">
                <a16:creationId xmlns:a16="http://schemas.microsoft.com/office/drawing/2014/main" id="{1D2D8CF0-C3F5-4C4A-AF83-75DD3CE3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95300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Return to Stop 2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Wait for Next Cycle</a:t>
            </a:r>
          </a:p>
        </p:txBody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62200" y="2247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381500" y="2247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400800" y="2247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62975" y="22479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9839325" y="2590800"/>
            <a:ext cx="4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4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8562975" y="36861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839325" y="4133850"/>
            <a:ext cx="119063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5" idx="2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81913" y="4029075"/>
            <a:ext cx="1395413" cy="1266825"/>
          </a:xfrm>
          <a:prstGeom xmlns:a="http://schemas.openxmlformats.org/drawingml/2006/main" prst="bentConnector5">
            <a:avLst>
              <a:gd name="adj1" fmla="val 0"/>
              <a:gd name="adj2" fmla="val 18045"/>
              <a:gd name="adj3" fmla="val 83618"/>
            </a:avLst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6" idx="2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5591175" y="2590800"/>
            <a:ext cx="4367213" cy="3276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F7F7F"/>
            </a:solidFill>
            <a:prstDash val="dash"/>
            <a:tailEnd type="arrow" w="med" len="med"/>
          </a:ln>
        </p:spPr>
      </p:cxnSp>
      <p:sp>
        <p:nvSpPr>
          <p:cNvPr id="26" name="few-days-label">
            <a:extLst xmlns:a="http://schemas.openxmlformats.org/drawingml/2006/main">
              <a:ext uri="{FF2B5EF4-FFF2-40B4-BE49-F238E27FC236}">
                <a16:creationId xmlns:a16="http://schemas.microsoft.com/office/drawing/2014/main" id="{EA1D8A8B-1E43-403F-B72E-F5508785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F6000"/>
                </a:solidFill>
              </a:defRPr>
            </a:pPr>
            <a:r>
              <a:rPr sz="900" b="1">
                <a:solidFill>
                  <a:srgbClr val="7F6000"/>
                </a:solidFill>
              </a:rPr>
              <a:t>EVERY FEW DAYS</a:t>
            </a:r>
          </a:p>
        </p:txBody>
      </p:sp>
      <p:sp>
        <p:nvSpPr>
          <p:cNvPr id="27" name="yes-label">
            <a:extLst xmlns:a="http://schemas.openxmlformats.org/drawingml/2006/main">
              <a:ext uri="{FF2B5EF4-FFF2-40B4-BE49-F238E27FC236}">
                <a16:creationId xmlns:a16="http://schemas.microsoft.com/office/drawing/2014/main" id="{AE5ADFCC-978D-409D-AAB9-72D6101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62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YES</a:t>
            </a:r>
          </a:p>
        </p:txBody>
      </p:sp>
      <p:sp>
        <p:nvSpPr>
          <p:cNvPr id="28" name="no-label">
            <a:extLst xmlns:a="http://schemas.openxmlformats.org/drawingml/2006/main">
              <a:ext uri="{FF2B5EF4-FFF2-40B4-BE49-F238E27FC236}">
                <a16:creationId xmlns:a16="http://schemas.microsoft.com/office/drawing/2014/main" id="{22F33C39-15D0-4F0A-A38F-7F312E49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0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NO</a:t>
            </a:r>
          </a:p>
        </p:txBody>
      </p:sp>
      <p:sp>
        <p:nvSpPr>
          <p:cNvPr id="29" name="loop-label">
            <a:extLst xmlns:a="http://schemas.openxmlformats.org/drawingml/2006/main">
              <a:ext uri="{FF2B5EF4-FFF2-40B4-BE49-F238E27FC236}">
                <a16:creationId xmlns:a16="http://schemas.microsoft.com/office/drawing/2014/main" id="{08553A1C-042B-4BBA-A39B-A5086C32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1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666666"/>
                </a:solidFill>
              </a:defRPr>
            </a:pPr>
            <a:r>
              <a:rPr sz="900" i="1">
                <a:solidFill>
                  <a:srgbClr val="666666"/>
                </a:solidFill>
              </a:rPr>
              <a:t>Next scheduled RTC wake-up</a:t>
            </a:r>
          </a:p>
        </p:txBody>
      </p:sp>
      <p:sp>
        <p:nvSpPr>
          <p:cNvPr id="30" name="summary-callout">
            <a:extLst xmlns:a="http://schemas.openxmlformats.org/drawingml/2006/main">
              <a:ext uri="{FF2B5EF4-FFF2-40B4-BE49-F238E27FC236}">
                <a16:creationId xmlns:a16="http://schemas.microsoft.com/office/drawing/2014/main" id="{D81CDB97-530B-4BFA-AF76-7910111A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4000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1430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111"/>
                </a:solidFill>
              </a:defRPr>
            </a:pPr>
            <a:r>
              <a:rPr sz="1125">
                <a:solidFill>
                  <a:srgbClr val="111111"/>
                </a:solidFill>
              </a:rPr>
              <a:t>Harvest continuously; sense every minute; upload every few days</a:t>
            </a:r>
          </a:p>
        </p:txBody>
      </p:sp>
    </p:spTree>
    <p:extLst>
      <p:ext uri="{BB962C8B-B14F-4D97-AF65-F5344CB8AC3E}">
        <p14:creationId xmlns:p14="http://schemas.microsoft.com/office/powerpoint/2010/main" val="1683222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2026-07-19T11:14:34.6310000Z</dcterms:created>
  <dcterms:modified xsi:type="dcterms:W3CDTF">2026-07-19T11:14:34.6320000Z</dcterms:modified>
</coreProperties>
</file>