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61aff1e7544ef1" /><Relationship Type="http://schemas.openxmlformats.org/officeDocument/2006/relationships/extended-properties" Target="/docProps/app.xml" Id="Rde46b9e3391a4a9b" /><Relationship Type="http://schemas.openxmlformats.org/officeDocument/2006/relationships/officeDocument" Target="/ppt/presentation.xml" Id="R46ba1084616844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1df4e33cd04be5"/>
  </p:sldMasterIdLst>
  <p:notesMasterIdLst>
    <p:notesMasterId xmlns:r="http://schemas.openxmlformats.org/officeDocument/2006/relationships" r:id="Rcb74f3a8c73847c6"/>
  </p:notesMasterIdLst>
  <p:sldIdLst>
    <p:sldId xmlns:r="http://schemas.openxmlformats.org/officeDocument/2006/relationships" id="256" r:id="Rb81e1b851d554d4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a7d2d6425f49a3" /><Relationship Type="http://schemas.openxmlformats.org/officeDocument/2006/relationships/slideMaster" Target="/ppt/slideMasters/slideMaster1.xml" Id="R831df4e33cd04be5" /><Relationship Type="http://schemas.openxmlformats.org/officeDocument/2006/relationships/notesMaster" Target="/ppt/notesMasters/notesMaster1.xml" Id="Rcb74f3a8c73847c6" /><Relationship Type="http://schemas.openxmlformats.org/officeDocument/2006/relationships/presProps" Target="/ppt/presProps.xml" Id="Ra070f3d97fa44f9c" /><Relationship Type="http://schemas.openxmlformats.org/officeDocument/2006/relationships/tableStyles" Target="/ppt/tableStyles.xml" Id="R8a82b22506684d74" /><Relationship Type="http://schemas.openxmlformats.org/officeDocument/2006/relationships/slide" Target="/ppt/slides/slide1.xml" Id="Rb81e1b851d554d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8a67aa175240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6d5c61ebae45e2" /><Relationship Type="http://schemas.openxmlformats.org/officeDocument/2006/relationships/notesMaster" Target="/ppt/notesMasters/notesMaster1.xml" Id="R3a3f0baf03dc43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9923a065424d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6f37bb9b3d4cb4" /><Relationship Type="http://schemas.openxmlformats.org/officeDocument/2006/relationships/slideLayout" Target="/ppt/slideLayouts/slideLayout1.xml" Id="R40c1014d5f034a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c1014d5f034a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bed0e31024f2a" /><Relationship Type="http://schemas.openxmlformats.org/officeDocument/2006/relationships/notesSlide" Target="/ppt/notesSlides/notesSlide1.xml" Id="R4ed3399defb54a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left-rail">
            <a:extLst xmlns:a="http://schemas.openxmlformats.org/drawingml/2006/main">
              <a:ext uri="{FF2B5EF4-FFF2-40B4-BE49-F238E27FC236}">
                <a16:creationId xmlns:a16="http://schemas.microsoft.com/office/drawing/2014/main" id="{E96896DD-6772-45D3-BF44-9D2EF341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eft-rule">
            <a:extLst xmlns:a="http://schemas.openxmlformats.org/drawingml/2006/main">
              <a:ext uri="{FF2B5EF4-FFF2-40B4-BE49-F238E27FC236}">
                <a16:creationId xmlns:a16="http://schemas.microsoft.com/office/drawing/2014/main" id="{F7C96627-D81C-4A44-97B3-712CB6E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42875"/>
            <a:ext cx="0" cy="509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3A15C6E-7265-4E91-BFCD-EE842D0D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448425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1CB7E6A-89E6-4594-9350-2722FB3C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 i="1">
                <a:solidFill>
                  <a:srgbClr val="111111"/>
                </a:solidFill>
              </a:defRPr>
            </a:pPr>
            <a:r>
              <a:rPr sz="2175" b="1" i="1">
                <a:solidFill>
                  <a:srgbClr val="111111"/>
                </a:solidFill>
              </a:rPr>
              <a:t>System Operation Flowchart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8C9028EC-9C89-4AD1-9278-7E108AD1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5B5B"/>
            </a:solidFill>
            <a:prstDash val="solid"/>
          </a:ln>
        </p:spPr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D8451FF1-886D-4DDA-82CD-82AF634C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1-minute sensing cycle  |  Buffered LoRa upload every few days</a:t>
            </a:r>
          </a:p>
        </p:txBody>
      </p:sp>
      <p:sp>
        <p:nvSpPr>
          <p:cNvPr id="7" name="energy-label">
            <a:extLst xmlns:a="http://schemas.openxmlformats.org/drawingml/2006/main">
              <a:ext uri="{FF2B5EF4-FFF2-40B4-BE49-F238E27FC236}">
                <a16:creationId xmlns:a16="http://schemas.microsoft.com/office/drawing/2014/main" id="{BEB161C2-18CB-4DD1-B8EA-45F210EC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81050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48235"/>
                </a:solidFill>
              </a:defRPr>
            </a:pPr>
            <a:r>
              <a:rPr sz="900" b="1">
                <a:solidFill>
                  <a:srgbClr val="548235"/>
                </a:solidFill>
              </a:rPr>
              <a:t>ENERGY PATH</a:t>
            </a:r>
          </a:p>
        </p:txBody>
      </p:sp>
      <p:sp>
        <p:nvSpPr>
          <p:cNvPr id="8" name="teg">
            <a:extLst xmlns:a="http://schemas.openxmlformats.org/drawingml/2006/main">
              <a:ext uri="{FF2B5EF4-FFF2-40B4-BE49-F238E27FC236}">
                <a16:creationId xmlns:a16="http://schemas.microsoft.com/office/drawing/2014/main" id="{E2B2E033-3118-4D9C-B92C-3E946AFD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009650"/>
            <a:ext cx="12382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14288">
            <a:solidFill>
              <a:srgbClr val="54823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TEG Array</a:t>
            </a:r>
          </a:p>
        </p:txBody>
      </p:sp>
      <p:sp>
        <p:nvSpPr>
          <p:cNvPr id="9" name="pmic">
            <a:extLst xmlns:a="http://schemas.openxmlformats.org/drawingml/2006/main">
              <a:ext uri="{FF2B5EF4-FFF2-40B4-BE49-F238E27FC236}">
                <a16:creationId xmlns:a16="http://schemas.microsoft.com/office/drawing/2014/main" id="{8C15201B-A65F-422D-8350-085A99EF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009650"/>
            <a:ext cx="12382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14288">
            <a:solidFill>
              <a:srgbClr val="54823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LTC3108-1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PMIC</a:t>
            </a:r>
          </a:p>
        </p:txBody>
      </p:sp>
      <p:sp>
        <p:nvSpPr>
          <p:cNvPr id="10" name="storage">
            <a:extLst xmlns:a="http://schemas.openxmlformats.org/drawingml/2006/main">
              <a:ext uri="{FF2B5EF4-FFF2-40B4-BE49-F238E27FC236}">
                <a16:creationId xmlns:a16="http://schemas.microsoft.com/office/drawing/2014/main" id="{8CFA2615-C293-48E7-9CD3-C3D5A1D6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009650"/>
            <a:ext cx="15240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14288">
            <a:solidFill>
              <a:srgbClr val="54823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Supercapacitor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Energy Storage</a:t>
            </a:r>
          </a:p>
        </p:txBody>
      </p:sp>
      <p:sp>
        <p:nvSpPr>
          <p:cNvPr id="11" name="wake">
            <a:extLst xmlns:a="http://schemas.openxmlformats.org/drawingml/2006/main">
              <a:ext uri="{FF2B5EF4-FFF2-40B4-BE49-F238E27FC236}">
                <a16:creationId xmlns:a16="http://schemas.microsoft.com/office/drawing/2014/main" id="{B9AC1EAE-95B8-4461-AE0A-213DFB88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4287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14288">
            <a:solidFill>
              <a:srgbClr val="2F559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RTC Wake-Up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STM32WLE5</a:t>
            </a:r>
          </a:p>
        </p:txBody>
      </p:sp>
      <p:sp>
        <p:nvSpPr>
          <p:cNvPr id="12" name="energy-decision">
            <a:extLst xmlns:a="http://schemas.openxmlformats.org/drawingml/2006/main">
              <a:ext uri="{FF2B5EF4-FFF2-40B4-BE49-F238E27FC236}">
                <a16:creationId xmlns:a16="http://schemas.microsoft.com/office/drawing/2014/main" id="{DA4F6A59-5DB6-4B38-9269-4C48D389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676400"/>
            <a:ext cx="1524000" cy="857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14288">
            <a:solidFill>
              <a:srgbClr val="7F6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Stored Energy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Above Threshold?</a:t>
            </a:r>
          </a:p>
        </p:txBody>
      </p:sp>
      <p:sp>
        <p:nvSpPr>
          <p:cNvPr id="13" name="activity">
            <a:extLst xmlns:a="http://schemas.openxmlformats.org/drawingml/2006/main">
              <a:ext uri="{FF2B5EF4-FFF2-40B4-BE49-F238E27FC236}">
                <a16:creationId xmlns:a16="http://schemas.microsoft.com/office/drawing/2014/main" id="{42310198-7CC7-4B26-840B-C3C7D5A3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09750"/>
            <a:ext cx="147637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14288">
            <a:solidFill>
              <a:srgbClr val="4D4D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Read Activity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ADXL362</a:t>
            </a:r>
          </a:p>
        </p:txBody>
      </p:sp>
      <p:sp>
        <p:nvSpPr>
          <p:cNvPr id="14" name="gnss">
            <a:extLst xmlns:a="http://schemas.openxmlformats.org/drawingml/2006/main">
              <a:ext uri="{FF2B5EF4-FFF2-40B4-BE49-F238E27FC236}">
                <a16:creationId xmlns:a16="http://schemas.microsoft.com/office/drawing/2014/main" id="{E7FEB549-BD39-4AB9-B6A0-C31EB7ED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15716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14288">
            <a:solidFill>
              <a:srgbClr val="4D4D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Acquire GNSS Fix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LC76G</a:t>
            </a:r>
          </a:p>
        </p:txBody>
      </p:sp>
      <p:sp>
        <p:nvSpPr>
          <p:cNvPr id="15" name="fix-decision">
            <a:extLst xmlns:a="http://schemas.openxmlformats.org/drawingml/2006/main">
              <a:ext uri="{FF2B5EF4-FFF2-40B4-BE49-F238E27FC236}">
                <a16:creationId xmlns:a16="http://schemas.microsoft.com/office/drawing/2014/main" id="{2B6DB4F1-660F-48AC-B947-4FABE857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76400"/>
            <a:ext cx="1524000" cy="857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14288">
            <a:solidFill>
              <a:srgbClr val="7F6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Valid Fix Before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Timeout?</a:t>
            </a:r>
          </a:p>
        </p:txBody>
      </p:sp>
      <p:sp>
        <p:nvSpPr>
          <p:cNvPr id="16" name="record">
            <a:extLst xmlns:a="http://schemas.openxmlformats.org/drawingml/2006/main">
              <a:ext uri="{FF2B5EF4-FFF2-40B4-BE49-F238E27FC236}">
                <a16:creationId xmlns:a16="http://schemas.microsoft.com/office/drawing/2014/main" id="{7A5F448C-236F-44F5-9474-DA8BF806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809750"/>
            <a:ext cx="15240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14288">
            <a:solidFill>
              <a:srgbClr val="2F559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Process and Store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Timestamp + Activity + Position</a:t>
            </a:r>
          </a:p>
        </p:txBody>
      </p:sp>
      <p:sp>
        <p:nvSpPr>
          <p:cNvPr id="17" name="harvest-sleep">
            <a:extLst xmlns:a="http://schemas.openxmlformats.org/drawingml/2006/main">
              <a:ext uri="{FF2B5EF4-FFF2-40B4-BE49-F238E27FC236}">
                <a16:creationId xmlns:a16="http://schemas.microsoft.com/office/drawing/2014/main" id="{89B2C422-8665-4C97-A60E-D398FA58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52750"/>
            <a:ext cx="15240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7E6E6"/>
          </a:solidFill>
          <a:ln xmlns:a="http://schemas.openxmlformats.org/drawingml/2006/main" w="14288">
            <a:solidFill>
              <a:srgbClr val="4D4D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Remain in Stop 2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and Continue Harvesting</a:t>
            </a:r>
          </a:p>
        </p:txBody>
      </p:sp>
      <p:sp>
        <p:nvSpPr>
          <p:cNvPr id="18" name="timeout">
            <a:extLst xmlns:a="http://schemas.openxmlformats.org/drawingml/2006/main">
              <a:ext uri="{FF2B5EF4-FFF2-40B4-BE49-F238E27FC236}">
                <a16:creationId xmlns:a16="http://schemas.microsoft.com/office/drawing/2014/main" id="{4D42681D-B121-43E4-A247-16317DC3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52750"/>
            <a:ext cx="15240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14288">
            <a:solidFill>
              <a:srgbClr val="C659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Log GNSS Timeout</a:t>
            </a:r>
          </a:p>
          <a:p xmlns:a="http://schemas.openxmlformats.org/drawingml/2006/main"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Keep Previous Valid Position</a:t>
            </a:r>
          </a:p>
        </p:txBody>
      </p:sp>
      <p:sp>
        <p:nvSpPr>
          <p:cNvPr id="19" name="record-merge">
            <a:extLst xmlns:a="http://schemas.openxmlformats.org/drawingml/2006/main">
              <a:ext uri="{FF2B5EF4-FFF2-40B4-BE49-F238E27FC236}">
                <a16:creationId xmlns:a16="http://schemas.microsoft.com/office/drawing/2014/main" id="{DBBE8CD3-342D-41F7-B36C-8333721C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3457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B5B"/>
          </a:solidFill>
          <a:ln xmlns:a="http://schemas.openxmlformats.org/drawingml/2006/main" w="9525">
            <a:solidFill>
              <a:srgbClr val="5B5B5B"/>
            </a:solidFill>
            <a:prstDash val="solid"/>
          </a:ln>
        </p:spPr>
      </p:sp>
      <p:sp>
        <p:nvSpPr>
          <p:cNvPr id="20" name="upload-decision">
            <a:extLst xmlns:a="http://schemas.openxmlformats.org/drawingml/2006/main">
              <a:ext uri="{FF2B5EF4-FFF2-40B4-BE49-F238E27FC236}">
                <a16:creationId xmlns:a16="http://schemas.microsoft.com/office/drawing/2014/main" id="{D578B637-768E-475D-871B-3418A215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752850"/>
            <a:ext cx="1524000" cy="857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14288">
            <a:solidFill>
              <a:srgbClr val="7F6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Upload Interval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Reached?</a:t>
            </a:r>
          </a:p>
        </p:txBody>
      </p:sp>
      <p:sp>
        <p:nvSpPr>
          <p:cNvPr id="21" name="transmit">
            <a:extLst xmlns:a="http://schemas.openxmlformats.org/drawingml/2006/main">
              <a:ext uri="{FF2B5EF4-FFF2-40B4-BE49-F238E27FC236}">
                <a16:creationId xmlns:a16="http://schemas.microsoft.com/office/drawing/2014/main" id="{5257A016-832B-427F-A714-2114E8D4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86200"/>
            <a:ext cx="166687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D9E2F3"/>
          </a:solidFill>
          <a:ln xmlns:a="http://schemas.openxmlformats.org/drawingml/2006/main" w="14288">
            <a:solidFill>
              <a:srgbClr val="2F559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Transmit Buffered Data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Integrated LoRa</a:t>
            </a:r>
          </a:p>
        </p:txBody>
      </p:sp>
      <p:sp>
        <p:nvSpPr>
          <p:cNvPr id="22" name="ack-decision">
            <a:extLst xmlns:a="http://schemas.openxmlformats.org/drawingml/2006/main">
              <a:ext uri="{FF2B5EF4-FFF2-40B4-BE49-F238E27FC236}">
                <a16:creationId xmlns:a16="http://schemas.microsoft.com/office/drawing/2014/main" id="{FC41119A-DFA0-4F94-BF9A-EC970247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52850"/>
            <a:ext cx="1524000" cy="857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14288">
            <a:solidFill>
              <a:srgbClr val="7F6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ACK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Received?</a:t>
            </a:r>
          </a:p>
        </p:txBody>
      </p:sp>
      <p:sp>
        <p:nvSpPr>
          <p:cNvPr id="23" name="sleep">
            <a:extLst xmlns:a="http://schemas.openxmlformats.org/drawingml/2006/main">
              <a:ext uri="{FF2B5EF4-FFF2-40B4-BE49-F238E27FC236}">
                <a16:creationId xmlns:a16="http://schemas.microsoft.com/office/drawing/2014/main" id="{4B44EF91-EDCB-4F1E-B9DC-119AE8AE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219700"/>
            <a:ext cx="15240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7E6E6"/>
          </a:solidFill>
          <a:ln xmlns:a="http://schemas.openxmlformats.org/drawingml/2006/main" w="14288">
            <a:solidFill>
              <a:srgbClr val="4D4D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Return to Stop 2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RTC Keeps Time</a:t>
            </a:r>
          </a:p>
        </p:txBody>
      </p:sp>
      <p:sp>
        <p:nvSpPr>
          <p:cNvPr id="24" name="mark-sent">
            <a:extLst xmlns:a="http://schemas.openxmlformats.org/drawingml/2006/main">
              <a:ext uri="{FF2B5EF4-FFF2-40B4-BE49-F238E27FC236}">
                <a16:creationId xmlns:a16="http://schemas.microsoft.com/office/drawing/2014/main" id="{145CC88F-07D7-48C1-B076-C4135468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19700"/>
            <a:ext cx="15240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14288">
            <a:solidFill>
              <a:srgbClr val="54823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Mark Records Sent</a:t>
            </a:r>
          </a:p>
        </p:txBody>
      </p:sp>
      <p:sp>
        <p:nvSpPr>
          <p:cNvPr id="25" name="retain">
            <a:extLst xmlns:a="http://schemas.openxmlformats.org/drawingml/2006/main">
              <a:ext uri="{FF2B5EF4-FFF2-40B4-BE49-F238E27FC236}">
                <a16:creationId xmlns:a16="http://schemas.microsoft.com/office/drawing/2014/main" id="{74561385-B79F-4580-A644-F411AD93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19700"/>
            <a:ext cx="1666875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14288">
            <a:solidFill>
              <a:srgbClr val="C659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Retain Buffer</a:t>
            </a:r>
          </a:p>
          <a:p xmlns:a="http://schemas.openxmlformats.org/drawingml/2006/main"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Retry Next Upload Window</a:t>
            </a:r>
          </a:p>
        </p:txBody>
      </p:sp>
      <p:cxnSp>
        <p:nvCxnSpPr>
          <p:cNvPr id="8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267700" y="12287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8235"/>
            </a:solidFill>
            <a:prstDash val="solid"/>
            <a:tailEnd type="arrow" w="med" len="med"/>
          </a:ln>
        </p:spPr>
      </p:cxnSp>
      <p:cxnSp>
        <p:nvCxnSpPr>
          <p:cNvPr id="8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734550" y="12287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8235"/>
            </a:solidFill>
            <a:prstDash val="solid"/>
            <a:tailEnd type="arrow" w="med" len="med"/>
          </a:ln>
        </p:spPr>
      </p:cxnSp>
      <p:cxnSp>
        <p:nvCxnSpPr>
          <p:cNvPr id="84" name=""/>
          <p:cNvCxnSpPr>
            <a:stCxn xmlns:a="http://schemas.openxmlformats.org/drawingml/2006/main" id="11" idx="6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095500" y="21050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85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076700" y="21050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86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972175" y="21050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87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953375" y="21050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88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886950" y="21050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89" name=""/>
          <p:cNvCxnSpPr>
            <a:stCxn xmlns:a="http://schemas.openxmlformats.org/drawingml/2006/main" id="12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3314700" y="253365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90" name=""/>
          <p:cNvCxnSpPr>
            <a:stCxn xmlns:a="http://schemas.openxmlformats.org/drawingml/2006/main" id="15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9124950" y="253365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91" name=""/>
          <p:cNvCxnSpPr>
            <a:stCxn xmlns:a="http://schemas.openxmlformats.org/drawingml/2006/main" id="16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0991850" y="2400300"/>
            <a:ext cx="0" cy="1057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92" name=""/>
          <p:cNvCxnSpPr>
            <a:stCxn xmlns:a="http://schemas.openxmlformats.org/drawingml/2006/main" id="18" idx="3"/>
            <a:endCxn xmlns:a="http://schemas.openxmlformats.org/drawingml/2006/main" id="19" idx="2"/>
          </p:cNvCxnSpPr>
          <p:nvPr/>
        </p:nvCxnSpPr>
        <p:spPr>
          <a:xfrm xmlns:a="http://schemas.openxmlformats.org/drawingml/2006/main">
            <a:off x="9886950" y="3238500"/>
            <a:ext cx="1057275" cy="266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93" name=""/>
          <p:cNvCxnSpPr>
            <a:stCxn xmlns:a="http://schemas.openxmlformats.org/drawingml/2006/main" id="19" idx="4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10991850" y="3552825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94" name=""/>
          <p:cNvCxnSpPr>
            <a:stCxn xmlns:a="http://schemas.openxmlformats.org/drawingml/2006/main" id="20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9667875" y="4181475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95" name=""/>
          <p:cNvCxnSpPr>
            <a:stCxn xmlns:a="http://schemas.openxmlformats.org/drawingml/2006/main" id="21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7429500" y="41814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96" name=""/>
          <p:cNvCxnSpPr>
            <a:stCxn xmlns:a="http://schemas.openxmlformats.org/drawingml/2006/main" id="20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0991850" y="4610100"/>
            <a:ext cx="0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97" name=""/>
          <p:cNvCxnSpPr>
            <a:stCxn xmlns:a="http://schemas.openxmlformats.org/drawingml/2006/main" id="22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6667500" y="4610100"/>
            <a:ext cx="0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98" name=""/>
          <p:cNvCxnSpPr>
            <a:stCxn xmlns:a="http://schemas.openxmlformats.org/drawingml/2006/main" id="22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6667500" y="4610100"/>
            <a:ext cx="2166938" cy="609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99" name=""/>
          <p:cNvCxnSpPr>
            <a:stCxn xmlns:a="http://schemas.openxmlformats.org/drawingml/2006/main" id="24" idx="2"/>
            <a:endCxn xmlns:a="http://schemas.openxmlformats.org/drawingml/2006/main" id="23" idx="2"/>
          </p:cNvCxnSpPr>
          <p:nvPr/>
        </p:nvCxnSpPr>
        <p:spPr>
          <a:xfrm xmlns:a="http://schemas.openxmlformats.org/drawingml/2006/main">
            <a:off x="6667500" y="5791200"/>
            <a:ext cx="4324350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100" name=""/>
          <p:cNvCxnSpPr>
            <a:stCxn xmlns:a="http://schemas.openxmlformats.org/drawingml/2006/main" id="25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667875" y="550545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101" name=""/>
          <p:cNvCxnSpPr>
            <a:stCxn xmlns:a="http://schemas.openxmlformats.org/drawingml/2006/main" id="17" idx="1"/>
            <a:endCxn xmlns:a="http://schemas.openxmlformats.org/drawingml/2006/main" id="11" idx="4"/>
          </p:cNvCxnSpPr>
          <p:nvPr/>
        </p:nvCxnSpPr>
        <p:spPr>
          <a:xfrm xmlns:a="http://schemas.openxmlformats.org/drawingml/2006/main" flipH="1" flipV="1">
            <a:off x="1381125" y="2400300"/>
            <a:ext cx="1171575" cy="83820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7F7F7F"/>
            </a:solidFill>
            <a:prstDash val="dash"/>
            <a:tailEnd type="arrow" w="med" len="med"/>
          </a:ln>
        </p:spPr>
      </p:cxnSp>
      <p:cxnSp>
        <p:nvCxnSpPr>
          <p:cNvPr id="102" name=""/>
          <p:cNvCxnSpPr>
            <a:stCxn xmlns:a="http://schemas.openxmlformats.org/drawingml/2006/main" id="23" idx="1"/>
            <a:endCxn xmlns:a="http://schemas.openxmlformats.org/drawingml/2006/main" id="11" idx="4"/>
          </p:cNvCxnSpPr>
          <p:nvPr/>
        </p:nvCxnSpPr>
        <p:spPr>
          <a:xfrm xmlns:a="http://schemas.openxmlformats.org/drawingml/2006/main" flipH="1" flipV="1">
            <a:off x="1381125" y="2400300"/>
            <a:ext cx="8848725" cy="3105150"/>
          </a:xfrm>
          <a:prstGeom xmlns:a="http://schemas.openxmlformats.org/drawingml/2006/main" prst="bentConnector4">
            <a:avLst>
              <a:gd name="adj1" fmla="val 2583"/>
              <a:gd name="adj2" fmla="val 14110"/>
            </a:avLst>
          </a:prstGeom>
          <a:ln xmlns:a="http://schemas.openxmlformats.org/drawingml/2006/main" w="19050">
            <a:solidFill>
              <a:srgbClr val="7F7F7F"/>
            </a:solidFill>
            <a:prstDash val="dash"/>
            <a:tailEnd type="arrow" w="med" len="med"/>
          </a:ln>
        </p:spPr>
      </p:cxnSp>
      <p:sp>
        <p:nvSpPr>
          <p:cNvPr id="47" name="energy-note">
            <a:extLst xmlns:a="http://schemas.openxmlformats.org/drawingml/2006/main">
              <a:ext uri="{FF2B5EF4-FFF2-40B4-BE49-F238E27FC236}">
                <a16:creationId xmlns:a16="http://schemas.microsoft.com/office/drawing/2014/main" id="{59DEBDFD-1FA6-494F-8A66-F5186B72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4382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i="1">
                <a:solidFill>
                  <a:srgbClr val="548235"/>
                </a:solidFill>
              </a:defRPr>
            </a:pPr>
            <a:r>
              <a:rPr sz="825" i="1">
                <a:solidFill>
                  <a:srgbClr val="548235"/>
                </a:solidFill>
              </a:rPr>
              <a:t>Continuous charging</a:t>
            </a:r>
          </a:p>
        </p:txBody>
      </p:sp>
      <p:sp>
        <p:nvSpPr>
          <p:cNvPr id="48" name="energy-yes">
            <a:extLst xmlns:a="http://schemas.openxmlformats.org/drawingml/2006/main">
              <a:ext uri="{FF2B5EF4-FFF2-40B4-BE49-F238E27FC236}">
                <a16:creationId xmlns:a16="http://schemas.microsoft.com/office/drawing/2014/main" id="{5F9D9477-1F81-46F2-855C-4C3EF2AC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809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48235"/>
                </a:solidFill>
              </a:defRPr>
            </a:pPr>
            <a:r>
              <a:rPr sz="825" b="1">
                <a:solidFill>
                  <a:srgbClr val="548235"/>
                </a:solidFill>
              </a:rPr>
              <a:t>YES</a:t>
            </a:r>
          </a:p>
        </p:txBody>
      </p:sp>
      <p:sp>
        <p:nvSpPr>
          <p:cNvPr id="49" name="energy-no">
            <a:extLst xmlns:a="http://schemas.openxmlformats.org/drawingml/2006/main">
              <a:ext uri="{FF2B5EF4-FFF2-40B4-BE49-F238E27FC236}">
                <a16:creationId xmlns:a16="http://schemas.microsoft.com/office/drawing/2014/main" id="{8AA777D5-D7EE-4A2B-9DE3-DBA64901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1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65911"/>
                </a:solidFill>
              </a:defRPr>
            </a:pPr>
            <a:r>
              <a:rPr sz="825" b="1">
                <a:solidFill>
                  <a:srgbClr val="C65911"/>
                </a:solidFill>
              </a:rPr>
              <a:t>NO</a:t>
            </a:r>
          </a:p>
        </p:txBody>
      </p:sp>
      <p:sp>
        <p:nvSpPr>
          <p:cNvPr id="50" name="fix-yes">
            <a:extLst xmlns:a="http://schemas.openxmlformats.org/drawingml/2006/main">
              <a:ext uri="{FF2B5EF4-FFF2-40B4-BE49-F238E27FC236}">
                <a16:creationId xmlns:a16="http://schemas.microsoft.com/office/drawing/2014/main" id="{299A15D2-F41D-4C45-AF5B-EF63ED5A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809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48235"/>
                </a:solidFill>
              </a:defRPr>
            </a:pPr>
            <a:r>
              <a:rPr sz="825" b="1">
                <a:solidFill>
                  <a:srgbClr val="548235"/>
                </a:solidFill>
              </a:rPr>
              <a:t>YES</a:t>
            </a:r>
          </a:p>
        </p:txBody>
      </p:sp>
      <p:sp>
        <p:nvSpPr>
          <p:cNvPr id="51" name="fix-no">
            <a:extLst xmlns:a="http://schemas.openxmlformats.org/drawingml/2006/main">
              <a:ext uri="{FF2B5EF4-FFF2-40B4-BE49-F238E27FC236}">
                <a16:creationId xmlns:a16="http://schemas.microsoft.com/office/drawing/2014/main" id="{618717F3-6C52-4F3F-837E-3D5DF0C3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1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65911"/>
                </a:solidFill>
              </a:defRPr>
            </a:pPr>
            <a:r>
              <a:rPr sz="825" b="1">
                <a:solidFill>
                  <a:srgbClr val="C65911"/>
                </a:solidFill>
              </a:rPr>
              <a:t>NO</a:t>
            </a:r>
          </a:p>
        </p:txBody>
      </p:sp>
      <p:sp>
        <p:nvSpPr>
          <p:cNvPr id="52" name="upload-yes">
            <a:extLst xmlns:a="http://schemas.openxmlformats.org/drawingml/2006/main">
              <a:ext uri="{FF2B5EF4-FFF2-40B4-BE49-F238E27FC236}">
                <a16:creationId xmlns:a16="http://schemas.microsoft.com/office/drawing/2014/main" id="{8E8D8C62-B91E-4ED9-9FBC-1E7345E7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9052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48235"/>
                </a:solidFill>
              </a:defRPr>
            </a:pPr>
            <a:r>
              <a:rPr sz="825" b="1">
                <a:solidFill>
                  <a:srgbClr val="548235"/>
                </a:solidFill>
              </a:rPr>
              <a:t>YES</a:t>
            </a:r>
          </a:p>
        </p:txBody>
      </p:sp>
      <p:sp>
        <p:nvSpPr>
          <p:cNvPr id="53" name="upload-no">
            <a:extLst xmlns:a="http://schemas.openxmlformats.org/drawingml/2006/main">
              <a:ext uri="{FF2B5EF4-FFF2-40B4-BE49-F238E27FC236}">
                <a16:creationId xmlns:a16="http://schemas.microsoft.com/office/drawing/2014/main" id="{D7A9AC50-4F5E-45CA-9E2A-DEB642E1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7053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65911"/>
                </a:solidFill>
              </a:defRPr>
            </a:pPr>
            <a:r>
              <a:rPr sz="825" b="1">
                <a:solidFill>
                  <a:srgbClr val="C65911"/>
                </a:solidFill>
              </a:rPr>
              <a:t>NO</a:t>
            </a:r>
          </a:p>
        </p:txBody>
      </p:sp>
      <p:sp>
        <p:nvSpPr>
          <p:cNvPr id="54" name="ack-yes">
            <a:extLst xmlns:a="http://schemas.openxmlformats.org/drawingml/2006/main">
              <a:ext uri="{FF2B5EF4-FFF2-40B4-BE49-F238E27FC236}">
                <a16:creationId xmlns:a16="http://schemas.microsoft.com/office/drawing/2014/main" id="{79C5ED96-B4B0-4C01-BA31-AB8F93F8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625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48235"/>
                </a:solidFill>
              </a:defRPr>
            </a:pPr>
            <a:r>
              <a:rPr sz="825" b="1">
                <a:solidFill>
                  <a:srgbClr val="548235"/>
                </a:solidFill>
              </a:rPr>
              <a:t>YES</a:t>
            </a:r>
          </a:p>
        </p:txBody>
      </p:sp>
      <p:sp>
        <p:nvSpPr>
          <p:cNvPr id="55" name="ack-no">
            <a:extLst xmlns:a="http://schemas.openxmlformats.org/drawingml/2006/main">
              <a:ext uri="{FF2B5EF4-FFF2-40B4-BE49-F238E27FC236}">
                <a16:creationId xmlns:a16="http://schemas.microsoft.com/office/drawing/2014/main" id="{A379BED5-BC4B-46F2-B25C-523A9DC9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625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65911"/>
                </a:solidFill>
              </a:defRPr>
            </a:pPr>
            <a:r>
              <a:rPr sz="825" b="1">
                <a:solidFill>
                  <a:srgbClr val="C65911"/>
                </a:solidFill>
              </a:rPr>
              <a:t>NO</a:t>
            </a:r>
          </a:p>
        </p:txBody>
      </p:sp>
      <p:sp>
        <p:nvSpPr>
          <p:cNvPr id="56" name="loop-note">
            <a:extLst xmlns:a="http://schemas.openxmlformats.org/drawingml/2006/main">
              <a:ext uri="{FF2B5EF4-FFF2-40B4-BE49-F238E27FC236}">
                <a16:creationId xmlns:a16="http://schemas.microsoft.com/office/drawing/2014/main" id="{8FB4B047-CA04-4CB4-A557-3A181E21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531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i="1">
                <a:solidFill>
                  <a:srgbClr val="666666"/>
                </a:solidFill>
              </a:defRPr>
            </a:pPr>
            <a:r>
              <a:rPr sz="900" i="1">
                <a:solidFill>
                  <a:srgbClr val="666666"/>
                </a:solidFill>
              </a:rPr>
              <a:t>Dashed arrows indicate the next scheduled RTC wake-up</a:t>
            </a:r>
          </a:p>
        </p:txBody>
      </p:sp>
    </p:spTree>
    <p:extLst>
      <p:ext uri="{BB962C8B-B14F-4D97-AF65-F5344CB8AC3E}">
        <p14:creationId xmlns:p14="http://schemas.microsoft.com/office/powerpoint/2010/main" val="2977248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2026-07-19T10:47:01.3850000Z</dcterms:created>
  <dcterms:modified xsi:type="dcterms:W3CDTF">2026-07-19T10:47:01.3850000Z</dcterms:modified>
</coreProperties>
</file>