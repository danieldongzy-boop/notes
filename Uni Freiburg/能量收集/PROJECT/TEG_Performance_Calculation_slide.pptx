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677dc051dec400b" /><Relationship Type="http://schemas.openxmlformats.org/officeDocument/2006/relationships/extended-properties" Target="/docProps/app.xml" Id="R1a6a0d26e4ae4337" /><Relationship Type="http://schemas.openxmlformats.org/officeDocument/2006/relationships/officeDocument" Target="/ppt/presentation.xml" Id="R16d79efeb2224da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13727f582314b51"/>
  </p:sldMasterIdLst>
  <p:notesMasterIdLst>
    <p:notesMasterId xmlns:r="http://schemas.openxmlformats.org/officeDocument/2006/relationships" r:id="Rb2e77fa616d04d5c"/>
  </p:notesMasterIdLst>
  <p:sldIdLst>
    <p:sldId xmlns:r="http://schemas.openxmlformats.org/officeDocument/2006/relationships" id="256" r:id="Read8d0ec1f5f434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ae24685c0e2454d" /><Relationship Type="http://schemas.openxmlformats.org/officeDocument/2006/relationships/slideMaster" Target="/ppt/slideMasters/slideMaster1.xml" Id="R813727f582314b51" /><Relationship Type="http://schemas.openxmlformats.org/officeDocument/2006/relationships/notesMaster" Target="/ppt/notesMasters/notesMaster1.xml" Id="Rb2e77fa616d04d5c" /><Relationship Type="http://schemas.openxmlformats.org/officeDocument/2006/relationships/presProps" Target="/ppt/presProps.xml" Id="R6ed834b175a14fc0" /><Relationship Type="http://schemas.openxmlformats.org/officeDocument/2006/relationships/tableStyles" Target="/ppt/tableStyles.xml" Id="R24b5592d8d3f49dc" /><Relationship Type="http://schemas.openxmlformats.org/officeDocument/2006/relationships/slide" Target="/ppt/slides/slide1.xml" Id="Read8d0ec1f5f434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44f187d5bf84a0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89ebce8a77443eb" /><Relationship Type="http://schemas.openxmlformats.org/officeDocument/2006/relationships/notesMaster" Target="/ppt/notesMasters/notesMaster1.xml" Id="Re9bee42744cf488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ed0dc8a81b430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2c6f93362844963" /><Relationship Type="http://schemas.openxmlformats.org/officeDocument/2006/relationships/slideLayout" Target="/ppt/slideLayouts/slideLayout1.xml" Id="Rec069944ab254e2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c069944ab254e2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018d2b355c4aae" /><Relationship Type="http://schemas.openxmlformats.org/officeDocument/2006/relationships/notesSlide" Target="/ppt/notesSlides/notesSlide1.xml" Id="R1917feca53ae460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left-rail">
            <a:extLst xmlns:a="http://schemas.openxmlformats.org/drawingml/2006/main">
              <a:ext uri="{FF2B5EF4-FFF2-40B4-BE49-F238E27FC236}">
                <a16:creationId xmlns:a16="http://schemas.microsoft.com/office/drawing/2014/main" id="{0E3D3CB6-ADBF-4700-8F9F-B50A5FB76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left-rule">
            <a:extLst xmlns:a="http://schemas.openxmlformats.org/drawingml/2006/main">
              <a:ext uri="{FF2B5EF4-FFF2-40B4-BE49-F238E27FC236}">
                <a16:creationId xmlns:a16="http://schemas.microsoft.com/office/drawing/2014/main" id="{A3152F51-F378-4D12-A54D-3E9D77CBB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142875"/>
            <a:ext cx="0" cy="5095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3F6DCDF1-66F9-48E4-93EB-4B6F3AB31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6448425"/>
            <a:ext cx="619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FE844D8-48F2-49A9-A190-0EC3886F5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175" b="1" i="1">
                <a:solidFill>
                  <a:srgbClr val="111111"/>
                </a:solidFill>
              </a:defRPr>
            </a:pPr>
            <a:r>
              <a:rPr sz="2175" b="1" i="1">
                <a:solidFill>
                  <a:srgbClr val="111111"/>
                </a:solidFill>
              </a:rPr>
              <a:t>TEG Performance at a 5 K Thermal Gradient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72F0D694-FD3D-4407-8155-DF55A2232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14375"/>
            <a:ext cx="857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B5B5B"/>
            </a:solidFill>
            <a:prstDash val="solid"/>
          </a:ln>
        </p:spPr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794E189C-BA84-4A44-B4E0-4FB70812D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096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55555"/>
                </a:solidFill>
              </a:defRPr>
            </a:pPr>
            <a:r>
              <a:rPr sz="1125">
                <a:solidFill>
                  <a:srgbClr val="555555"/>
                </a:solidFill>
              </a:rPr>
              <a:t>1MD06-097-05 TEG  |  97 thermocouples  |  Optimal electrical load matching</a:t>
            </a:r>
          </a:p>
        </p:txBody>
      </p:sp>
      <p:sp>
        <p:nvSpPr>
          <p:cNvPr id="7" name="single-heading">
            <a:extLst xmlns:a="http://schemas.openxmlformats.org/drawingml/2006/main">
              <a:ext uri="{FF2B5EF4-FFF2-40B4-BE49-F238E27FC236}">
                <a16:creationId xmlns:a16="http://schemas.microsoft.com/office/drawing/2014/main" id="{836F69D0-F8AB-41C5-AEF6-66AF9A6FE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382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Single TEG</a:t>
            </a:r>
          </a:p>
        </p:txBody>
      </p:sp>
      <p:sp>
        <p:nvSpPr>
          <p:cNvPr id="8" name="single-context">
            <a:extLst xmlns:a="http://schemas.openxmlformats.org/drawingml/2006/main">
              <a:ext uri="{FF2B5EF4-FFF2-40B4-BE49-F238E27FC236}">
                <a16:creationId xmlns:a16="http://schemas.microsoft.com/office/drawing/2014/main" id="{FEEBA826-754C-4DFC-8910-09EB1A92E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2573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555555"/>
                </a:solidFill>
              </a:defRPr>
            </a:pPr>
            <a:r>
              <a:rPr sz="1125">
                <a:solidFill>
                  <a:srgbClr val="555555"/>
                </a:solidFill>
              </a:rPr>
              <a:t>ΔT = 5 K  |  R_eff = 1.15 × ACR</a:t>
            </a:r>
          </a:p>
        </p:txBody>
      </p:sp>
      <p:sp>
        <p:nvSpPr>
          <p:cNvPr id="9" name="array-heading">
            <a:extLst xmlns:a="http://schemas.openxmlformats.org/drawingml/2006/main">
              <a:ext uri="{FF2B5EF4-FFF2-40B4-BE49-F238E27FC236}">
                <a16:creationId xmlns:a16="http://schemas.microsoft.com/office/drawing/2014/main" id="{ECEB01C2-168E-46C1-9DC2-C0604032E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238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Five TEGs in Series</a:t>
            </a:r>
          </a:p>
        </p:txBody>
      </p:sp>
      <p:sp>
        <p:nvSpPr>
          <p:cNvPr id="10" name="array-context">
            <a:extLst xmlns:a="http://schemas.openxmlformats.org/drawingml/2006/main">
              <a:ext uri="{FF2B5EF4-FFF2-40B4-BE49-F238E27FC236}">
                <a16:creationId xmlns:a16="http://schemas.microsoft.com/office/drawing/2014/main" id="{C917BB47-39E5-4360-9675-E6E3F3272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2573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555555"/>
                </a:solidFill>
              </a:defRPr>
            </a:pPr>
            <a:r>
              <a:rPr sz="1125">
                <a:solidFill>
                  <a:srgbClr val="555555"/>
                </a:solidFill>
              </a:rPr>
              <a:t>Voltage scales 5×</a:t>
            </a:r>
          </a:p>
        </p:txBody>
      </p:sp>
      <p:sp>
        <p:nvSpPr>
          <p:cNvPr id="11" name="column-divider">
            <a:extLst xmlns:a="http://schemas.openxmlformats.org/drawingml/2006/main">
              <a:ext uri="{FF2B5EF4-FFF2-40B4-BE49-F238E27FC236}">
                <a16:creationId xmlns:a16="http://schemas.microsoft.com/office/drawing/2014/main" id="{52BABB74-2657-4E26-8655-2E763D7DE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238250"/>
            <a:ext cx="0" cy="373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FBFBF"/>
            </a:solidFill>
            <a:prstDash val="solid"/>
          </a:ln>
        </p:spPr>
      </p:sp>
      <p:sp>
        <p:nvSpPr>
          <p:cNvPr id="12" name="single-1-rule">
            <a:extLst xmlns:a="http://schemas.openxmlformats.org/drawingml/2006/main">
              <a:ext uri="{FF2B5EF4-FFF2-40B4-BE49-F238E27FC236}">
                <a16:creationId xmlns:a16="http://schemas.microsoft.com/office/drawing/2014/main" id="{2B21DA7B-76EA-4C37-B23E-412BDD4AA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47900"/>
            <a:ext cx="504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3" name="single-1-formula">
            <a:extLst xmlns:a="http://schemas.openxmlformats.org/drawingml/2006/main">
              <a:ext uri="{FF2B5EF4-FFF2-40B4-BE49-F238E27FC236}">
                <a16:creationId xmlns:a16="http://schemas.microsoft.com/office/drawing/2014/main" id="{E0503A48-8104-4EB1-BCB9-3C12DC406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36671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22222"/>
                </a:solidFill>
              </a:defRPr>
            </a:pPr>
            <a:r>
              <a:rPr sz="1200">
                <a:solidFill>
                  <a:srgbClr val="222222"/>
                </a:solidFill>
              </a:rPr>
              <a:t>α_TEG = N × 0.4 mV/K</a:t>
            </a:r>
          </a:p>
          <a:p xmlns:a="http://schemas.openxmlformats.org/drawingml/2006/main">
            <a:pPr>
              <a:defRPr sz="1200">
                <a:solidFill>
                  <a:srgbClr val="222222"/>
                </a:solidFill>
              </a:defRPr>
            </a:pPr>
            <a:r>
              <a:rPr sz="1200">
                <a:solidFill>
                  <a:srgbClr val="222222"/>
                </a:solidFill>
              </a:rPr>
              <a:t>= 97 × 0.4 mV/K</a:t>
            </a:r>
          </a:p>
        </p:txBody>
      </p:sp>
      <p:sp>
        <p:nvSpPr>
          <p:cNvPr id="14" name="single-1-result">
            <a:extLst xmlns:a="http://schemas.openxmlformats.org/drawingml/2006/main">
              <a:ext uri="{FF2B5EF4-FFF2-40B4-BE49-F238E27FC236}">
                <a16:creationId xmlns:a16="http://schemas.microsoft.com/office/drawing/2014/main" id="{EF2FDB80-2B1E-4642-A7CA-84E5F85DF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600200"/>
            <a:ext cx="1219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2F5597"/>
                </a:solidFill>
              </a:defRPr>
            </a:pPr>
            <a:r>
              <a:rPr sz="1425" b="1">
                <a:solidFill>
                  <a:srgbClr val="2F5597"/>
                </a:solidFill>
              </a:rPr>
              <a:t>38.8 mV/K</a:t>
            </a:r>
          </a:p>
        </p:txBody>
      </p:sp>
      <p:sp>
        <p:nvSpPr>
          <p:cNvPr id="15" name="single-2-rule">
            <a:extLst xmlns:a="http://schemas.openxmlformats.org/drawingml/2006/main">
              <a:ext uri="{FF2B5EF4-FFF2-40B4-BE49-F238E27FC236}">
                <a16:creationId xmlns:a16="http://schemas.microsoft.com/office/drawing/2014/main" id="{DEB876F9-B104-408D-A4B9-111A60A65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95600"/>
            <a:ext cx="504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6" name="single-2-formula">
            <a:extLst xmlns:a="http://schemas.openxmlformats.org/drawingml/2006/main">
              <a:ext uri="{FF2B5EF4-FFF2-40B4-BE49-F238E27FC236}">
                <a16:creationId xmlns:a16="http://schemas.microsoft.com/office/drawing/2014/main" id="{A4314204-F96B-4CC4-AA85-8665C213F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36671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22222"/>
                </a:solidFill>
              </a:defRPr>
            </a:pPr>
            <a:r>
              <a:rPr sz="1200">
                <a:solidFill>
                  <a:srgbClr val="222222"/>
                </a:solidFill>
              </a:rPr>
              <a:t>V_oc = α_TEG × ΔT</a:t>
            </a:r>
          </a:p>
          <a:p xmlns:a="http://schemas.openxmlformats.org/drawingml/2006/main">
            <a:pPr>
              <a:defRPr sz="1200">
                <a:solidFill>
                  <a:srgbClr val="222222"/>
                </a:solidFill>
              </a:defRPr>
            </a:pPr>
            <a:r>
              <a:rPr sz="1200">
                <a:solidFill>
                  <a:srgbClr val="222222"/>
                </a:solidFill>
              </a:rPr>
              <a:t>= 38.8 mV/K × 5 K</a:t>
            </a:r>
          </a:p>
        </p:txBody>
      </p:sp>
      <p:sp>
        <p:nvSpPr>
          <p:cNvPr id="17" name="single-2-result">
            <a:extLst xmlns:a="http://schemas.openxmlformats.org/drawingml/2006/main">
              <a:ext uri="{FF2B5EF4-FFF2-40B4-BE49-F238E27FC236}">
                <a16:creationId xmlns:a16="http://schemas.microsoft.com/office/drawing/2014/main" id="{3ADAAB5D-D596-425F-8AAA-935D15A37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247900"/>
            <a:ext cx="1219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2F5597"/>
                </a:solidFill>
              </a:defRPr>
            </a:pPr>
            <a:r>
              <a:rPr sz="1425" b="1">
                <a:solidFill>
                  <a:srgbClr val="2F5597"/>
                </a:solidFill>
              </a:rPr>
              <a:t>194 mV</a:t>
            </a:r>
          </a:p>
        </p:txBody>
      </p:sp>
      <p:sp>
        <p:nvSpPr>
          <p:cNvPr id="18" name="single-3-rule">
            <a:extLst xmlns:a="http://schemas.openxmlformats.org/drawingml/2006/main">
              <a:ext uri="{FF2B5EF4-FFF2-40B4-BE49-F238E27FC236}">
                <a16:creationId xmlns:a16="http://schemas.microsoft.com/office/drawing/2014/main" id="{8EEACFE1-F881-4788-AA55-9FFD2EF1F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504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9" name="single-3-formula">
            <a:extLst xmlns:a="http://schemas.openxmlformats.org/drawingml/2006/main">
              <a:ext uri="{FF2B5EF4-FFF2-40B4-BE49-F238E27FC236}">
                <a16:creationId xmlns:a16="http://schemas.microsoft.com/office/drawing/2014/main" id="{E277E603-410A-401D-AF9B-891BDA97B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95600"/>
            <a:ext cx="36671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22222"/>
                </a:solidFill>
              </a:defRPr>
            </a:pPr>
            <a:r>
              <a:rPr sz="1200">
                <a:solidFill>
                  <a:srgbClr val="222222"/>
                </a:solidFill>
              </a:rPr>
              <a:t>R_eff ≈ 1.15 × (97 × 0.0288 Ω)</a:t>
            </a:r>
          </a:p>
        </p:txBody>
      </p:sp>
      <p:sp>
        <p:nvSpPr>
          <p:cNvPr id="20" name="single-3-result">
            <a:extLst xmlns:a="http://schemas.openxmlformats.org/drawingml/2006/main">
              <a:ext uri="{FF2B5EF4-FFF2-40B4-BE49-F238E27FC236}">
                <a16:creationId xmlns:a16="http://schemas.microsoft.com/office/drawing/2014/main" id="{B4C50A42-3E6A-44C2-923F-628923E60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95600"/>
            <a:ext cx="1219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2F5597"/>
                </a:solidFill>
              </a:defRPr>
            </a:pPr>
            <a:r>
              <a:rPr sz="1425" b="1">
                <a:solidFill>
                  <a:srgbClr val="2F5597"/>
                </a:solidFill>
              </a:rPr>
              <a:t>3.21 Ω</a:t>
            </a:r>
          </a:p>
        </p:txBody>
      </p:sp>
      <p:sp>
        <p:nvSpPr>
          <p:cNvPr id="21" name="single-4-rule">
            <a:extLst xmlns:a="http://schemas.openxmlformats.org/drawingml/2006/main">
              <a:ext uri="{FF2B5EF4-FFF2-40B4-BE49-F238E27FC236}">
                <a16:creationId xmlns:a16="http://schemas.microsoft.com/office/drawing/2014/main" id="{4B533A1A-B705-44D3-9006-2FA83F2AC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91000"/>
            <a:ext cx="504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2" name="single-4-formula">
            <a:extLst xmlns:a="http://schemas.openxmlformats.org/drawingml/2006/main">
              <a:ext uri="{FF2B5EF4-FFF2-40B4-BE49-F238E27FC236}">
                <a16:creationId xmlns:a16="http://schemas.microsoft.com/office/drawing/2014/main" id="{86158713-AB4A-41B6-978B-999AF565E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36671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22222"/>
                </a:solidFill>
              </a:defRPr>
            </a:pPr>
            <a:r>
              <a:rPr sz="1200">
                <a:solidFill>
                  <a:srgbClr val="222222"/>
                </a:solidFill>
              </a:rPr>
              <a:t>V_load = V_oc / 2</a:t>
            </a:r>
          </a:p>
        </p:txBody>
      </p:sp>
      <p:sp>
        <p:nvSpPr>
          <p:cNvPr id="23" name="single-4-result">
            <a:extLst xmlns:a="http://schemas.openxmlformats.org/drawingml/2006/main">
              <a:ext uri="{FF2B5EF4-FFF2-40B4-BE49-F238E27FC236}">
                <a16:creationId xmlns:a16="http://schemas.microsoft.com/office/drawing/2014/main" id="{14379B53-5ABF-4096-9B5C-5F63F259F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543300"/>
            <a:ext cx="1219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2F5597"/>
                </a:solidFill>
              </a:defRPr>
            </a:pPr>
            <a:r>
              <a:rPr sz="1425" b="1">
                <a:solidFill>
                  <a:srgbClr val="2F5597"/>
                </a:solidFill>
              </a:rPr>
              <a:t>97 mV</a:t>
            </a:r>
          </a:p>
        </p:txBody>
      </p:sp>
      <p:sp>
        <p:nvSpPr>
          <p:cNvPr id="24" name="single-5-rule">
            <a:extLst xmlns:a="http://schemas.openxmlformats.org/drawingml/2006/main">
              <a:ext uri="{FF2B5EF4-FFF2-40B4-BE49-F238E27FC236}">
                <a16:creationId xmlns:a16="http://schemas.microsoft.com/office/drawing/2014/main" id="{0B1A12A6-BBBC-4730-A72F-AE14A8668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38700"/>
            <a:ext cx="504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5" name="single-5-formula">
            <a:extLst xmlns:a="http://schemas.openxmlformats.org/drawingml/2006/main">
              <a:ext uri="{FF2B5EF4-FFF2-40B4-BE49-F238E27FC236}">
                <a16:creationId xmlns:a16="http://schemas.microsoft.com/office/drawing/2014/main" id="{50642A6A-2806-45BF-9572-F1614A5D0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0"/>
            <a:ext cx="36671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22222"/>
                </a:solidFill>
              </a:defRPr>
            </a:pPr>
            <a:r>
              <a:rPr sz="1200">
                <a:solidFill>
                  <a:srgbClr val="222222"/>
                </a:solidFill>
              </a:rPr>
              <a:t>P_max = V_oc² / (4R_eff)</a:t>
            </a:r>
          </a:p>
          <a:p xmlns:a="http://schemas.openxmlformats.org/drawingml/2006/main">
            <a:pPr>
              <a:defRPr sz="1200">
                <a:solidFill>
                  <a:srgbClr val="222222"/>
                </a:solidFill>
              </a:defRPr>
            </a:pPr>
            <a:r>
              <a:rPr sz="1200">
                <a:solidFill>
                  <a:srgbClr val="222222"/>
                </a:solidFill>
              </a:rPr>
              <a:t>= (0.194 V)² / (4 × 3.21 Ω)</a:t>
            </a:r>
          </a:p>
        </p:txBody>
      </p:sp>
      <p:sp>
        <p:nvSpPr>
          <p:cNvPr id="26" name="single-5-result">
            <a:extLst xmlns:a="http://schemas.openxmlformats.org/drawingml/2006/main">
              <a:ext uri="{FF2B5EF4-FFF2-40B4-BE49-F238E27FC236}">
                <a16:creationId xmlns:a16="http://schemas.microsoft.com/office/drawing/2014/main" id="{530DB911-C49B-43FF-920B-964930BC9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191000"/>
            <a:ext cx="1219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2F5597"/>
                </a:solidFill>
              </a:defRPr>
            </a:pPr>
            <a:r>
              <a:rPr sz="1425" b="1">
                <a:solidFill>
                  <a:srgbClr val="2F5597"/>
                </a:solidFill>
              </a:rPr>
              <a:t>2.93 mW</a:t>
            </a:r>
          </a:p>
        </p:txBody>
      </p:sp>
      <p:sp>
        <p:nvSpPr>
          <p:cNvPr id="27" name="array-1-rule">
            <a:extLst xmlns:a="http://schemas.openxmlformats.org/drawingml/2006/main">
              <a:ext uri="{FF2B5EF4-FFF2-40B4-BE49-F238E27FC236}">
                <a16:creationId xmlns:a16="http://schemas.microsoft.com/office/drawing/2014/main" id="{A53D43BF-97E4-45C5-B617-D2504027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409825"/>
            <a:ext cx="4905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8" name="array-1-formula">
            <a:extLst xmlns:a="http://schemas.openxmlformats.org/drawingml/2006/main">
              <a:ext uri="{FF2B5EF4-FFF2-40B4-BE49-F238E27FC236}">
                <a16:creationId xmlns:a16="http://schemas.microsoft.com/office/drawing/2014/main" id="{AE9F8435-595F-4793-9EB1-2E873C596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600200"/>
            <a:ext cx="3524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22222"/>
                </a:solidFill>
              </a:defRPr>
            </a:pPr>
            <a:r>
              <a:rPr sz="1200">
                <a:solidFill>
                  <a:srgbClr val="222222"/>
                </a:solidFill>
              </a:rPr>
              <a:t>V_oc,total = 5 × V_oc,single</a:t>
            </a:r>
          </a:p>
          <a:p xmlns:a="http://schemas.openxmlformats.org/drawingml/2006/main">
            <a:pPr>
              <a:defRPr sz="1200">
                <a:solidFill>
                  <a:srgbClr val="222222"/>
                </a:solidFill>
              </a:defRPr>
            </a:pPr>
            <a:r>
              <a:rPr sz="1200">
                <a:solidFill>
                  <a:srgbClr val="222222"/>
                </a:solidFill>
              </a:rPr>
              <a:t>= 5 × 194 mV</a:t>
            </a:r>
          </a:p>
        </p:txBody>
      </p:sp>
      <p:sp>
        <p:nvSpPr>
          <p:cNvPr id="29" name="array-1-result">
            <a:extLst xmlns:a="http://schemas.openxmlformats.org/drawingml/2006/main">
              <a:ext uri="{FF2B5EF4-FFF2-40B4-BE49-F238E27FC236}">
                <a16:creationId xmlns:a16="http://schemas.microsoft.com/office/drawing/2014/main" id="{B74D998D-37A6-4033-A099-FEE640131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600200"/>
            <a:ext cx="12192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2F5597"/>
                </a:solidFill>
              </a:defRPr>
            </a:pPr>
            <a:r>
              <a:rPr sz="1425" b="1">
                <a:solidFill>
                  <a:srgbClr val="2F5597"/>
                </a:solidFill>
              </a:rPr>
              <a:t>970 mV</a:t>
            </a:r>
          </a:p>
        </p:txBody>
      </p:sp>
      <p:sp>
        <p:nvSpPr>
          <p:cNvPr id="30" name="array-2-rule">
            <a:extLst xmlns:a="http://schemas.openxmlformats.org/drawingml/2006/main">
              <a:ext uri="{FF2B5EF4-FFF2-40B4-BE49-F238E27FC236}">
                <a16:creationId xmlns:a16="http://schemas.microsoft.com/office/drawing/2014/main" id="{64A40055-0166-4E17-A759-19F70BAFE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219450"/>
            <a:ext cx="4905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31" name="array-2-formula">
            <a:extLst xmlns:a="http://schemas.openxmlformats.org/drawingml/2006/main">
              <a:ext uri="{FF2B5EF4-FFF2-40B4-BE49-F238E27FC236}">
                <a16:creationId xmlns:a16="http://schemas.microsoft.com/office/drawing/2014/main" id="{0E0B4ED3-F51C-41F3-A8FD-3FF3BCA82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409825"/>
            <a:ext cx="3524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22222"/>
                </a:solidFill>
              </a:defRPr>
            </a:pPr>
            <a:r>
              <a:rPr sz="1200">
                <a:solidFill>
                  <a:srgbClr val="222222"/>
                </a:solidFill>
              </a:rPr>
              <a:t>R_eff,total = 5 × 3.21 Ω</a:t>
            </a:r>
          </a:p>
        </p:txBody>
      </p:sp>
      <p:sp>
        <p:nvSpPr>
          <p:cNvPr id="32" name="array-2-result">
            <a:extLst xmlns:a="http://schemas.openxmlformats.org/drawingml/2006/main">
              <a:ext uri="{FF2B5EF4-FFF2-40B4-BE49-F238E27FC236}">
                <a16:creationId xmlns:a16="http://schemas.microsoft.com/office/drawing/2014/main" id="{22F56ACF-E935-4BFA-A490-D6C06E392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409825"/>
            <a:ext cx="12192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2F5597"/>
                </a:solidFill>
              </a:defRPr>
            </a:pPr>
            <a:r>
              <a:rPr sz="1425" b="1">
                <a:solidFill>
                  <a:srgbClr val="2F5597"/>
                </a:solidFill>
              </a:rPr>
              <a:t>16.05 Ω</a:t>
            </a:r>
          </a:p>
        </p:txBody>
      </p:sp>
      <p:sp>
        <p:nvSpPr>
          <p:cNvPr id="33" name="array-3-rule">
            <a:extLst xmlns:a="http://schemas.openxmlformats.org/drawingml/2006/main">
              <a:ext uri="{FF2B5EF4-FFF2-40B4-BE49-F238E27FC236}">
                <a16:creationId xmlns:a16="http://schemas.microsoft.com/office/drawing/2014/main" id="{B6A96114-9DCE-4D64-B8AB-4DEAF856E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029075"/>
            <a:ext cx="4905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34" name="array-3-formula">
            <a:extLst xmlns:a="http://schemas.openxmlformats.org/drawingml/2006/main">
              <a:ext uri="{FF2B5EF4-FFF2-40B4-BE49-F238E27FC236}">
                <a16:creationId xmlns:a16="http://schemas.microsoft.com/office/drawing/2014/main" id="{B8D981F6-6493-4D98-8CD6-C46E2033A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219450"/>
            <a:ext cx="3524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22222"/>
                </a:solidFill>
              </a:defRPr>
            </a:pPr>
            <a:r>
              <a:rPr sz="1200">
                <a:solidFill>
                  <a:srgbClr val="222222"/>
                </a:solidFill>
              </a:rPr>
              <a:t>V_load,total = V_oc,total / 2</a:t>
            </a:r>
          </a:p>
        </p:txBody>
      </p:sp>
      <p:sp>
        <p:nvSpPr>
          <p:cNvPr id="35" name="array-3-result">
            <a:extLst xmlns:a="http://schemas.openxmlformats.org/drawingml/2006/main">
              <a:ext uri="{FF2B5EF4-FFF2-40B4-BE49-F238E27FC236}">
                <a16:creationId xmlns:a16="http://schemas.microsoft.com/office/drawing/2014/main" id="{EE9D6965-9AB7-413B-BA75-830F2C148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219450"/>
            <a:ext cx="12192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2F5597"/>
                </a:solidFill>
              </a:defRPr>
            </a:pPr>
            <a:r>
              <a:rPr sz="1425" b="1">
                <a:solidFill>
                  <a:srgbClr val="2F5597"/>
                </a:solidFill>
              </a:rPr>
              <a:t>485 mV</a:t>
            </a:r>
          </a:p>
        </p:txBody>
      </p:sp>
      <p:sp>
        <p:nvSpPr>
          <p:cNvPr id="36" name="array-4-rule">
            <a:extLst xmlns:a="http://schemas.openxmlformats.org/drawingml/2006/main">
              <a:ext uri="{FF2B5EF4-FFF2-40B4-BE49-F238E27FC236}">
                <a16:creationId xmlns:a16="http://schemas.microsoft.com/office/drawing/2014/main" id="{865B4879-754A-41AD-BE81-A58A3B1DD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838700"/>
            <a:ext cx="4905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37" name="array-4-formula">
            <a:extLst xmlns:a="http://schemas.openxmlformats.org/drawingml/2006/main">
              <a:ext uri="{FF2B5EF4-FFF2-40B4-BE49-F238E27FC236}">
                <a16:creationId xmlns:a16="http://schemas.microsoft.com/office/drawing/2014/main" id="{C303EC0E-B97E-415C-AE1B-0A41F1879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029075"/>
            <a:ext cx="3524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22222"/>
                </a:solidFill>
              </a:defRPr>
            </a:pPr>
            <a:r>
              <a:rPr sz="1200">
                <a:solidFill>
                  <a:srgbClr val="222222"/>
                </a:solidFill>
              </a:rPr>
              <a:t>P_max,total = V_oc,total² / (4R_eff,total)</a:t>
            </a:r>
          </a:p>
          <a:p xmlns:a="http://schemas.openxmlformats.org/drawingml/2006/main">
            <a:pPr>
              <a:defRPr sz="1200">
                <a:solidFill>
                  <a:srgbClr val="222222"/>
                </a:solidFill>
              </a:defRPr>
            </a:pPr>
            <a:r>
              <a:rPr sz="1200">
                <a:solidFill>
                  <a:srgbClr val="222222"/>
                </a:solidFill>
              </a:rPr>
              <a:t>= (0.970 V)² / (4 × 16.05 Ω)</a:t>
            </a:r>
          </a:p>
        </p:txBody>
      </p:sp>
      <p:sp>
        <p:nvSpPr>
          <p:cNvPr id="38" name="array-4-result">
            <a:extLst xmlns:a="http://schemas.openxmlformats.org/drawingml/2006/main">
              <a:ext uri="{FF2B5EF4-FFF2-40B4-BE49-F238E27FC236}">
                <a16:creationId xmlns:a16="http://schemas.microsoft.com/office/drawing/2014/main" id="{430AF203-0466-4C40-A309-88C026C60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029075"/>
            <a:ext cx="12192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2F5597"/>
                </a:solidFill>
              </a:defRPr>
            </a:pPr>
            <a:r>
              <a:rPr sz="1425" b="1">
                <a:solidFill>
                  <a:srgbClr val="2F5597"/>
                </a:solidFill>
              </a:rPr>
              <a:t>14.66 mW</a:t>
            </a:r>
          </a:p>
        </p:txBody>
      </p:sp>
      <p:sp>
        <p:nvSpPr>
          <p:cNvPr id="39" name="takeaway">
            <a:extLst xmlns:a="http://schemas.openxmlformats.org/drawingml/2006/main">
              <a:ext uri="{FF2B5EF4-FFF2-40B4-BE49-F238E27FC236}">
                <a16:creationId xmlns:a16="http://schemas.microsoft.com/office/drawing/2014/main" id="{986527BA-C224-4AEF-B8E8-68CD3D3B2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6730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Series connection raises the matched-load voltage to a PMIC-friendly level</a:t>
            </a:r>
          </a:p>
        </p:txBody>
      </p:sp>
      <p:sp>
        <p:nvSpPr>
          <p:cNvPr id="40" name="voc-value">
            <a:extLst xmlns:a="http://schemas.openxmlformats.org/drawingml/2006/main">
              <a:ext uri="{FF2B5EF4-FFF2-40B4-BE49-F238E27FC236}">
                <a16:creationId xmlns:a16="http://schemas.microsoft.com/office/drawing/2014/main" id="{CCBAB897-0462-4AFE-9BFD-79A95FF1B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3149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F5597"/>
                </a:solidFill>
              </a:defRPr>
            </a:pPr>
            <a:r>
              <a:rPr sz="1800" b="1">
                <a:solidFill>
                  <a:srgbClr val="2F5597"/>
                </a:solidFill>
              </a:rPr>
              <a:t>970 mV</a:t>
            </a:r>
          </a:p>
        </p:txBody>
      </p:sp>
      <p:sp>
        <p:nvSpPr>
          <p:cNvPr id="41" name="voc-label">
            <a:extLst xmlns:a="http://schemas.openxmlformats.org/drawingml/2006/main">
              <a:ext uri="{FF2B5EF4-FFF2-40B4-BE49-F238E27FC236}">
                <a16:creationId xmlns:a16="http://schemas.microsoft.com/office/drawing/2014/main" id="{25ED8F6D-8796-4092-BDB7-30B9A9249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62927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55555"/>
                </a:solidFill>
              </a:defRPr>
            </a:pPr>
            <a:r>
              <a:rPr sz="975">
                <a:solidFill>
                  <a:srgbClr val="555555"/>
                </a:solidFill>
              </a:rPr>
              <a:t>Open-circuit voltage</a:t>
            </a:r>
          </a:p>
        </p:txBody>
      </p:sp>
      <p:sp>
        <p:nvSpPr>
          <p:cNvPr id="42" name="vload-value">
            <a:extLst xmlns:a="http://schemas.openxmlformats.org/drawingml/2006/main">
              <a:ext uri="{FF2B5EF4-FFF2-40B4-BE49-F238E27FC236}">
                <a16:creationId xmlns:a16="http://schemas.microsoft.com/office/drawing/2014/main" id="{59480702-A768-4960-A304-1EC0A0CB4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3149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F5597"/>
                </a:solidFill>
              </a:defRPr>
            </a:pPr>
            <a:r>
              <a:rPr sz="1800" b="1">
                <a:solidFill>
                  <a:srgbClr val="2F5597"/>
                </a:solidFill>
              </a:rPr>
              <a:t>485 mV</a:t>
            </a:r>
          </a:p>
        </p:txBody>
      </p:sp>
      <p:sp>
        <p:nvSpPr>
          <p:cNvPr id="43" name="vload-label">
            <a:extLst xmlns:a="http://schemas.openxmlformats.org/drawingml/2006/main">
              <a:ext uri="{FF2B5EF4-FFF2-40B4-BE49-F238E27FC236}">
                <a16:creationId xmlns:a16="http://schemas.microsoft.com/office/drawing/2014/main" id="{E0568B90-727D-45B0-A584-7D5F14F69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62927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55555"/>
                </a:solidFill>
              </a:defRPr>
            </a:pPr>
            <a:r>
              <a:rPr sz="975">
                <a:solidFill>
                  <a:srgbClr val="555555"/>
                </a:solidFill>
              </a:rPr>
              <a:t>Matched-load voltage</a:t>
            </a:r>
          </a:p>
        </p:txBody>
      </p:sp>
      <p:sp>
        <p:nvSpPr>
          <p:cNvPr id="44" name="pmax-value">
            <a:extLst xmlns:a="http://schemas.openxmlformats.org/drawingml/2006/main">
              <a:ext uri="{FF2B5EF4-FFF2-40B4-BE49-F238E27FC236}">
                <a16:creationId xmlns:a16="http://schemas.microsoft.com/office/drawing/2014/main" id="{1DB2FA30-64D4-4500-8723-3DD360687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3149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F5597"/>
                </a:solidFill>
              </a:defRPr>
            </a:pPr>
            <a:r>
              <a:rPr sz="1800" b="1">
                <a:solidFill>
                  <a:srgbClr val="2F5597"/>
                </a:solidFill>
              </a:rPr>
              <a:t>14.66 mW</a:t>
            </a:r>
          </a:p>
        </p:txBody>
      </p:sp>
      <p:sp>
        <p:nvSpPr>
          <p:cNvPr id="45" name="pmax-label">
            <a:extLst xmlns:a="http://schemas.openxmlformats.org/drawingml/2006/main">
              <a:ext uri="{FF2B5EF4-FFF2-40B4-BE49-F238E27FC236}">
                <a16:creationId xmlns:a16="http://schemas.microsoft.com/office/drawing/2014/main" id="{0880637D-23BD-4097-ABDB-00F0A791A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62927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55555"/>
                </a:solidFill>
              </a:defRPr>
            </a:pPr>
            <a:r>
              <a:rPr sz="975">
                <a:solidFill>
                  <a:srgbClr val="555555"/>
                </a:solidFill>
              </a:rPr>
              <a:t>Maximum array power</a:t>
            </a:r>
          </a:p>
        </p:txBody>
      </p:sp>
      <p:sp>
        <p:nvSpPr>
          <p:cNvPr id="46" name="assumption">
            <a:extLst xmlns:a="http://schemas.openxmlformats.org/drawingml/2006/main">
              <a:ext uri="{FF2B5EF4-FFF2-40B4-BE49-F238E27FC236}">
                <a16:creationId xmlns:a16="http://schemas.microsoft.com/office/drawing/2014/main" id="{042EC447-B93B-468D-8FE8-030944C65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53125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i="1">
                <a:solidFill>
                  <a:srgbClr val="666666"/>
                </a:solidFill>
              </a:defRPr>
            </a:pPr>
            <a:r>
              <a:rPr sz="975" i="1">
                <a:solidFill>
                  <a:srgbClr val="666666"/>
                </a:solidFill>
              </a:rPr>
              <a:t>Assumption: V_load and P_max use optimal impedance matching; R_eff includes a 15% field-operation penalty.</a:t>
            </a:r>
          </a:p>
        </p:txBody>
      </p:sp>
    </p:spTree>
    <p:extLst>
      <p:ext uri="{BB962C8B-B14F-4D97-AF65-F5344CB8AC3E}">
        <p14:creationId xmlns:p14="http://schemas.microsoft.com/office/powerpoint/2010/main" val="9519527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2026-07-21T15:08:11.4830000Z</dcterms:created>
  <dcterms:modified xsi:type="dcterms:W3CDTF">2026-07-21T15:08:11.4830000Z</dcterms:modified>
</coreProperties>
</file>