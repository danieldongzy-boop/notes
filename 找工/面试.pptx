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56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andidate-name">
            <a:extLst>
              <a:ext uri="{FF2B5EF4-FFF2-40B4-BE49-F238E27FC236}">
                <a16:creationId xmlns:a16="http://schemas.microsoft.com/office/drawing/2014/main" id="{A0883EEC-5895-47BA-BA39-6C1C278FEF05}"/>
              </a:ext>
            </a:extLst>
          </p:cNvPr>
          <p:cNvSpPr>
            <a:spLocks noGrp="1"/>
          </p:cNvSpPr>
          <p:nvPr/>
        </p:nvSpPr>
        <p:spPr>
          <a:xfrm>
            <a:off x="457200" y="2247900"/>
            <a:ext cx="304800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900" b="1">
                <a:solidFill>
                  <a:srgbClr val="18222E"/>
                </a:solidFill>
              </a:defRPr>
            </a:pPr>
            <a:r>
              <a:rPr sz="3900" b="1">
                <a:solidFill>
                  <a:srgbClr val="18222E"/>
                </a:solidFill>
              </a:rPr>
              <a:t>董展宇</a:t>
            </a:r>
          </a:p>
        </p:txBody>
      </p:sp>
      <p:sp>
        <p:nvSpPr>
          <p:cNvPr id="2" name="candidate-focus">
            <a:extLst>
              <a:ext uri="{FF2B5EF4-FFF2-40B4-BE49-F238E27FC236}">
                <a16:creationId xmlns:a16="http://schemas.microsoft.com/office/drawing/2014/main" id="{6C1D8598-FF35-4B80-9D50-95BDF756B543}"/>
              </a:ext>
            </a:extLst>
          </p:cNvPr>
          <p:cNvSpPr>
            <a:spLocks noGrp="1"/>
          </p:cNvSpPr>
          <p:nvPr/>
        </p:nvSpPr>
        <p:spPr>
          <a:xfrm>
            <a:off x="457200" y="29337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325" b="1">
                <a:solidFill>
                  <a:srgbClr val="1769AA"/>
                </a:solidFill>
              </a:defRPr>
            </a:pPr>
            <a:r>
              <a:rPr sz="2325" b="1">
                <a:solidFill>
                  <a:srgbClr val="1769AA"/>
                </a:solidFill>
              </a:rPr>
              <a:t>模拟 IC 设计</a:t>
            </a:r>
          </a:p>
        </p:txBody>
      </p:sp>
      <p:sp>
        <p:nvSpPr>
          <p:cNvPr id="3" name="candidate-location">
            <a:extLst>
              <a:ext uri="{FF2B5EF4-FFF2-40B4-BE49-F238E27FC236}">
                <a16:creationId xmlns:a16="http://schemas.microsoft.com/office/drawing/2014/main" id="{032AEE13-E6D7-4633-9B82-5CAAB7132850}"/>
              </a:ext>
            </a:extLst>
          </p:cNvPr>
          <p:cNvSpPr>
            <a:spLocks noGrp="1"/>
          </p:cNvSpPr>
          <p:nvPr/>
        </p:nvSpPr>
        <p:spPr>
          <a:xfrm>
            <a:off x="457200" y="363855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26579"/>
                </a:solidFill>
              </a:defRPr>
            </a:pPr>
            <a:r>
              <a:rPr sz="1650" b="0">
                <a:solidFill>
                  <a:srgbClr val="526579"/>
                </a:solidFill>
              </a:rPr>
              <a:t>23 岁 · 浙江</a:t>
            </a:r>
          </a:p>
        </p:txBody>
      </p:sp>
      <p:sp>
        <p:nvSpPr>
          <p:cNvPr id="4" name="education-heading">
            <a:extLst>
              <a:ext uri="{FF2B5EF4-FFF2-40B4-BE49-F238E27FC236}">
                <a16:creationId xmlns:a16="http://schemas.microsoft.com/office/drawing/2014/main" id="{FDC3A390-8D90-44B0-B7C5-9929623EE39F}"/>
              </a:ext>
            </a:extLst>
          </p:cNvPr>
          <p:cNvSpPr>
            <a:spLocks noGrp="1"/>
          </p:cNvSpPr>
          <p:nvPr/>
        </p:nvSpPr>
        <p:spPr>
          <a:xfrm>
            <a:off x="3505200" y="1532021"/>
            <a:ext cx="27622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18222E"/>
                </a:solidFill>
              </a:defRPr>
            </a:pPr>
            <a:r>
              <a:rPr sz="3200" b="1" dirty="0" err="1">
                <a:solidFill>
                  <a:srgbClr val="18222E"/>
                </a:solidFill>
              </a:rPr>
              <a:t>教育背景</a:t>
            </a:r>
            <a:endParaRPr sz="3200" b="1" dirty="0">
              <a:solidFill>
                <a:srgbClr val="18222E"/>
              </a:solidFill>
            </a:endParaRPr>
          </a:p>
        </p:txBody>
      </p:sp>
      <p:sp>
        <p:nvSpPr>
          <p:cNvPr id="5" name="education-r1-c1">
            <a:extLst>
              <a:ext uri="{FF2B5EF4-FFF2-40B4-BE49-F238E27FC236}">
                <a16:creationId xmlns:a16="http://schemas.microsoft.com/office/drawing/2014/main" id="{E8E65E4B-FDA3-4E1B-AFB5-827941518A5F}"/>
              </a:ext>
            </a:extLst>
          </p:cNvPr>
          <p:cNvSpPr>
            <a:spLocks noGrp="1"/>
          </p:cNvSpPr>
          <p:nvPr/>
        </p:nvSpPr>
        <p:spPr>
          <a:xfrm>
            <a:off x="3550444" y="2252913"/>
            <a:ext cx="2762250" cy="1233237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18222E"/>
                </a:solidFill>
              </a:defRPr>
            </a:pPr>
            <a:r>
              <a:rPr sz="1400" b="1">
                <a:solidFill>
                  <a:srgbClr val="18222E"/>
                </a:solidFill>
              </a:rPr>
              <a:t>德国弗莱堡大学</a:t>
            </a:r>
          </a:p>
        </p:txBody>
      </p:sp>
      <p:sp>
        <p:nvSpPr>
          <p:cNvPr id="6" name="education-r1-c2">
            <a:extLst>
              <a:ext uri="{FF2B5EF4-FFF2-40B4-BE49-F238E27FC236}">
                <a16:creationId xmlns:a16="http://schemas.microsoft.com/office/drawing/2014/main" id="{D6FAE23F-6116-42F1-8BB0-4AA39DF817ED}"/>
              </a:ext>
            </a:extLst>
          </p:cNvPr>
          <p:cNvSpPr>
            <a:spLocks noGrp="1"/>
          </p:cNvSpPr>
          <p:nvPr/>
        </p:nvSpPr>
        <p:spPr>
          <a:xfrm>
            <a:off x="6312694" y="2252913"/>
            <a:ext cx="2416969" cy="1233237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769AA"/>
                </a:solidFill>
              </a:defRPr>
            </a:pPr>
            <a:r>
              <a:rPr sz="1400" b="0">
                <a:solidFill>
                  <a:srgbClr val="1769AA"/>
                </a:solidFill>
              </a:rPr>
              <a:t>嵌入式系统工程 · 硕士</a:t>
            </a:r>
          </a:p>
        </p:txBody>
      </p:sp>
      <p:sp>
        <p:nvSpPr>
          <p:cNvPr id="7" name="education-r1-c3">
            <a:extLst>
              <a:ext uri="{FF2B5EF4-FFF2-40B4-BE49-F238E27FC236}">
                <a16:creationId xmlns:a16="http://schemas.microsoft.com/office/drawing/2014/main" id="{970501DC-8129-422C-9FF0-F2A3913E98BB}"/>
              </a:ext>
            </a:extLst>
          </p:cNvPr>
          <p:cNvSpPr>
            <a:spLocks noGrp="1"/>
          </p:cNvSpPr>
          <p:nvPr/>
        </p:nvSpPr>
        <p:spPr>
          <a:xfrm>
            <a:off x="8183961" y="2252913"/>
            <a:ext cx="3165078" cy="1233237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26579"/>
                </a:solidFill>
              </a:defRPr>
            </a:pPr>
            <a:r>
              <a:rPr sz="1600" b="0" dirty="0">
                <a:solidFill>
                  <a:srgbClr val="526579"/>
                </a:solidFill>
              </a:rPr>
              <a:t>2025.10 – </a:t>
            </a:r>
            <a:r>
              <a:rPr sz="1600" b="0" dirty="0" err="1">
                <a:solidFill>
                  <a:srgbClr val="526579"/>
                </a:solidFill>
              </a:rPr>
              <a:t>至今</a:t>
            </a:r>
            <a:endParaRPr sz="1600" b="0" dirty="0">
              <a:solidFill>
                <a:srgbClr val="526579"/>
              </a:solidFill>
            </a:endParaRPr>
          </a:p>
          <a:p>
            <a:pPr algn="l">
              <a:defRPr sz="1125" b="0">
                <a:solidFill>
                  <a:srgbClr val="526579"/>
                </a:solidFill>
              </a:defRPr>
            </a:pPr>
            <a:r>
              <a:rPr sz="1600" b="0" dirty="0">
                <a:solidFill>
                  <a:srgbClr val="526579"/>
                </a:solidFill>
              </a:rPr>
              <a:t>Data </a:t>
            </a:r>
            <a:r>
              <a:rPr sz="1600" b="0" dirty="0" err="1">
                <a:solidFill>
                  <a:srgbClr val="526579"/>
                </a:solidFill>
              </a:rPr>
              <a:t>Converters；RF</a:t>
            </a:r>
            <a:r>
              <a:rPr sz="1600" b="0" dirty="0">
                <a:solidFill>
                  <a:srgbClr val="526579"/>
                </a:solidFill>
              </a:rPr>
              <a:t> and Microwave Circuits（1.3/1）</a:t>
            </a:r>
          </a:p>
        </p:txBody>
      </p:sp>
      <p:sp>
        <p:nvSpPr>
          <p:cNvPr id="8" name="education-r2-c1">
            <a:extLst>
              <a:ext uri="{FF2B5EF4-FFF2-40B4-BE49-F238E27FC236}">
                <a16:creationId xmlns:a16="http://schemas.microsoft.com/office/drawing/2014/main" id="{FC04611B-A92E-4FE3-906B-2C4170E2C58A}"/>
              </a:ext>
            </a:extLst>
          </p:cNvPr>
          <p:cNvSpPr>
            <a:spLocks noGrp="1"/>
          </p:cNvSpPr>
          <p:nvPr/>
        </p:nvSpPr>
        <p:spPr>
          <a:xfrm>
            <a:off x="3550444" y="3089108"/>
            <a:ext cx="2762250" cy="1082842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18222E"/>
                </a:solidFill>
              </a:defRPr>
            </a:pPr>
            <a:r>
              <a:rPr sz="1400" b="1">
                <a:solidFill>
                  <a:srgbClr val="18222E"/>
                </a:solidFill>
              </a:rPr>
              <a:t>德国汉诺威莱布尼茨大学</a:t>
            </a:r>
          </a:p>
        </p:txBody>
      </p:sp>
      <p:sp>
        <p:nvSpPr>
          <p:cNvPr id="9" name="education-r2-c2">
            <a:extLst>
              <a:ext uri="{FF2B5EF4-FFF2-40B4-BE49-F238E27FC236}">
                <a16:creationId xmlns:a16="http://schemas.microsoft.com/office/drawing/2014/main" id="{B81D9BB0-5652-4CE7-B15C-40DEECAAA202}"/>
              </a:ext>
            </a:extLst>
          </p:cNvPr>
          <p:cNvSpPr>
            <a:spLocks noGrp="1"/>
          </p:cNvSpPr>
          <p:nvPr/>
        </p:nvSpPr>
        <p:spPr>
          <a:xfrm>
            <a:off x="6312694" y="3089108"/>
            <a:ext cx="2416969" cy="1082842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769AA"/>
                </a:solidFill>
              </a:defRPr>
            </a:pPr>
            <a:r>
              <a:rPr sz="1400" b="0" dirty="0" err="1">
                <a:solidFill>
                  <a:srgbClr val="1769AA"/>
                </a:solidFill>
              </a:rPr>
              <a:t>电子信息</a:t>
            </a:r>
            <a:r>
              <a:rPr sz="1400" b="0" dirty="0">
                <a:solidFill>
                  <a:srgbClr val="1769AA"/>
                </a:solidFill>
              </a:rPr>
              <a:t> · </a:t>
            </a:r>
            <a:r>
              <a:rPr sz="1400" b="0" dirty="0" err="1">
                <a:solidFill>
                  <a:srgbClr val="1769AA"/>
                </a:solidFill>
              </a:rPr>
              <a:t>本科交换</a:t>
            </a:r>
            <a:endParaRPr sz="1400" b="0" dirty="0">
              <a:solidFill>
                <a:srgbClr val="1769AA"/>
              </a:solidFill>
            </a:endParaRPr>
          </a:p>
        </p:txBody>
      </p:sp>
      <p:sp>
        <p:nvSpPr>
          <p:cNvPr id="10" name="education-r2-c3">
            <a:extLst>
              <a:ext uri="{FF2B5EF4-FFF2-40B4-BE49-F238E27FC236}">
                <a16:creationId xmlns:a16="http://schemas.microsoft.com/office/drawing/2014/main" id="{C17D137A-FB21-4997-B6A5-7FFE6FFA8089}"/>
              </a:ext>
            </a:extLst>
          </p:cNvPr>
          <p:cNvSpPr>
            <a:spLocks noGrp="1"/>
          </p:cNvSpPr>
          <p:nvPr/>
        </p:nvSpPr>
        <p:spPr>
          <a:xfrm>
            <a:off x="8183961" y="3089108"/>
            <a:ext cx="3165078" cy="1082842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26579"/>
                </a:solidFill>
              </a:defRPr>
            </a:pPr>
            <a:r>
              <a:rPr sz="1600" b="0" dirty="0">
                <a:solidFill>
                  <a:srgbClr val="526579"/>
                </a:solidFill>
              </a:rPr>
              <a:t>2024.10 – 2025.06</a:t>
            </a:r>
          </a:p>
          <a:p>
            <a:pPr algn="l">
              <a:defRPr sz="1125" b="0">
                <a:solidFill>
                  <a:srgbClr val="526579"/>
                </a:solidFill>
              </a:defRPr>
            </a:pPr>
            <a:r>
              <a:rPr sz="1600" b="0" dirty="0">
                <a:solidFill>
                  <a:srgbClr val="526579"/>
                </a:solidFill>
              </a:rPr>
              <a:t>Mixed-Signal Circuits（1.7/1）</a:t>
            </a:r>
          </a:p>
        </p:txBody>
      </p:sp>
      <p:sp>
        <p:nvSpPr>
          <p:cNvPr id="11" name="education-r3-c1">
            <a:extLst>
              <a:ext uri="{FF2B5EF4-FFF2-40B4-BE49-F238E27FC236}">
                <a16:creationId xmlns:a16="http://schemas.microsoft.com/office/drawing/2014/main" id="{FE31CAED-0026-4599-80F1-DD95A4693E16}"/>
              </a:ext>
            </a:extLst>
          </p:cNvPr>
          <p:cNvSpPr>
            <a:spLocks noGrp="1"/>
          </p:cNvSpPr>
          <p:nvPr/>
        </p:nvSpPr>
        <p:spPr>
          <a:xfrm>
            <a:off x="3550444" y="3774908"/>
            <a:ext cx="2762250" cy="835192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18222E"/>
                </a:solidFill>
              </a:defRPr>
            </a:pPr>
            <a:r>
              <a:rPr sz="1400" b="1">
                <a:solidFill>
                  <a:srgbClr val="18222E"/>
                </a:solidFill>
              </a:rPr>
              <a:t>西安电子科技大学</a:t>
            </a:r>
          </a:p>
        </p:txBody>
      </p:sp>
      <p:sp>
        <p:nvSpPr>
          <p:cNvPr id="12" name="education-r3-c2">
            <a:extLst>
              <a:ext uri="{FF2B5EF4-FFF2-40B4-BE49-F238E27FC236}">
                <a16:creationId xmlns:a16="http://schemas.microsoft.com/office/drawing/2014/main" id="{618EA990-D9FA-46F1-B9B6-04EA545CCAE5}"/>
              </a:ext>
            </a:extLst>
          </p:cNvPr>
          <p:cNvSpPr>
            <a:spLocks noGrp="1"/>
          </p:cNvSpPr>
          <p:nvPr/>
        </p:nvSpPr>
        <p:spPr>
          <a:xfrm>
            <a:off x="6312695" y="3774908"/>
            <a:ext cx="1871266" cy="835192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769AA"/>
                </a:solidFill>
              </a:defRPr>
            </a:pPr>
            <a:r>
              <a:rPr sz="1400" b="0" dirty="0" err="1">
                <a:solidFill>
                  <a:srgbClr val="1769AA"/>
                </a:solidFill>
              </a:rPr>
              <a:t>集成电路设计与集成系统</a:t>
            </a:r>
            <a:r>
              <a:rPr sz="1400" b="0" dirty="0">
                <a:solidFill>
                  <a:srgbClr val="1769AA"/>
                </a:solidFill>
              </a:rPr>
              <a:t> · </a:t>
            </a:r>
            <a:r>
              <a:rPr sz="1400" b="0" dirty="0" err="1">
                <a:solidFill>
                  <a:srgbClr val="1769AA"/>
                </a:solidFill>
              </a:rPr>
              <a:t>本科</a:t>
            </a:r>
            <a:endParaRPr sz="1400" b="0" dirty="0">
              <a:solidFill>
                <a:srgbClr val="1769AA"/>
              </a:solidFill>
            </a:endParaRPr>
          </a:p>
        </p:txBody>
      </p:sp>
      <p:sp>
        <p:nvSpPr>
          <p:cNvPr id="13" name="education-r3-c3">
            <a:extLst>
              <a:ext uri="{FF2B5EF4-FFF2-40B4-BE49-F238E27FC236}">
                <a16:creationId xmlns:a16="http://schemas.microsoft.com/office/drawing/2014/main" id="{41DEA6F6-E525-4B8C-9C3B-2C0185E146FA}"/>
              </a:ext>
            </a:extLst>
          </p:cNvPr>
          <p:cNvSpPr>
            <a:spLocks noGrp="1"/>
          </p:cNvSpPr>
          <p:nvPr/>
        </p:nvSpPr>
        <p:spPr>
          <a:xfrm>
            <a:off x="8183961" y="3774908"/>
            <a:ext cx="3165078" cy="835192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26579"/>
                </a:solidFill>
              </a:defRPr>
            </a:pPr>
            <a:r>
              <a:rPr sz="1600" b="0" dirty="0">
                <a:solidFill>
                  <a:srgbClr val="526579"/>
                </a:solidFill>
              </a:rPr>
              <a:t>2021.09 – 2025.06</a:t>
            </a:r>
          </a:p>
          <a:p>
            <a:pPr algn="l">
              <a:defRPr sz="1125" b="0">
                <a:solidFill>
                  <a:srgbClr val="526579"/>
                </a:solidFill>
              </a:defRPr>
            </a:pPr>
            <a:r>
              <a:rPr sz="1600" b="0" dirty="0">
                <a:solidFill>
                  <a:srgbClr val="526579"/>
                </a:solidFill>
              </a:rPr>
              <a:t>模拟集成电路（96/100</a:t>
            </a:r>
            <a:r>
              <a:rPr b="0" dirty="0">
                <a:solidFill>
                  <a:srgbClr val="526579"/>
                </a:solidFill>
              </a:rPr>
              <a:t>）</a:t>
            </a:r>
          </a:p>
        </p:txBody>
      </p:sp>
    </p:spTree>
    <p:extLst>
      <p:ext uri="{BB962C8B-B14F-4D97-AF65-F5344CB8AC3E}">
        <p14:creationId xmlns:p14="http://schemas.microsoft.com/office/powerpoint/2010/main" val="803682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view-title">
            <a:extLst>
              <a:ext uri="{FF2B5EF4-FFF2-40B4-BE49-F238E27FC236}">
                <a16:creationId xmlns:a16="http://schemas.microsoft.com/office/drawing/2014/main" id="{BCD7CCBE-0430-4847-8C4B-6454410D6614}"/>
              </a:ext>
            </a:extLst>
          </p:cNvPr>
          <p:cNvSpPr>
            <a:spLocks noGrp="1"/>
          </p:cNvSpPr>
          <p:nvPr/>
        </p:nvSpPr>
        <p:spPr>
          <a:xfrm>
            <a:off x="552450" y="723900"/>
            <a:ext cx="4953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8222E"/>
                </a:solidFill>
              </a:defRPr>
            </a:pPr>
            <a:r>
              <a:rPr sz="3150" b="1">
                <a:solidFill>
                  <a:srgbClr val="18222E"/>
                </a:solidFill>
              </a:rPr>
              <a:t>项目经历概览</a:t>
            </a:r>
          </a:p>
        </p:txBody>
      </p:sp>
      <p:sp>
        <p:nvSpPr>
          <p:cNvPr id="3" name="overview-01-number">
            <a:extLst>
              <a:ext uri="{FF2B5EF4-FFF2-40B4-BE49-F238E27FC236}">
                <a16:creationId xmlns:a16="http://schemas.microsoft.com/office/drawing/2014/main" id="{3344EA51-3A60-4B61-A513-5D40C277E97D}"/>
              </a:ext>
            </a:extLst>
          </p:cNvPr>
          <p:cNvSpPr>
            <a:spLocks noGrp="1"/>
          </p:cNvSpPr>
          <p:nvPr/>
        </p:nvSpPr>
        <p:spPr>
          <a:xfrm>
            <a:off x="552450" y="1600200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769AA"/>
                </a:solidFill>
              </a:defRPr>
            </a:pPr>
            <a:r>
              <a:rPr sz="2800" b="1">
                <a:solidFill>
                  <a:srgbClr val="1769AA"/>
                </a:solidFill>
              </a:rPr>
              <a:t>01</a:t>
            </a:r>
          </a:p>
        </p:txBody>
      </p:sp>
      <p:sp>
        <p:nvSpPr>
          <p:cNvPr id="4" name="overview-01-title">
            <a:extLst>
              <a:ext uri="{FF2B5EF4-FFF2-40B4-BE49-F238E27FC236}">
                <a16:creationId xmlns:a16="http://schemas.microsoft.com/office/drawing/2014/main" id="{FA78A13E-7EF8-44A3-B96A-8BC5AB312F1A}"/>
              </a:ext>
            </a:extLst>
          </p:cNvPr>
          <p:cNvSpPr>
            <a:spLocks noGrp="1"/>
          </p:cNvSpPr>
          <p:nvPr/>
        </p:nvSpPr>
        <p:spPr>
          <a:xfrm>
            <a:off x="1200150" y="154305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8222E"/>
                </a:solidFill>
              </a:defRPr>
            </a:pPr>
            <a:r>
              <a:rPr sz="1600" b="1">
                <a:solidFill>
                  <a:srgbClr val="18222E"/>
                </a:solidFill>
              </a:rPr>
              <a:t>SAR / NS-SAR ADC 行为级建模</a:t>
            </a:r>
          </a:p>
        </p:txBody>
      </p:sp>
      <p:sp>
        <p:nvSpPr>
          <p:cNvPr id="5" name="overview-01-school">
            <a:extLst>
              <a:ext uri="{FF2B5EF4-FFF2-40B4-BE49-F238E27FC236}">
                <a16:creationId xmlns:a16="http://schemas.microsoft.com/office/drawing/2014/main" id="{BDDBF416-497D-484D-8A55-A7F77EA23D9F}"/>
              </a:ext>
            </a:extLst>
          </p:cNvPr>
          <p:cNvSpPr>
            <a:spLocks noGrp="1"/>
          </p:cNvSpPr>
          <p:nvPr/>
        </p:nvSpPr>
        <p:spPr>
          <a:xfrm>
            <a:off x="1200150" y="1895475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>
                <a:solidFill>
                  <a:srgbClr val="526579"/>
                </a:solidFill>
              </a:rPr>
              <a:t>西安电子科技大学</a:t>
            </a:r>
          </a:p>
        </p:txBody>
      </p:sp>
      <p:sp>
        <p:nvSpPr>
          <p:cNvPr id="6" name="overview-01-body">
            <a:extLst>
              <a:ext uri="{FF2B5EF4-FFF2-40B4-BE49-F238E27FC236}">
                <a16:creationId xmlns:a16="http://schemas.microsoft.com/office/drawing/2014/main" id="{B0AEF5EC-9338-4441-9E76-5EA4CA0032AA}"/>
              </a:ext>
            </a:extLst>
          </p:cNvPr>
          <p:cNvSpPr>
            <a:spLocks noGrp="1"/>
          </p:cNvSpPr>
          <p:nvPr/>
        </p:nvSpPr>
        <p:spPr>
          <a:xfrm>
            <a:off x="4533900" y="1533525"/>
            <a:ext cx="70675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8222E"/>
                </a:solidFill>
              </a:defRPr>
            </a:pPr>
            <a:r>
              <a:rPr sz="1400" b="0" dirty="0">
                <a:solidFill>
                  <a:srgbClr val="18222E"/>
                </a:solidFill>
              </a:rPr>
              <a:t>MATLAB </a:t>
            </a:r>
            <a:r>
              <a:rPr sz="1400" b="0" dirty="0" err="1">
                <a:solidFill>
                  <a:srgbClr val="18222E"/>
                </a:solidFill>
              </a:rPr>
              <a:t>搭建差分</a:t>
            </a:r>
            <a:r>
              <a:rPr sz="1400" b="0" dirty="0">
                <a:solidFill>
                  <a:srgbClr val="18222E"/>
                </a:solidFill>
              </a:rPr>
              <a:t> SAR ADC </a:t>
            </a:r>
            <a:r>
              <a:rPr sz="1400" b="0" dirty="0" err="1">
                <a:solidFill>
                  <a:srgbClr val="18222E"/>
                </a:solidFill>
              </a:rPr>
              <a:t>完整行为链路，并建模</a:t>
            </a:r>
            <a:r>
              <a:rPr sz="1400" b="0" dirty="0">
                <a:solidFill>
                  <a:srgbClr val="18222E"/>
                </a:solidFill>
              </a:rPr>
              <a:t> CDAC </a:t>
            </a:r>
            <a:r>
              <a:rPr sz="1400" b="0" dirty="0" err="1">
                <a:solidFill>
                  <a:srgbClr val="18222E"/>
                </a:solidFill>
              </a:rPr>
              <a:t>mismatch、电荷注入、比较器</a:t>
            </a:r>
            <a:r>
              <a:rPr sz="1400" b="0" dirty="0">
                <a:solidFill>
                  <a:srgbClr val="18222E"/>
                </a:solidFill>
              </a:rPr>
              <a:t> offset/noise 与 </a:t>
            </a:r>
            <a:r>
              <a:rPr sz="1400" b="0" dirty="0" err="1">
                <a:solidFill>
                  <a:srgbClr val="18222E"/>
                </a:solidFill>
              </a:rPr>
              <a:t>kT</a:t>
            </a:r>
            <a:r>
              <a:rPr sz="1400" b="0" dirty="0">
                <a:solidFill>
                  <a:srgbClr val="18222E"/>
                </a:solidFill>
              </a:rPr>
              <a:t>/C </a:t>
            </a:r>
            <a:r>
              <a:rPr sz="1400" b="0" dirty="0" err="1">
                <a:solidFill>
                  <a:srgbClr val="18222E"/>
                </a:solidFill>
              </a:rPr>
              <a:t>噪声</a:t>
            </a:r>
            <a:endParaRPr sz="1400" b="0" dirty="0">
              <a:solidFill>
                <a:srgbClr val="18222E"/>
              </a:solidFill>
            </a:endParaRPr>
          </a:p>
        </p:txBody>
      </p:sp>
      <p:sp>
        <p:nvSpPr>
          <p:cNvPr id="7" name="overview-01-result">
            <a:extLst>
              <a:ext uri="{FF2B5EF4-FFF2-40B4-BE49-F238E27FC236}">
                <a16:creationId xmlns:a16="http://schemas.microsoft.com/office/drawing/2014/main" id="{6DE5C4D2-C355-4A39-8061-813966339420}"/>
              </a:ext>
            </a:extLst>
          </p:cNvPr>
          <p:cNvSpPr>
            <a:spLocks noGrp="1"/>
          </p:cNvSpPr>
          <p:nvPr/>
        </p:nvSpPr>
        <p:spPr>
          <a:xfrm>
            <a:off x="4533900" y="2085975"/>
            <a:ext cx="7067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9AA"/>
                </a:solidFill>
              </a:defRPr>
            </a:pPr>
            <a:r>
              <a:rPr sz="1200" b="1" dirty="0">
                <a:solidFill>
                  <a:srgbClr val="1769AA"/>
                </a:solidFill>
              </a:rPr>
              <a:t>FFT </a:t>
            </a:r>
            <a:r>
              <a:rPr sz="1200" b="1" dirty="0" err="1">
                <a:solidFill>
                  <a:srgbClr val="1769AA"/>
                </a:solidFill>
              </a:rPr>
              <a:t>评估</a:t>
            </a:r>
            <a:r>
              <a:rPr sz="1200" b="1" dirty="0">
                <a:solidFill>
                  <a:srgbClr val="1769AA"/>
                </a:solidFill>
              </a:rPr>
              <a:t> SNR / SFDR / THD； </a:t>
            </a:r>
            <a:r>
              <a:rPr lang="en-US" sz="1200" b="1" dirty="0">
                <a:solidFill>
                  <a:srgbClr val="1769AA"/>
                </a:solidFill>
              </a:rPr>
              <a:t>E</a:t>
            </a:r>
            <a:r>
              <a:rPr sz="1200" b="1" dirty="0">
                <a:solidFill>
                  <a:srgbClr val="1769AA"/>
                </a:solidFill>
              </a:rPr>
              <a:t>rror-feedback noise-shaping SAR。</a:t>
            </a:r>
          </a:p>
        </p:txBody>
      </p:sp>
      <p:sp>
        <p:nvSpPr>
          <p:cNvPr id="8" name="overview-divider-1">
            <a:extLst>
              <a:ext uri="{FF2B5EF4-FFF2-40B4-BE49-F238E27FC236}">
                <a16:creationId xmlns:a16="http://schemas.microsoft.com/office/drawing/2014/main" id="{F86245E2-FAA3-41DB-95C7-8E64CC341A51}"/>
              </a:ext>
            </a:extLst>
          </p:cNvPr>
          <p:cNvSpPr>
            <a:spLocks noGrp="1"/>
          </p:cNvSpPr>
          <p:nvPr/>
        </p:nvSpPr>
        <p:spPr>
          <a:xfrm>
            <a:off x="552450" y="2581275"/>
            <a:ext cx="11049000" cy="0"/>
          </a:xfrm>
          <a:prstGeom prst="line">
            <a:avLst/>
          </a:prstGeom>
          <a:noFill/>
          <a:ln w="9525">
            <a:solidFill>
              <a:srgbClr val="C8D3DF"/>
            </a:solidFill>
            <a:prstDash val="solid"/>
          </a:ln>
        </p:spPr>
      </p:sp>
      <p:sp>
        <p:nvSpPr>
          <p:cNvPr id="9" name="overview-02-number">
            <a:extLst>
              <a:ext uri="{FF2B5EF4-FFF2-40B4-BE49-F238E27FC236}">
                <a16:creationId xmlns:a16="http://schemas.microsoft.com/office/drawing/2014/main" id="{035AE14C-A0B4-46D6-9ECF-312449C6C92C}"/>
              </a:ext>
            </a:extLst>
          </p:cNvPr>
          <p:cNvSpPr>
            <a:spLocks noGrp="1"/>
          </p:cNvSpPr>
          <p:nvPr/>
        </p:nvSpPr>
        <p:spPr>
          <a:xfrm>
            <a:off x="552450" y="2800350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769AA"/>
                </a:solidFill>
              </a:defRPr>
            </a:pPr>
            <a:r>
              <a:rPr sz="2800" b="1">
                <a:solidFill>
                  <a:srgbClr val="1769AA"/>
                </a:solidFill>
              </a:rPr>
              <a:t>02</a:t>
            </a:r>
          </a:p>
        </p:txBody>
      </p:sp>
      <p:sp>
        <p:nvSpPr>
          <p:cNvPr id="10" name="overview-02-title">
            <a:extLst>
              <a:ext uri="{FF2B5EF4-FFF2-40B4-BE49-F238E27FC236}">
                <a16:creationId xmlns:a16="http://schemas.microsoft.com/office/drawing/2014/main" id="{75EC298D-F9EA-463A-8CFA-05E2DC5F5D1A}"/>
              </a:ext>
            </a:extLst>
          </p:cNvPr>
          <p:cNvSpPr>
            <a:spLocks noGrp="1"/>
          </p:cNvSpPr>
          <p:nvPr/>
        </p:nvSpPr>
        <p:spPr>
          <a:xfrm>
            <a:off x="1200150" y="27432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8222E"/>
                </a:solidFill>
              </a:defRPr>
            </a:pPr>
            <a:r>
              <a:rPr sz="1600" b="1" dirty="0">
                <a:solidFill>
                  <a:srgbClr val="18222E"/>
                </a:solidFill>
              </a:rPr>
              <a:t>DDA </a:t>
            </a:r>
            <a:r>
              <a:rPr lang="zh-CN" altLang="en-US" sz="1600" b="1" dirty="0">
                <a:solidFill>
                  <a:srgbClr val="18222E"/>
                </a:solidFill>
              </a:rPr>
              <a:t>压力</a:t>
            </a:r>
            <a:r>
              <a:rPr sz="1600" b="1" dirty="0" err="1">
                <a:solidFill>
                  <a:srgbClr val="18222E"/>
                </a:solidFill>
              </a:rPr>
              <a:t>传感器读出前端</a:t>
            </a:r>
            <a:endParaRPr sz="1600" b="1" dirty="0">
              <a:solidFill>
                <a:srgbClr val="18222E"/>
              </a:solidFill>
            </a:endParaRPr>
          </a:p>
        </p:txBody>
      </p:sp>
      <p:sp>
        <p:nvSpPr>
          <p:cNvPr id="11" name="overview-02-school">
            <a:extLst>
              <a:ext uri="{FF2B5EF4-FFF2-40B4-BE49-F238E27FC236}">
                <a16:creationId xmlns:a16="http://schemas.microsoft.com/office/drawing/2014/main" id="{66C11EBA-7A12-4588-84D0-EB21E4DF0C0E}"/>
              </a:ext>
            </a:extLst>
          </p:cNvPr>
          <p:cNvSpPr>
            <a:spLocks noGrp="1"/>
          </p:cNvSpPr>
          <p:nvPr/>
        </p:nvSpPr>
        <p:spPr>
          <a:xfrm>
            <a:off x="1200150" y="3095625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 dirty="0" err="1">
                <a:solidFill>
                  <a:srgbClr val="526579"/>
                </a:solidFill>
              </a:rPr>
              <a:t>德国弗莱堡大学</a:t>
            </a:r>
            <a:endParaRPr sz="1200" b="0" dirty="0">
              <a:solidFill>
                <a:srgbClr val="526579"/>
              </a:solidFill>
            </a:endParaRPr>
          </a:p>
        </p:txBody>
      </p:sp>
      <p:sp>
        <p:nvSpPr>
          <p:cNvPr id="12" name="overview-02-body">
            <a:extLst>
              <a:ext uri="{FF2B5EF4-FFF2-40B4-BE49-F238E27FC236}">
                <a16:creationId xmlns:a16="http://schemas.microsoft.com/office/drawing/2014/main" id="{22C3DC30-6919-4E0A-B284-BF346283E8B3}"/>
              </a:ext>
            </a:extLst>
          </p:cNvPr>
          <p:cNvSpPr>
            <a:spLocks noGrp="1"/>
          </p:cNvSpPr>
          <p:nvPr/>
        </p:nvSpPr>
        <p:spPr>
          <a:xfrm>
            <a:off x="4533900" y="2733675"/>
            <a:ext cx="70675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8222E"/>
                </a:solidFill>
              </a:defRPr>
            </a:pPr>
            <a:r>
              <a:rPr sz="1400" b="0" dirty="0">
                <a:solidFill>
                  <a:srgbClr val="18222E"/>
                </a:solidFill>
              </a:rPr>
              <a:t>XFAB 0.35 </a:t>
            </a:r>
            <a:r>
              <a:rPr sz="1400" b="0" dirty="0" err="1">
                <a:solidFill>
                  <a:srgbClr val="18222E"/>
                </a:solidFill>
              </a:rPr>
              <a:t>μm</a:t>
            </a:r>
            <a:r>
              <a:rPr sz="1400" b="0" dirty="0">
                <a:solidFill>
                  <a:srgbClr val="18222E"/>
                </a:solidFill>
              </a:rPr>
              <a:t> CMOS：</a:t>
            </a:r>
            <a:r>
              <a:rPr lang="zh-CN" altLang="en-US" sz="1400" b="0" dirty="0">
                <a:solidFill>
                  <a:srgbClr val="18222E"/>
                </a:solidFill>
              </a:rPr>
              <a:t>双差分放大器</a:t>
            </a:r>
            <a:r>
              <a:rPr sz="1400" b="0" dirty="0">
                <a:solidFill>
                  <a:srgbClr val="18222E"/>
                </a:solidFill>
              </a:rPr>
              <a:t>，</a:t>
            </a:r>
            <a:r>
              <a:rPr sz="1400" b="0" dirty="0" err="1">
                <a:solidFill>
                  <a:srgbClr val="18222E"/>
                </a:solidFill>
              </a:rPr>
              <a:t>并搭建闭环增益网络和</a:t>
            </a:r>
            <a:r>
              <a:rPr sz="1400" b="0" dirty="0">
                <a:solidFill>
                  <a:srgbClr val="18222E"/>
                </a:solidFill>
              </a:rPr>
              <a:t> ADC </a:t>
            </a:r>
            <a:r>
              <a:rPr sz="1400" b="0" dirty="0" err="1">
                <a:solidFill>
                  <a:srgbClr val="18222E"/>
                </a:solidFill>
              </a:rPr>
              <a:t>负载</a:t>
            </a:r>
            <a:endParaRPr sz="1400" b="0" dirty="0">
              <a:solidFill>
                <a:srgbClr val="18222E"/>
              </a:solidFill>
            </a:endParaRPr>
          </a:p>
        </p:txBody>
      </p:sp>
      <p:sp>
        <p:nvSpPr>
          <p:cNvPr id="13" name="overview-02-result">
            <a:extLst>
              <a:ext uri="{FF2B5EF4-FFF2-40B4-BE49-F238E27FC236}">
                <a16:creationId xmlns:a16="http://schemas.microsoft.com/office/drawing/2014/main" id="{AB87731F-2A29-4BC7-ACA0-D01E9835E2BD}"/>
              </a:ext>
            </a:extLst>
          </p:cNvPr>
          <p:cNvSpPr>
            <a:spLocks noGrp="1"/>
          </p:cNvSpPr>
          <p:nvPr/>
        </p:nvSpPr>
        <p:spPr>
          <a:xfrm>
            <a:off x="4533900" y="3286125"/>
            <a:ext cx="7067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9AA"/>
                </a:solidFill>
              </a:defRPr>
            </a:pPr>
            <a:r>
              <a:rPr sz="1200" b="1" dirty="0">
                <a:solidFill>
                  <a:srgbClr val="1769AA"/>
                </a:solidFill>
              </a:rPr>
              <a:t>DC gain 84 dB · GBW 4 MHz · </a:t>
            </a:r>
            <a:r>
              <a:rPr sz="1200" b="1" dirty="0" err="1">
                <a:solidFill>
                  <a:srgbClr val="1769AA"/>
                </a:solidFill>
              </a:rPr>
              <a:t>输入噪声</a:t>
            </a:r>
            <a:r>
              <a:rPr sz="1200" b="1" dirty="0">
                <a:solidFill>
                  <a:srgbClr val="1769AA"/>
                </a:solidFill>
              </a:rPr>
              <a:t> 5.68 </a:t>
            </a:r>
            <a:r>
              <a:rPr sz="1200" b="1" dirty="0" err="1">
                <a:solidFill>
                  <a:srgbClr val="1769AA"/>
                </a:solidFill>
              </a:rPr>
              <a:t>μVrms</a:t>
            </a:r>
            <a:r>
              <a:rPr sz="1200" b="1" dirty="0">
                <a:solidFill>
                  <a:srgbClr val="1769AA"/>
                </a:solidFill>
              </a:rPr>
              <a:t> · </a:t>
            </a:r>
            <a:r>
              <a:rPr sz="1200" b="1" dirty="0" err="1">
                <a:solidFill>
                  <a:srgbClr val="1769AA"/>
                </a:solidFill>
              </a:rPr>
              <a:t>输出噪声约</a:t>
            </a:r>
            <a:r>
              <a:rPr sz="1200" b="1" dirty="0">
                <a:solidFill>
                  <a:srgbClr val="1769AA"/>
                </a:solidFill>
              </a:rPr>
              <a:t> 0.68 LSB。</a:t>
            </a:r>
          </a:p>
        </p:txBody>
      </p:sp>
      <p:sp>
        <p:nvSpPr>
          <p:cNvPr id="14" name="overview-divider-2">
            <a:extLst>
              <a:ext uri="{FF2B5EF4-FFF2-40B4-BE49-F238E27FC236}">
                <a16:creationId xmlns:a16="http://schemas.microsoft.com/office/drawing/2014/main" id="{9978DD57-9412-465A-8422-E887B2B1D1A1}"/>
              </a:ext>
            </a:extLst>
          </p:cNvPr>
          <p:cNvSpPr>
            <a:spLocks noGrp="1"/>
          </p:cNvSpPr>
          <p:nvPr/>
        </p:nvSpPr>
        <p:spPr>
          <a:xfrm>
            <a:off x="552450" y="3781425"/>
            <a:ext cx="11049000" cy="0"/>
          </a:xfrm>
          <a:prstGeom prst="line">
            <a:avLst/>
          </a:prstGeom>
          <a:noFill/>
          <a:ln w="9525">
            <a:solidFill>
              <a:srgbClr val="C8D3DF"/>
            </a:solidFill>
            <a:prstDash val="solid"/>
          </a:ln>
        </p:spPr>
      </p:sp>
      <p:sp>
        <p:nvSpPr>
          <p:cNvPr id="15" name="overview-03-number">
            <a:extLst>
              <a:ext uri="{FF2B5EF4-FFF2-40B4-BE49-F238E27FC236}">
                <a16:creationId xmlns:a16="http://schemas.microsoft.com/office/drawing/2014/main" id="{8F95385F-69AD-4BF1-AC77-F55BC1C1C7D2}"/>
              </a:ext>
            </a:extLst>
          </p:cNvPr>
          <p:cNvSpPr>
            <a:spLocks noGrp="1"/>
          </p:cNvSpPr>
          <p:nvPr/>
        </p:nvSpPr>
        <p:spPr>
          <a:xfrm>
            <a:off x="552450" y="4000500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769AA"/>
                </a:solidFill>
              </a:defRPr>
            </a:pPr>
            <a:r>
              <a:rPr sz="2800" b="1">
                <a:solidFill>
                  <a:srgbClr val="1769AA"/>
                </a:solidFill>
              </a:rPr>
              <a:t>03</a:t>
            </a:r>
          </a:p>
        </p:txBody>
      </p:sp>
      <p:sp>
        <p:nvSpPr>
          <p:cNvPr id="16" name="overview-03-title">
            <a:extLst>
              <a:ext uri="{FF2B5EF4-FFF2-40B4-BE49-F238E27FC236}">
                <a16:creationId xmlns:a16="http://schemas.microsoft.com/office/drawing/2014/main" id="{7B30FE15-C3B9-4D6A-89CA-35548A5273D8}"/>
              </a:ext>
            </a:extLst>
          </p:cNvPr>
          <p:cNvSpPr>
            <a:spLocks noGrp="1"/>
          </p:cNvSpPr>
          <p:nvPr/>
        </p:nvSpPr>
        <p:spPr>
          <a:xfrm>
            <a:off x="1200150" y="394335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8222E"/>
                </a:solidFill>
              </a:defRPr>
            </a:pPr>
            <a:r>
              <a:rPr sz="1600" b="1">
                <a:solidFill>
                  <a:srgbClr val="18222E"/>
                </a:solidFill>
              </a:rPr>
              <a:t>二级运放与带隙基准偏置</a:t>
            </a:r>
          </a:p>
        </p:txBody>
      </p:sp>
      <p:sp>
        <p:nvSpPr>
          <p:cNvPr id="17" name="overview-03-school">
            <a:extLst>
              <a:ext uri="{FF2B5EF4-FFF2-40B4-BE49-F238E27FC236}">
                <a16:creationId xmlns:a16="http://schemas.microsoft.com/office/drawing/2014/main" id="{0194F345-D969-4E38-88C7-610BB828CADE}"/>
              </a:ext>
            </a:extLst>
          </p:cNvPr>
          <p:cNvSpPr>
            <a:spLocks noGrp="1"/>
          </p:cNvSpPr>
          <p:nvPr/>
        </p:nvSpPr>
        <p:spPr>
          <a:xfrm>
            <a:off x="1200150" y="4295775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 dirty="0" err="1">
                <a:solidFill>
                  <a:srgbClr val="526579"/>
                </a:solidFill>
              </a:rPr>
              <a:t>德国弗莱堡大学</a:t>
            </a:r>
            <a:endParaRPr sz="1200" b="0" dirty="0">
              <a:solidFill>
                <a:srgbClr val="526579"/>
              </a:solidFill>
            </a:endParaRPr>
          </a:p>
        </p:txBody>
      </p:sp>
      <p:sp>
        <p:nvSpPr>
          <p:cNvPr id="18" name="overview-03-body">
            <a:extLst>
              <a:ext uri="{FF2B5EF4-FFF2-40B4-BE49-F238E27FC236}">
                <a16:creationId xmlns:a16="http://schemas.microsoft.com/office/drawing/2014/main" id="{481BCB4C-7AD6-46D1-AC58-D32BEF546319}"/>
              </a:ext>
            </a:extLst>
          </p:cNvPr>
          <p:cNvSpPr>
            <a:spLocks noGrp="1"/>
          </p:cNvSpPr>
          <p:nvPr/>
        </p:nvSpPr>
        <p:spPr>
          <a:xfrm>
            <a:off x="4533900" y="3933825"/>
            <a:ext cx="70675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0">
                <a:solidFill>
                  <a:srgbClr val="18222E"/>
                </a:solidFill>
              </a:defRPr>
            </a:pPr>
            <a:r>
              <a:rPr lang="en-US" altLang="zh-CN" sz="1400" dirty="0">
                <a:solidFill>
                  <a:srgbClr val="18222E"/>
                </a:solidFill>
              </a:rPr>
              <a:t>XFAB 0.35 </a:t>
            </a:r>
            <a:r>
              <a:rPr lang="el-GR" altLang="zh-CN" sz="1400" dirty="0">
                <a:solidFill>
                  <a:srgbClr val="18222E"/>
                </a:solidFill>
              </a:rPr>
              <a:t>μ</a:t>
            </a:r>
            <a:r>
              <a:rPr lang="en-US" altLang="zh-CN" sz="1400" dirty="0">
                <a:solidFill>
                  <a:srgbClr val="18222E"/>
                </a:solidFill>
              </a:rPr>
              <a:t>m CMOS</a:t>
            </a:r>
            <a:r>
              <a:rPr lang="zh-CN" altLang="en-US" sz="1400" dirty="0">
                <a:solidFill>
                  <a:srgbClr val="18222E"/>
                </a:solidFill>
              </a:rPr>
              <a:t>：</a:t>
            </a:r>
            <a:r>
              <a:rPr sz="1400" b="0" dirty="0" err="1">
                <a:solidFill>
                  <a:srgbClr val="18222E"/>
                </a:solidFill>
              </a:rPr>
              <a:t>采用</a:t>
            </a:r>
            <a:r>
              <a:rPr sz="1400" b="0" dirty="0">
                <a:solidFill>
                  <a:srgbClr val="18222E"/>
                </a:solidFill>
              </a:rPr>
              <a:t> gm/ID </a:t>
            </a:r>
            <a:r>
              <a:rPr sz="1400" b="0" dirty="0" err="1">
                <a:solidFill>
                  <a:srgbClr val="18222E"/>
                </a:solidFill>
              </a:rPr>
              <a:t>完成二级</a:t>
            </a:r>
            <a:r>
              <a:rPr sz="1400" b="0" dirty="0">
                <a:solidFill>
                  <a:srgbClr val="18222E"/>
                </a:solidFill>
              </a:rPr>
              <a:t> Miller </a:t>
            </a:r>
            <a:r>
              <a:rPr sz="1400" b="0" dirty="0" err="1">
                <a:solidFill>
                  <a:srgbClr val="18222E"/>
                </a:solidFill>
              </a:rPr>
              <a:t>运放尺寸设计及</a:t>
            </a:r>
            <a:r>
              <a:rPr sz="1400" b="0" dirty="0">
                <a:solidFill>
                  <a:srgbClr val="18222E"/>
                </a:solidFill>
              </a:rPr>
              <a:t> PVT / Monte Carlo </a:t>
            </a:r>
            <a:r>
              <a:rPr sz="1400" b="0" dirty="0" err="1">
                <a:solidFill>
                  <a:srgbClr val="18222E"/>
                </a:solidFill>
              </a:rPr>
              <a:t>优化，同时设计一阶带隙基准与偏置电流模块</a:t>
            </a:r>
            <a:endParaRPr sz="1400" b="0" dirty="0">
              <a:solidFill>
                <a:srgbClr val="18222E"/>
              </a:solidFill>
            </a:endParaRPr>
          </a:p>
        </p:txBody>
      </p:sp>
      <p:sp>
        <p:nvSpPr>
          <p:cNvPr id="19" name="overview-03-result">
            <a:extLst>
              <a:ext uri="{FF2B5EF4-FFF2-40B4-BE49-F238E27FC236}">
                <a16:creationId xmlns:a16="http://schemas.microsoft.com/office/drawing/2014/main" id="{F086D4A9-1220-48CE-B664-EE6AD82002B7}"/>
              </a:ext>
            </a:extLst>
          </p:cNvPr>
          <p:cNvSpPr>
            <a:spLocks noGrp="1"/>
          </p:cNvSpPr>
          <p:nvPr/>
        </p:nvSpPr>
        <p:spPr>
          <a:xfrm>
            <a:off x="4533900" y="4486275"/>
            <a:ext cx="7067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9AA"/>
                </a:solidFill>
              </a:defRPr>
            </a:pPr>
            <a:r>
              <a:rPr sz="1200" b="1" dirty="0">
                <a:solidFill>
                  <a:srgbClr val="1769AA"/>
                </a:solidFill>
              </a:rPr>
              <a:t>100 dB · 27 MHz · PM 70° · SR &gt; 15 V/</a:t>
            </a:r>
            <a:r>
              <a:rPr sz="1200" b="1" dirty="0" err="1">
                <a:solidFill>
                  <a:srgbClr val="1769AA"/>
                </a:solidFill>
              </a:rPr>
              <a:t>μs</a:t>
            </a:r>
            <a:r>
              <a:rPr sz="1200" b="1" dirty="0">
                <a:solidFill>
                  <a:srgbClr val="1769AA"/>
                </a:solidFill>
              </a:rPr>
              <a:t> · </a:t>
            </a:r>
            <a:r>
              <a:rPr sz="1200" b="1" dirty="0" err="1">
                <a:solidFill>
                  <a:srgbClr val="1769AA"/>
                </a:solidFill>
              </a:rPr>
              <a:t>σVOS</a:t>
            </a:r>
            <a:r>
              <a:rPr sz="1200" b="1" dirty="0">
                <a:solidFill>
                  <a:srgbClr val="1769AA"/>
                </a:solidFill>
              </a:rPr>
              <a:t> 0.92 mV</a:t>
            </a:r>
          </a:p>
        </p:txBody>
      </p:sp>
      <p:sp>
        <p:nvSpPr>
          <p:cNvPr id="20" name="overview-divider-3">
            <a:extLst>
              <a:ext uri="{FF2B5EF4-FFF2-40B4-BE49-F238E27FC236}">
                <a16:creationId xmlns:a16="http://schemas.microsoft.com/office/drawing/2014/main" id="{44AA06FA-D0F0-43D9-A919-5AE813C2B7D9}"/>
              </a:ext>
            </a:extLst>
          </p:cNvPr>
          <p:cNvSpPr>
            <a:spLocks noGrp="1"/>
          </p:cNvSpPr>
          <p:nvPr/>
        </p:nvSpPr>
        <p:spPr>
          <a:xfrm>
            <a:off x="552450" y="4981575"/>
            <a:ext cx="11049000" cy="0"/>
          </a:xfrm>
          <a:prstGeom prst="line">
            <a:avLst/>
          </a:prstGeom>
          <a:noFill/>
          <a:ln w="9525">
            <a:solidFill>
              <a:srgbClr val="C8D3DF"/>
            </a:solidFill>
            <a:prstDash val="solid"/>
          </a:ln>
        </p:spPr>
      </p:sp>
      <p:sp>
        <p:nvSpPr>
          <p:cNvPr id="21" name="overview-04-number">
            <a:extLst>
              <a:ext uri="{FF2B5EF4-FFF2-40B4-BE49-F238E27FC236}">
                <a16:creationId xmlns:a16="http://schemas.microsoft.com/office/drawing/2014/main" id="{078B02A8-33EB-4CD8-B7E4-008E6A611149}"/>
              </a:ext>
            </a:extLst>
          </p:cNvPr>
          <p:cNvSpPr>
            <a:spLocks noGrp="1"/>
          </p:cNvSpPr>
          <p:nvPr/>
        </p:nvSpPr>
        <p:spPr>
          <a:xfrm>
            <a:off x="552450" y="5200650"/>
            <a:ext cx="552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769AA"/>
                </a:solidFill>
              </a:defRPr>
            </a:pPr>
            <a:r>
              <a:rPr sz="2800" b="1">
                <a:solidFill>
                  <a:srgbClr val="1769AA"/>
                </a:solidFill>
              </a:rPr>
              <a:t>04</a:t>
            </a:r>
          </a:p>
        </p:txBody>
      </p:sp>
      <p:sp>
        <p:nvSpPr>
          <p:cNvPr id="22" name="overview-04-title">
            <a:extLst>
              <a:ext uri="{FF2B5EF4-FFF2-40B4-BE49-F238E27FC236}">
                <a16:creationId xmlns:a16="http://schemas.microsoft.com/office/drawing/2014/main" id="{534DC19B-6926-4072-B924-AB332A4C69F8}"/>
              </a:ext>
            </a:extLst>
          </p:cNvPr>
          <p:cNvSpPr>
            <a:spLocks noGrp="1"/>
          </p:cNvSpPr>
          <p:nvPr/>
        </p:nvSpPr>
        <p:spPr>
          <a:xfrm>
            <a:off x="1200150" y="5143500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18222E"/>
                </a:solidFill>
              </a:defRPr>
            </a:pPr>
            <a:r>
              <a:rPr sz="1600" b="1">
                <a:solidFill>
                  <a:srgbClr val="18222E"/>
                </a:solidFill>
              </a:rPr>
              <a:t>SAR ADC 自举开关与比较器</a:t>
            </a:r>
          </a:p>
        </p:txBody>
      </p:sp>
      <p:sp>
        <p:nvSpPr>
          <p:cNvPr id="23" name="overview-04-school">
            <a:extLst>
              <a:ext uri="{FF2B5EF4-FFF2-40B4-BE49-F238E27FC236}">
                <a16:creationId xmlns:a16="http://schemas.microsoft.com/office/drawing/2014/main" id="{C17A9EF7-73FD-4823-8C2B-D1F9562A2CD8}"/>
              </a:ext>
            </a:extLst>
          </p:cNvPr>
          <p:cNvSpPr>
            <a:spLocks noGrp="1"/>
          </p:cNvSpPr>
          <p:nvPr/>
        </p:nvSpPr>
        <p:spPr>
          <a:xfrm>
            <a:off x="1200150" y="5495925"/>
            <a:ext cx="2667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 dirty="0" err="1">
                <a:solidFill>
                  <a:srgbClr val="526579"/>
                </a:solidFill>
              </a:rPr>
              <a:t>德国弗莱堡大学</a:t>
            </a:r>
            <a:endParaRPr sz="1200" b="0" dirty="0">
              <a:solidFill>
                <a:srgbClr val="526579"/>
              </a:solidFill>
            </a:endParaRPr>
          </a:p>
        </p:txBody>
      </p:sp>
      <p:sp>
        <p:nvSpPr>
          <p:cNvPr id="24" name="overview-04-body">
            <a:extLst>
              <a:ext uri="{FF2B5EF4-FFF2-40B4-BE49-F238E27FC236}">
                <a16:creationId xmlns:a16="http://schemas.microsoft.com/office/drawing/2014/main" id="{950A20E5-743A-4B0F-82E1-25AEDC6A5184}"/>
              </a:ext>
            </a:extLst>
          </p:cNvPr>
          <p:cNvSpPr>
            <a:spLocks noGrp="1"/>
          </p:cNvSpPr>
          <p:nvPr/>
        </p:nvSpPr>
        <p:spPr>
          <a:xfrm>
            <a:off x="4533900" y="5133975"/>
            <a:ext cx="70675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8222E"/>
                </a:solidFill>
              </a:defRPr>
            </a:pPr>
            <a:r>
              <a:rPr sz="1400" b="0" dirty="0">
                <a:solidFill>
                  <a:srgbClr val="18222E"/>
                </a:solidFill>
              </a:rPr>
              <a:t>XFAB 0.18 </a:t>
            </a:r>
            <a:r>
              <a:rPr sz="1400" b="0" dirty="0" err="1">
                <a:solidFill>
                  <a:srgbClr val="18222E"/>
                </a:solidFill>
              </a:rPr>
              <a:t>μm</a:t>
            </a:r>
            <a:r>
              <a:rPr sz="1400" b="0" dirty="0">
                <a:solidFill>
                  <a:srgbClr val="18222E"/>
                </a:solidFill>
              </a:rPr>
              <a:t> </a:t>
            </a:r>
            <a:r>
              <a:rPr sz="1400" b="0" dirty="0" err="1">
                <a:solidFill>
                  <a:srgbClr val="18222E"/>
                </a:solidFill>
              </a:rPr>
              <a:t>CMOS：自举采样开关驱动</a:t>
            </a:r>
            <a:r>
              <a:rPr sz="1400" b="0" dirty="0">
                <a:solidFill>
                  <a:srgbClr val="18222E"/>
                </a:solidFill>
              </a:rPr>
              <a:t> 2 pF </a:t>
            </a:r>
            <a:r>
              <a:rPr sz="1400" b="0" dirty="0" err="1">
                <a:solidFill>
                  <a:srgbClr val="18222E"/>
                </a:solidFill>
              </a:rPr>
              <a:t>CDAC，并设计双尾流两级动态比较器</a:t>
            </a:r>
            <a:endParaRPr sz="1400" b="0" dirty="0">
              <a:solidFill>
                <a:srgbClr val="18222E"/>
              </a:solidFill>
            </a:endParaRPr>
          </a:p>
        </p:txBody>
      </p:sp>
      <p:sp>
        <p:nvSpPr>
          <p:cNvPr id="25" name="overview-04-result">
            <a:extLst>
              <a:ext uri="{FF2B5EF4-FFF2-40B4-BE49-F238E27FC236}">
                <a16:creationId xmlns:a16="http://schemas.microsoft.com/office/drawing/2014/main" id="{186A7BFA-7A67-46E6-8740-B2881DFF38C5}"/>
              </a:ext>
            </a:extLst>
          </p:cNvPr>
          <p:cNvSpPr>
            <a:spLocks noGrp="1"/>
          </p:cNvSpPr>
          <p:nvPr/>
        </p:nvSpPr>
        <p:spPr>
          <a:xfrm>
            <a:off x="4533900" y="5686425"/>
            <a:ext cx="70675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1769AA"/>
                </a:solidFill>
              </a:defRPr>
            </a:pPr>
            <a:r>
              <a:rPr sz="1200" b="1" dirty="0">
                <a:solidFill>
                  <a:srgbClr val="1769AA"/>
                </a:solidFill>
              </a:rPr>
              <a:t>40 MS/</a:t>
            </a:r>
            <a:r>
              <a:rPr sz="1200" b="1" dirty="0" err="1">
                <a:solidFill>
                  <a:srgbClr val="1769AA"/>
                </a:solidFill>
              </a:rPr>
              <a:t>s：ENOB</a:t>
            </a:r>
            <a:r>
              <a:rPr sz="1200" b="1" dirty="0">
                <a:solidFill>
                  <a:srgbClr val="1769AA"/>
                </a:solidFill>
              </a:rPr>
              <a:t> 17.6 </a:t>
            </a:r>
            <a:r>
              <a:rPr sz="1200" b="1" dirty="0" err="1">
                <a:solidFill>
                  <a:srgbClr val="1769AA"/>
                </a:solidFill>
              </a:rPr>
              <a:t>bit（低频</a:t>
            </a:r>
            <a:r>
              <a:rPr sz="1200" b="1" dirty="0">
                <a:solidFill>
                  <a:srgbClr val="1769AA"/>
                </a:solidFill>
              </a:rPr>
              <a:t>）/ 12.23 </a:t>
            </a:r>
            <a:r>
              <a:rPr sz="1200" b="1" dirty="0" err="1">
                <a:solidFill>
                  <a:srgbClr val="1769AA"/>
                </a:solidFill>
              </a:rPr>
              <a:t>bit（近</a:t>
            </a:r>
            <a:r>
              <a:rPr sz="1200" b="1" dirty="0">
                <a:solidFill>
                  <a:srgbClr val="1769AA"/>
                </a:solidFill>
              </a:rPr>
              <a:t> Nyquist）；</a:t>
            </a:r>
            <a:r>
              <a:rPr sz="1200" b="1" dirty="0" err="1">
                <a:solidFill>
                  <a:srgbClr val="1769AA"/>
                </a:solidFill>
              </a:rPr>
              <a:t>延迟</a:t>
            </a:r>
            <a:r>
              <a:rPr sz="1200" b="1" dirty="0">
                <a:solidFill>
                  <a:srgbClr val="1769AA"/>
                </a:solidFill>
              </a:rPr>
              <a:t> 0.3 </a:t>
            </a:r>
            <a:r>
              <a:rPr sz="1200" b="1" dirty="0" err="1">
                <a:solidFill>
                  <a:srgbClr val="1769AA"/>
                </a:solidFill>
              </a:rPr>
              <a:t>ns，噪声</a:t>
            </a:r>
            <a:r>
              <a:rPr sz="1200" b="1" dirty="0">
                <a:solidFill>
                  <a:srgbClr val="1769AA"/>
                </a:solidFill>
              </a:rPr>
              <a:t> 0.16 mV。</a:t>
            </a:r>
          </a:p>
        </p:txBody>
      </p:sp>
    </p:spTree>
    <p:extLst>
      <p:ext uri="{BB962C8B-B14F-4D97-AF65-F5344CB8AC3E}">
        <p14:creationId xmlns:p14="http://schemas.microsoft.com/office/powerpoint/2010/main" val="551396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da-title">
            <a:extLst>
              <a:ext uri="{FF2B5EF4-FFF2-40B4-BE49-F238E27FC236}">
                <a16:creationId xmlns:a16="http://schemas.microsoft.com/office/drawing/2014/main" id="{DB86DB15-352F-4E97-9EE8-7CC56C45AE5F}"/>
              </a:ext>
            </a:extLst>
          </p:cNvPr>
          <p:cNvSpPr>
            <a:spLocks noGrp="1"/>
          </p:cNvSpPr>
          <p:nvPr/>
        </p:nvSpPr>
        <p:spPr>
          <a:xfrm>
            <a:off x="457199" y="723900"/>
            <a:ext cx="11334751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925" b="1">
                <a:solidFill>
                  <a:srgbClr val="18222E"/>
                </a:solidFill>
              </a:defRPr>
            </a:pPr>
            <a:r>
              <a:rPr lang="en-US" altLang="zh-CN" sz="2925" b="1" dirty="0"/>
              <a:t>Differential Difference amplifier</a:t>
            </a:r>
            <a:r>
              <a:rPr sz="2925" b="1" dirty="0">
                <a:solidFill>
                  <a:srgbClr val="18222E"/>
                </a:solidFill>
              </a:rPr>
              <a:t> </a:t>
            </a:r>
            <a:r>
              <a:rPr sz="2925" b="1" dirty="0" err="1">
                <a:solidFill>
                  <a:srgbClr val="18222E"/>
                </a:solidFill>
              </a:rPr>
              <a:t>传感器读出前端电路设计与仿真</a:t>
            </a:r>
            <a:endParaRPr sz="2925" b="1" dirty="0">
              <a:solidFill>
                <a:srgbClr val="18222E"/>
              </a:solidFill>
            </a:endParaRPr>
          </a:p>
        </p:txBody>
      </p:sp>
      <p:sp>
        <p:nvSpPr>
          <p:cNvPr id="3" name="dda-image-frame-1">
            <a:extLst>
              <a:ext uri="{FF2B5EF4-FFF2-40B4-BE49-F238E27FC236}">
                <a16:creationId xmlns:a16="http://schemas.microsoft.com/office/drawing/2014/main" id="{AB6156B6-2FEA-4962-B89C-FA1F6B9D4E55}"/>
              </a:ext>
            </a:extLst>
          </p:cNvPr>
          <p:cNvSpPr>
            <a:spLocks noGrp="1"/>
          </p:cNvSpPr>
          <p:nvPr/>
        </p:nvSpPr>
        <p:spPr>
          <a:xfrm>
            <a:off x="285751" y="1524000"/>
            <a:ext cx="3971924" cy="4256977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81001" y="2534157"/>
            <a:ext cx="3876674" cy="2338998"/>
          </a:xfrm>
          <a:prstGeom prst="rect">
            <a:avLst/>
          </a:prstGeom>
        </p:spPr>
      </p:pic>
      <p:sp>
        <p:nvSpPr>
          <p:cNvPr id="5" name="dda-image-frame-2">
            <a:extLst>
              <a:ext uri="{FF2B5EF4-FFF2-40B4-BE49-F238E27FC236}">
                <a16:creationId xmlns:a16="http://schemas.microsoft.com/office/drawing/2014/main" id="{1927209D-EF6F-42EA-90EC-B49B232E8640}"/>
              </a:ext>
            </a:extLst>
          </p:cNvPr>
          <p:cNvSpPr>
            <a:spLocks noGrp="1"/>
          </p:cNvSpPr>
          <p:nvPr/>
        </p:nvSpPr>
        <p:spPr>
          <a:xfrm>
            <a:off x="4476750" y="1542352"/>
            <a:ext cx="3524250" cy="4238625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533900" y="2841817"/>
            <a:ext cx="3409950" cy="1639694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7E6CB1A-7858-47BF-B791-017D59773234}"/>
              </a:ext>
            </a:extLst>
          </p:cNvPr>
          <p:cNvSpPr>
            <a:spLocks noGrp="1"/>
          </p:cNvSpPr>
          <p:nvPr/>
        </p:nvSpPr>
        <p:spPr>
          <a:xfrm>
            <a:off x="8115300" y="2461515"/>
            <a:ext cx="1352550" cy="361950"/>
          </a:xfrm>
          <a:prstGeom prst="rect">
            <a:avLst/>
          </a:prstGeom>
          <a:solidFill>
            <a:srgbClr val="EAF2FB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1769AA"/>
                </a:solidFill>
              </a:defRPr>
            </a:pPr>
            <a:r>
              <a:rPr sz="1275" b="1" dirty="0" err="1">
                <a:solidFill>
                  <a:srgbClr val="1769AA"/>
                </a:solidFill>
              </a:rPr>
              <a:t>模块</a:t>
            </a:r>
            <a:r>
              <a:rPr sz="1275" b="1" dirty="0">
                <a:solidFill>
                  <a:srgbClr val="1769AA"/>
                </a:solidFill>
              </a:rPr>
              <a:t> 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FB077C2-ED35-4C4C-B619-4B5F9CFEA67E}"/>
              </a:ext>
            </a:extLst>
          </p:cNvPr>
          <p:cNvSpPr>
            <a:spLocks noGrp="1"/>
          </p:cNvSpPr>
          <p:nvPr/>
        </p:nvSpPr>
        <p:spPr>
          <a:xfrm>
            <a:off x="9467850" y="2461515"/>
            <a:ext cx="2552700" cy="361950"/>
          </a:xfrm>
          <a:prstGeom prst="rect">
            <a:avLst/>
          </a:prstGeom>
          <a:solidFill>
            <a:srgbClr val="EAF2FB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1769AA"/>
                </a:solidFill>
              </a:defRPr>
            </a:pPr>
            <a:r>
              <a:rPr sz="1275" b="1" dirty="0" err="1">
                <a:solidFill>
                  <a:srgbClr val="1769AA"/>
                </a:solidFill>
              </a:rPr>
              <a:t>结果</a:t>
            </a:r>
            <a:r>
              <a:rPr sz="1275" b="1" dirty="0">
                <a:solidFill>
                  <a:srgbClr val="1769AA"/>
                </a:solidFill>
              </a:rPr>
              <a:t> 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3BC4A29-30CF-4D61-860A-A5F178BE02C0}"/>
              </a:ext>
            </a:extLst>
          </p:cNvPr>
          <p:cNvSpPr>
            <a:spLocks noGrp="1"/>
          </p:cNvSpPr>
          <p:nvPr/>
        </p:nvSpPr>
        <p:spPr>
          <a:xfrm>
            <a:off x="8115300" y="2823465"/>
            <a:ext cx="135255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>
                <a:solidFill>
                  <a:srgbClr val="526579"/>
                </a:solidFill>
              </a:rPr>
              <a:t>核心 DDA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4BA3188-89C0-4DD4-8C1D-EF3323CDD32F}"/>
              </a:ext>
            </a:extLst>
          </p:cNvPr>
          <p:cNvSpPr>
            <a:spLocks noGrp="1"/>
          </p:cNvSpPr>
          <p:nvPr/>
        </p:nvSpPr>
        <p:spPr>
          <a:xfrm>
            <a:off x="9467850" y="2823465"/>
            <a:ext cx="25527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8222E"/>
                </a:solidFill>
              </a:defRPr>
            </a:pPr>
            <a:r>
              <a:rPr sz="1200" b="0">
                <a:solidFill>
                  <a:srgbClr val="18222E"/>
                </a:solidFill>
              </a:rPr>
              <a:t>双差分输入级、偏置支路、输出级；RC Miller 补偿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3A3ECBE-AB00-48F5-8176-AEBD8CD8BD16}"/>
              </a:ext>
            </a:extLst>
          </p:cNvPr>
          <p:cNvSpPr>
            <a:spLocks noGrp="1"/>
          </p:cNvSpPr>
          <p:nvPr/>
        </p:nvSpPr>
        <p:spPr>
          <a:xfrm>
            <a:off x="8115300" y="3414015"/>
            <a:ext cx="13525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>
                <a:solidFill>
                  <a:srgbClr val="526579"/>
                </a:solidFill>
              </a:rPr>
              <a:t>开环仿真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5345FF-E809-430E-95A2-F6441DE5E9BF}"/>
              </a:ext>
            </a:extLst>
          </p:cNvPr>
          <p:cNvSpPr>
            <a:spLocks noGrp="1"/>
          </p:cNvSpPr>
          <p:nvPr/>
        </p:nvSpPr>
        <p:spPr>
          <a:xfrm>
            <a:off x="9467850" y="3414015"/>
            <a:ext cx="25527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8222E"/>
                </a:solidFill>
              </a:defRPr>
            </a:pPr>
            <a:r>
              <a:rPr sz="1200" b="0">
                <a:solidFill>
                  <a:srgbClr val="18222E"/>
                </a:solidFill>
              </a:rPr>
              <a:t>DC gain 84 dB · GBW 4 MHz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0D81A84-F2D1-4EE0-9F38-79C9833415E7}"/>
              </a:ext>
            </a:extLst>
          </p:cNvPr>
          <p:cNvSpPr>
            <a:spLocks noGrp="1"/>
          </p:cNvSpPr>
          <p:nvPr/>
        </p:nvSpPr>
        <p:spPr>
          <a:xfrm>
            <a:off x="8115300" y="3909315"/>
            <a:ext cx="135255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>
                <a:solidFill>
                  <a:srgbClr val="526579"/>
                </a:solidFill>
              </a:rPr>
              <a:t>噪声分析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D60F564-B740-4DDF-99CE-1F4DC4299D06}"/>
              </a:ext>
            </a:extLst>
          </p:cNvPr>
          <p:cNvSpPr>
            <a:spLocks noGrp="1"/>
          </p:cNvSpPr>
          <p:nvPr/>
        </p:nvSpPr>
        <p:spPr>
          <a:xfrm>
            <a:off x="9467850" y="3909315"/>
            <a:ext cx="25527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8222E"/>
                </a:solidFill>
              </a:defRPr>
            </a:pPr>
            <a:r>
              <a:rPr sz="1200" b="0">
                <a:solidFill>
                  <a:srgbClr val="18222E"/>
                </a:solidFill>
              </a:rPr>
              <a:t>1 Hz–36 kHz 输入参考噪声 5.68 μVrms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669F628-1D0B-4CE8-8AEE-64D11E97CB68}"/>
              </a:ext>
            </a:extLst>
          </p:cNvPr>
          <p:cNvSpPr>
            <a:spLocks noGrp="1"/>
          </p:cNvSpPr>
          <p:nvPr/>
        </p:nvSpPr>
        <p:spPr>
          <a:xfrm>
            <a:off x="8115300" y="4461765"/>
            <a:ext cx="13525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>
                <a:solidFill>
                  <a:srgbClr val="526579"/>
                </a:solidFill>
              </a:rPr>
              <a:t>闭环 + ADC 负载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1F044D5-DD3A-472D-B097-D060FD929051}"/>
              </a:ext>
            </a:extLst>
          </p:cNvPr>
          <p:cNvSpPr>
            <a:spLocks noGrp="1"/>
          </p:cNvSpPr>
          <p:nvPr/>
        </p:nvSpPr>
        <p:spPr>
          <a:xfrm>
            <a:off x="9467850" y="4461765"/>
            <a:ext cx="25527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8222E"/>
                </a:solidFill>
              </a:defRPr>
            </a:pPr>
            <a:r>
              <a:rPr sz="1200" b="0">
                <a:solidFill>
                  <a:srgbClr val="18222E"/>
                </a:solidFill>
              </a:rPr>
              <a:t>输入参考噪声 9.57 μVrms；输出积分噪声 2.2 mVrms（约 0.68 LSB）</a:t>
            </a:r>
          </a:p>
        </p:txBody>
      </p:sp>
    </p:spTree>
    <p:extLst>
      <p:ext uri="{BB962C8B-B14F-4D97-AF65-F5344CB8AC3E}">
        <p14:creationId xmlns:p14="http://schemas.microsoft.com/office/powerpoint/2010/main" val="12007433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ar-title">
            <a:extLst>
              <a:ext uri="{FF2B5EF4-FFF2-40B4-BE49-F238E27FC236}">
                <a16:creationId xmlns:a16="http://schemas.microsoft.com/office/drawing/2014/main" id="{1A87ABFA-D970-487A-82E8-3D94B25A71E2}"/>
              </a:ext>
            </a:extLst>
          </p:cNvPr>
          <p:cNvSpPr>
            <a:spLocks noGrp="1"/>
          </p:cNvSpPr>
          <p:nvPr/>
        </p:nvSpPr>
        <p:spPr>
          <a:xfrm>
            <a:off x="457200" y="723900"/>
            <a:ext cx="7239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925" b="1">
                <a:solidFill>
                  <a:srgbClr val="18222E"/>
                </a:solidFill>
              </a:defRPr>
            </a:pPr>
            <a:r>
              <a:rPr sz="2925" b="1">
                <a:solidFill>
                  <a:srgbClr val="18222E"/>
                </a:solidFill>
              </a:rPr>
              <a:t>SAR ADC 自举采样开关与比较器设计</a:t>
            </a:r>
          </a:p>
        </p:txBody>
      </p:sp>
      <p:sp>
        <p:nvSpPr>
          <p:cNvPr id="3" name="sar-image-frame-1">
            <a:extLst>
              <a:ext uri="{FF2B5EF4-FFF2-40B4-BE49-F238E27FC236}">
                <a16:creationId xmlns:a16="http://schemas.microsoft.com/office/drawing/2014/main" id="{94CEDF75-22D4-4F4F-B5C0-3C251CBD2086}"/>
              </a:ext>
            </a:extLst>
          </p:cNvPr>
          <p:cNvSpPr>
            <a:spLocks noGrp="1"/>
          </p:cNvSpPr>
          <p:nvPr/>
        </p:nvSpPr>
        <p:spPr>
          <a:xfrm>
            <a:off x="457200" y="1524000"/>
            <a:ext cx="3524250" cy="4238625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4350" y="2108477"/>
            <a:ext cx="3409950" cy="3069671"/>
          </a:xfrm>
          <a:prstGeom prst="rect">
            <a:avLst/>
          </a:prstGeom>
        </p:spPr>
      </p:pic>
      <p:sp>
        <p:nvSpPr>
          <p:cNvPr id="5" name="sar-image-frame-2">
            <a:extLst>
              <a:ext uri="{FF2B5EF4-FFF2-40B4-BE49-F238E27FC236}">
                <a16:creationId xmlns:a16="http://schemas.microsoft.com/office/drawing/2014/main" id="{2551930C-9485-4F14-92DB-5195E6F3632B}"/>
              </a:ext>
            </a:extLst>
          </p:cNvPr>
          <p:cNvSpPr>
            <a:spLocks noGrp="1"/>
          </p:cNvSpPr>
          <p:nvPr/>
        </p:nvSpPr>
        <p:spPr>
          <a:xfrm>
            <a:off x="4095750" y="1524000"/>
            <a:ext cx="3524250" cy="4238625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9525">
            <a:solidFill>
              <a:srgbClr val="E5EBF1"/>
            </a:solidFill>
            <a:prstDash val="solid"/>
          </a:ln>
        </p:spPr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232996" y="1581150"/>
            <a:ext cx="3249758" cy="412432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83A5ACBC-684F-4BD5-B620-FBF475F9BD0D}"/>
              </a:ext>
            </a:extLst>
          </p:cNvPr>
          <p:cNvSpPr>
            <a:spLocks noGrp="1"/>
          </p:cNvSpPr>
          <p:nvPr/>
        </p:nvSpPr>
        <p:spPr>
          <a:xfrm>
            <a:off x="7886700" y="2476500"/>
            <a:ext cx="1352550" cy="361950"/>
          </a:xfrm>
          <a:prstGeom prst="rect">
            <a:avLst/>
          </a:prstGeom>
          <a:solidFill>
            <a:srgbClr val="EAF2FB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1769AA"/>
                </a:solidFill>
              </a:defRPr>
            </a:pPr>
            <a:r>
              <a:rPr sz="1275" b="1" dirty="0" err="1">
                <a:solidFill>
                  <a:srgbClr val="1769AA"/>
                </a:solidFill>
              </a:rPr>
              <a:t>模块</a:t>
            </a:r>
            <a:r>
              <a:rPr sz="1275" b="1" dirty="0">
                <a:solidFill>
                  <a:srgbClr val="1769AA"/>
                </a:solidFill>
              </a:rPr>
              <a:t> 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145BA68-CCC1-479D-B456-B61772446DC5}"/>
              </a:ext>
            </a:extLst>
          </p:cNvPr>
          <p:cNvSpPr>
            <a:spLocks noGrp="1"/>
          </p:cNvSpPr>
          <p:nvPr/>
        </p:nvSpPr>
        <p:spPr>
          <a:xfrm>
            <a:off x="9239250" y="2476500"/>
            <a:ext cx="2552700" cy="361950"/>
          </a:xfrm>
          <a:prstGeom prst="rect">
            <a:avLst/>
          </a:prstGeom>
          <a:solidFill>
            <a:srgbClr val="EAF2FB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75" b="1">
                <a:solidFill>
                  <a:srgbClr val="1769AA"/>
                </a:solidFill>
              </a:defRPr>
            </a:pPr>
            <a:r>
              <a:rPr sz="1275" b="1" dirty="0" err="1">
                <a:solidFill>
                  <a:srgbClr val="1769AA"/>
                </a:solidFill>
              </a:rPr>
              <a:t>结果</a:t>
            </a:r>
            <a:r>
              <a:rPr sz="1275" b="1" dirty="0">
                <a:solidFill>
                  <a:srgbClr val="1769AA"/>
                </a:solidFill>
              </a:rPr>
              <a:t> 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7B632D5-3DB0-484C-9CC0-2F1DEAAE7E61}"/>
              </a:ext>
            </a:extLst>
          </p:cNvPr>
          <p:cNvSpPr>
            <a:spLocks noGrp="1"/>
          </p:cNvSpPr>
          <p:nvPr/>
        </p:nvSpPr>
        <p:spPr>
          <a:xfrm>
            <a:off x="7886700" y="2838450"/>
            <a:ext cx="135255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>
                <a:solidFill>
                  <a:srgbClr val="526579"/>
                </a:solidFill>
              </a:rPr>
              <a:t>自举采样开关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FD3846E-FC13-48F8-AF7F-124B43272F19}"/>
              </a:ext>
            </a:extLst>
          </p:cNvPr>
          <p:cNvSpPr>
            <a:spLocks noGrp="1"/>
          </p:cNvSpPr>
          <p:nvPr/>
        </p:nvSpPr>
        <p:spPr>
          <a:xfrm>
            <a:off x="9239250" y="2838450"/>
            <a:ext cx="2552700" cy="74295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8222E"/>
                </a:solidFill>
              </a:defRPr>
            </a:pPr>
            <a:r>
              <a:rPr sz="1200" b="0">
                <a:solidFill>
                  <a:srgbClr val="18222E"/>
                </a:solidFill>
              </a:rPr>
              <a:t>驱动 2 pF CDAC；预充电、栅极升压、输入相关 Ron、电荷注入与时钟馈通分析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2D14213-E862-4D02-A06B-4FEB1A311D59}"/>
              </a:ext>
            </a:extLst>
          </p:cNvPr>
          <p:cNvSpPr>
            <a:spLocks noGrp="1"/>
          </p:cNvSpPr>
          <p:nvPr/>
        </p:nvSpPr>
        <p:spPr>
          <a:xfrm>
            <a:off x="7886700" y="3581400"/>
            <a:ext cx="135255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>
                <a:solidFill>
                  <a:srgbClr val="526579"/>
                </a:solidFill>
              </a:rPr>
              <a:t>采样性能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4962A4E-AF03-4941-9BE2-DC82E8056884}"/>
              </a:ext>
            </a:extLst>
          </p:cNvPr>
          <p:cNvSpPr>
            <a:spLocks noGrp="1"/>
          </p:cNvSpPr>
          <p:nvPr/>
        </p:nvSpPr>
        <p:spPr>
          <a:xfrm>
            <a:off x="9239250" y="3581400"/>
            <a:ext cx="2552700" cy="5715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8222E"/>
                </a:solidFill>
              </a:defRPr>
            </a:pPr>
            <a:r>
              <a:rPr sz="1200" b="0">
                <a:solidFill>
                  <a:srgbClr val="18222E"/>
                </a:solidFill>
              </a:rPr>
              <a:t>低频 ENOB ≈ 17.6 bit；接近 Nyquist 频率 ≈ 12.23 bit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3C4C9E3-0FBF-4142-BB3C-A649CF07DE0A}"/>
              </a:ext>
            </a:extLst>
          </p:cNvPr>
          <p:cNvSpPr>
            <a:spLocks noGrp="1"/>
          </p:cNvSpPr>
          <p:nvPr/>
        </p:nvSpPr>
        <p:spPr>
          <a:xfrm>
            <a:off x="7886700" y="4152900"/>
            <a:ext cx="135255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>
                <a:solidFill>
                  <a:srgbClr val="526579"/>
                </a:solidFill>
              </a:rPr>
              <a:t>动态比较器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777F03A-FBCB-453E-B46C-81A412A843E9}"/>
              </a:ext>
            </a:extLst>
          </p:cNvPr>
          <p:cNvSpPr>
            <a:spLocks noGrp="1"/>
          </p:cNvSpPr>
          <p:nvPr/>
        </p:nvSpPr>
        <p:spPr>
          <a:xfrm>
            <a:off x="9239250" y="4152900"/>
            <a:ext cx="25527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8222E"/>
                </a:solidFill>
              </a:defRPr>
            </a:pPr>
            <a:r>
              <a:rPr sz="1200" b="0" dirty="0">
                <a:solidFill>
                  <a:srgbClr val="18222E"/>
                </a:solidFill>
              </a:rPr>
              <a:t>双尾流两级结构；1 </a:t>
            </a:r>
            <a:r>
              <a:rPr sz="1200" b="0" dirty="0" err="1">
                <a:solidFill>
                  <a:srgbClr val="18222E"/>
                </a:solidFill>
              </a:rPr>
              <a:t>GHz、CL</a:t>
            </a:r>
            <a:r>
              <a:rPr sz="1200" b="0" dirty="0">
                <a:solidFill>
                  <a:srgbClr val="18222E"/>
                </a:solidFill>
              </a:rPr>
              <a:t> = 100 </a:t>
            </a:r>
            <a:r>
              <a:rPr sz="1200" b="0" dirty="0" err="1">
                <a:solidFill>
                  <a:srgbClr val="18222E"/>
                </a:solidFill>
              </a:rPr>
              <a:t>fF</a:t>
            </a:r>
            <a:r>
              <a:rPr sz="1200" b="0" dirty="0">
                <a:solidFill>
                  <a:srgbClr val="18222E"/>
                </a:solidFill>
              </a:rPr>
              <a:t> </a:t>
            </a:r>
            <a:r>
              <a:rPr sz="1200" b="0" dirty="0" err="1">
                <a:solidFill>
                  <a:srgbClr val="18222E"/>
                </a:solidFill>
              </a:rPr>
              <a:t>下延迟</a:t>
            </a:r>
            <a:r>
              <a:rPr sz="1200" b="0" dirty="0">
                <a:solidFill>
                  <a:srgbClr val="18222E"/>
                </a:solidFill>
              </a:rPr>
              <a:t> ≈ 0.3 ns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CFB7F93-89BC-40B5-95B1-82B3FF4E9E2D}"/>
              </a:ext>
            </a:extLst>
          </p:cNvPr>
          <p:cNvSpPr>
            <a:spLocks noGrp="1"/>
          </p:cNvSpPr>
          <p:nvPr/>
        </p:nvSpPr>
        <p:spPr>
          <a:xfrm>
            <a:off x="7886700" y="4762500"/>
            <a:ext cx="13525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526579"/>
                </a:solidFill>
              </a:defRPr>
            </a:pPr>
            <a:r>
              <a:rPr sz="1200" b="0">
                <a:solidFill>
                  <a:srgbClr val="526579"/>
                </a:solidFill>
              </a:rPr>
              <a:t>噪声指标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AFA1424-E30B-4E40-BCF3-33EA3D55F1AA}"/>
              </a:ext>
            </a:extLst>
          </p:cNvPr>
          <p:cNvSpPr>
            <a:spLocks noGrp="1"/>
          </p:cNvSpPr>
          <p:nvPr/>
        </p:nvSpPr>
        <p:spPr>
          <a:xfrm>
            <a:off x="9239250" y="4762500"/>
            <a:ext cx="25527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C8D3DF"/>
            </a:solidFill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8222E"/>
                </a:solidFill>
              </a:defRPr>
            </a:pPr>
            <a:r>
              <a:rPr sz="1200" b="0">
                <a:solidFill>
                  <a:srgbClr val="18222E"/>
                </a:solidFill>
              </a:rPr>
              <a:t>输入等效噪声 σn,in = 0.16 mV</a:t>
            </a:r>
          </a:p>
        </p:txBody>
      </p:sp>
    </p:spTree>
    <p:extLst>
      <p:ext uri="{BB962C8B-B14F-4D97-AF65-F5344CB8AC3E}">
        <p14:creationId xmlns:p14="http://schemas.microsoft.com/office/powerpoint/2010/main" val="186079285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314</Words>
  <Application>Microsoft Office PowerPoint</Application>
  <DocSecurity>0</DocSecurity>
  <PresentationFormat>宽屏</PresentationFormat>
  <Paragraphs>60</Paragraphs>
  <Slides>4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6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 d</cp:lastModifiedBy>
  <cp:revision>4</cp:revision>
  <dcterms:created xsi:type="dcterms:W3CDTF">2026-08-13T16:13:46Z</dcterms:created>
  <dcterms:modified xsi:type="dcterms:W3CDTF">2026-08-13T20:44:18Z</dcterms:modified>
</cp:coreProperties>
</file>